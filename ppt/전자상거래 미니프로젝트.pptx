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9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슬라이드를 이동하려면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buNone/>
            </a:pPr>
            <a:fld id="{0D0BF26D-31AF-4868-83E5-DABAD74589CA}" type="slidenum">
              <a:rPr b="0" lang="en-US" sz="14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053BEC-B15B-4C4E-8C2C-2811B04940EE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DF2A3B-35D5-4401-AC73-EFB32685DC9B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C25A4B-FFBB-4C36-9FB1-5932989DB1B5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149B98-46BF-47E3-9B41-7FF2D56C76C0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587F0C-57F1-4546-A31E-717FF28B0190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5924BF-A3D0-446C-B408-F0D5BAC0BC03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FC6BD2-BC03-45A7-A8FE-5198C7AB1EB6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0CAF24-1AD1-46D2-8B4F-C1DFA93362C9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205599-4A9B-4467-9E99-A054E48705C0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CA63FE-BBFE-4EEA-BC81-70642253EC65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9E8D19-EBCA-45A4-A08B-3B2D4BA50A44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57F417-E321-4F66-8D46-A43079F021E1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E9CD87-CCA4-4B47-B6A4-906E215CEA77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943DBC-EC80-40FE-A224-CEBFDD862082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818B44-A619-4A99-9456-52C95940D6E2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3F66A9-D657-4F38-BDC5-83CB6700BB84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13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60D10B-61A7-4FD9-873B-A5D48824CEA0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AA4DFD-7BF9-4FDB-8B72-E2721CED0C92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311653-A299-4FC9-96E3-738422BB68C1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9C3163-FE3F-4112-8449-9ADE5C049C36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C7F1D6-8853-41E8-A2CD-FD84F5073B51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8A424B-AB1A-497C-97C0-4EAED9E136C6}" type="slidenum">
              <a:rPr b="0" lang="en-US" sz="1200" spc="-1" strike="noStrike">
                <a:solidFill>
                  <a:srgbClr val="000000"/>
                </a:solidFill>
                <a:latin typeface="바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ECADF-C7E7-4689-802F-06FE760B47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94933-ADAC-4E9C-A8BA-290890E254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FB42B88-4A34-4647-A34B-B2EAD20140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195AD07-0B94-40C8-9357-26E32F1E0A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E957F51-7D16-4551-B664-EBDEB7E102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EBB97CC-B29A-4268-BBC7-0EC1047068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5E3637B-297E-447F-8F96-538A8497E7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6D63EC1-5F4F-4F67-8CA8-A82B3FD4EA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C92AD4C-F10A-4F3D-9000-A553407FE0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D9B34B3-FC00-493A-BA10-8B5C77EEEC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DF9BB96-5574-4E01-93D3-35B84AF898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ko-KR" sz="60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6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696858-BECF-4C8A-8389-5A3F66FB7E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39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개요 텍스트의 서식을 편집하려면 클릭하십시오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2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3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4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89A04D-F715-4BE9-AFFB-E6CC38D01A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D0F835-233B-41F5-A882-A2E1701404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6BC7CF-B954-4508-B847-E9CD871BF6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60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6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마스터 텍스트 스타일을 편집하려면 클릭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A3AAE8-2268-4CBC-91F5-8E88B7F74F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0DAD1A-3EB9-4894-8CD9-4450D18AA76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ko-KR" sz="24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18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8A78C3-5FD9-497A-A5F8-26EFB3ABEDF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CEFA61-A263-4D6B-81C5-9572234CC0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7EB63A-58C0-4409-8EDE-8685FB9747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800" spc="-1" strike="noStrike">
                <a:solidFill>
                  <a:schemeClr val="dk1"/>
                </a:solidFill>
                <a:latin typeface="맑은 고딕"/>
              </a:rPr>
              <a:t>두 번째 수준</a:t>
            </a:r>
            <a:endParaRPr b="0" lang="en-US" sz="2800" spc="-1" strike="noStrike">
              <a:solidFill>
                <a:schemeClr val="dk1"/>
              </a:solidFill>
              <a:latin typeface="맑은 고딕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세 번째 수준</a:t>
            </a:r>
            <a:endParaRPr b="0" lang="en-US" sz="2400" spc="-1" strike="noStrike">
              <a:solidFill>
                <a:schemeClr val="dk1"/>
              </a:solidFill>
              <a:latin typeface="맑은 고딕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네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ko-KR" sz="2000" spc="-1" strike="noStrike">
                <a:solidFill>
                  <a:schemeClr val="dk1"/>
                </a:solidFill>
                <a:latin typeface="맑은 고딕"/>
              </a:rPr>
              <a:t>다섯 번째 수준</a:t>
            </a:r>
            <a:endParaRPr b="0" lang="en-US" sz="2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16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36FF4D-02D2-4443-B204-178BF4C574E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마스터 제목 스타일 편집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맑은 고딕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맑은 고딕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마스터 텍스트 스타일을 편집하려면 클릭</a:t>
            </a:r>
            <a:endParaRPr b="0" lang="en-US" sz="16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978896-593B-4E97-A9D7-8CC85ED34D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맑은 고딕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8.png"/><Relationship Id="rId3" Type="http://schemas.openxmlformats.org/officeDocument/2006/relationships/hyperlink" Target="mailto:rkfnsk10@naver.com" TargetMode="External"/><Relationship Id="rId4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ko-KR" sz="6000" spc="-1" strike="noStrike">
                <a:solidFill>
                  <a:schemeClr val="dk1"/>
                </a:solidFill>
                <a:latin typeface="맑은 고딕"/>
              </a:rPr>
              <a:t>전자상거래 미니프로젝트</a:t>
            </a:r>
            <a:endParaRPr b="0" lang="en-US" sz="60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2400" spc="-1" strike="noStrike">
                <a:solidFill>
                  <a:schemeClr val="dk1"/>
                </a:solidFill>
                <a:latin typeface="맑은 고딕"/>
              </a:rPr>
              <a:t>김미경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전자상거래 프로젝트 컨셉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1303920" y="3341520"/>
            <a:ext cx="8044200" cy="2009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특정 팀에 국한된 팬몰이 아닌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확장 가능한 구조의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전자상거래 시스템을 목표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로 하였으며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미니프로젝트 범위에서는 상품 옵션에 따른 복잡성을 제외하고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주문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·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재고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·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트랜잭션 핵심 로직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에 집중하기 위해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단일 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SKU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기준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으로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단순화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이를 통해 실제 서비스 환경에서도</a:t>
            </a:r>
            <a:br>
              <a:rPr sz="1200"/>
            </a:b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팀 확장이 가능하도록 구조적 유연성을 고려해 설계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하였습니다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1303920" y="2282400"/>
            <a:ext cx="8044200" cy="699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2000" spc="-1" strike="noStrike">
                <a:solidFill>
                  <a:schemeClr val="dk1"/>
                </a:solidFill>
                <a:latin typeface="맑은 고딕"/>
              </a:rPr>
              <a:t>본 프로젝트는 </a:t>
            </a:r>
            <a:r>
              <a:rPr b="1" lang="en-US" sz="2000" spc="-1" strike="noStrike">
                <a:solidFill>
                  <a:schemeClr val="dk1"/>
                </a:solidFill>
                <a:latin typeface="맑은 고딕"/>
              </a:rPr>
              <a:t>KBO </a:t>
            </a:r>
            <a:r>
              <a:rPr b="1" lang="ko-KR" sz="2000" spc="-1" strike="noStrike">
                <a:solidFill>
                  <a:schemeClr val="dk1"/>
                </a:solidFill>
                <a:latin typeface="맑은 고딕"/>
              </a:rPr>
              <a:t>전 구단 팬을 대상으로 한</a:t>
            </a:r>
            <a:br>
              <a:rPr sz="2000"/>
            </a:br>
            <a:r>
              <a:rPr b="1" lang="ko-KR" sz="2000" spc="-1" strike="noStrike">
                <a:solidFill>
                  <a:schemeClr val="dk1"/>
                </a:solidFill>
                <a:latin typeface="맑은 고딕"/>
              </a:rPr>
              <a:t>야구 굿즈 판매 전자상거래 서비스이다</a:t>
            </a:r>
            <a:r>
              <a:rPr b="1" lang="en-US" sz="2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기술스택설명</a:t>
            </a: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삭제예정</a:t>
            </a: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303920" y="2313360"/>
            <a:ext cx="8044200" cy="1004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예시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1.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React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Spring Boot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방식으로 연동한 전자상거래 프로젝트입니다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백엔드는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Controller, Service, Repository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계층으로 분리했고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JWT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기반 인증과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ROLE_ADMIN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권한 체크로 보안을 구현했습니다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또한 공통 예외 처리와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.gitignore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설정을 통해 실무 환경을 고려한 구조로 설계했습니다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1303920" y="3717000"/>
            <a:ext cx="8044200" cy="638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예시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2.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프론트는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React,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백엔드는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Spring Boot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로 나눠서 만들었고 로그인은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JWT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로 처리했습니다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관리자 권한을 따로 나눴고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에러 처리와 보안 설정도 적용했습니다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1303920" y="4747320"/>
            <a:ext cx="9920520" cy="821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예시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3.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React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Spring Boot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방식으로 연동했고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Controller, Service, Repository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계층을 분리해 구조적으로 설계했습니다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인증은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JWT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기반으로 구현해 무상태 인증을 적용했고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관리자 권한은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ROLE_ADMIN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으로 접근 제어했습니다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또한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@ControllerAdvice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로 예외를 공통 처리했고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.gitignore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설정을 통해 보안 정보가 외부에 노출되지 않도록 했습니다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프레임워크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85" name="사각형: 둥근 모서리 15"/>
          <p:cNvSpPr/>
          <p:nvPr/>
        </p:nvSpPr>
        <p:spPr>
          <a:xfrm>
            <a:off x="941400" y="1820520"/>
            <a:ext cx="10366560" cy="28238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1024560" y="4788000"/>
            <a:ext cx="443736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프론트 기술 포인트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컴포넌트 기반 설계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사용자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/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관리자 권한 분기 렌더링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axios interceptor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로 토큰 자동 첨부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로그인 상태 전역 관리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OpenWeatherMap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을 활용한 전국 구장 실시간 날씨 위젯 구현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6393600" y="4788000"/>
            <a:ext cx="4199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백엔드 기술 포인트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React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개발 서버에서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Spring Boot API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를 호출하여 연동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Controller / Service / Repository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계층 분리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JWT (JSON Web Token)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기반 인증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·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인가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관리자 권한 체크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(ROLE_ADMIN)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예외 처리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(@ControllerAdvice)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.gitignore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설정으로 보안을 실무적완성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8" name="직사각형 20"/>
          <p:cNvSpPr/>
          <p:nvPr/>
        </p:nvSpPr>
        <p:spPr>
          <a:xfrm>
            <a:off x="6115680" y="5022000"/>
            <a:ext cx="17640" cy="824760"/>
          </a:xfrm>
          <a:prstGeom prst="rect">
            <a:avLst/>
          </a:prstGeom>
          <a:solidFill>
            <a:srgbClr val="379a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grpSp>
        <p:nvGrpSpPr>
          <p:cNvPr id="89" name="그룹 26"/>
          <p:cNvGrpSpPr/>
          <p:nvPr/>
        </p:nvGrpSpPr>
        <p:grpSpPr>
          <a:xfrm>
            <a:off x="2211480" y="2341080"/>
            <a:ext cx="7826040" cy="1782720"/>
            <a:chOff x="2211480" y="2341080"/>
            <a:chExt cx="7826040" cy="1782720"/>
          </a:xfrm>
        </p:grpSpPr>
        <p:grpSp>
          <p:nvGrpSpPr>
            <p:cNvPr id="90" name="그룹 2"/>
            <p:cNvGrpSpPr/>
            <p:nvPr/>
          </p:nvGrpSpPr>
          <p:grpSpPr>
            <a:xfrm>
              <a:off x="3377520" y="2341080"/>
              <a:ext cx="5493960" cy="775800"/>
              <a:chOff x="3377520" y="2341080"/>
              <a:chExt cx="5493960" cy="775800"/>
            </a:xfrm>
          </p:grpSpPr>
          <p:pic>
            <p:nvPicPr>
              <p:cNvPr id="91" name="그림 6" descr=""/>
              <p:cNvPicPr/>
              <p:nvPr/>
            </p:nvPicPr>
            <p:blipFill>
              <a:blip r:embed="rId1"/>
              <a:stretch/>
            </p:blipFill>
            <p:spPr>
              <a:xfrm>
                <a:off x="3377520" y="2341080"/>
                <a:ext cx="842760" cy="7758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2" name="그림 7" descr=""/>
              <p:cNvPicPr/>
              <p:nvPr/>
            </p:nvPicPr>
            <p:blipFill>
              <a:blip r:embed="rId2"/>
              <a:stretch/>
            </p:blipFill>
            <p:spPr>
              <a:xfrm>
                <a:off x="4611960" y="2470320"/>
                <a:ext cx="1155240" cy="5169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3" name="그림 8" descr=""/>
              <p:cNvPicPr/>
              <p:nvPr/>
            </p:nvPicPr>
            <p:blipFill>
              <a:blip r:embed="rId3"/>
              <a:stretch/>
            </p:blipFill>
            <p:spPr>
              <a:xfrm>
                <a:off x="6159240" y="2341080"/>
                <a:ext cx="672840" cy="7758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4" name="그림 9" descr=""/>
              <p:cNvPicPr/>
              <p:nvPr/>
            </p:nvPicPr>
            <p:blipFill>
              <a:blip r:embed="rId4"/>
              <a:stretch/>
            </p:blipFill>
            <p:spPr>
              <a:xfrm>
                <a:off x="7255440" y="2341080"/>
                <a:ext cx="571320" cy="7758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5" name="그림 10" descr=""/>
              <p:cNvPicPr/>
              <p:nvPr/>
            </p:nvPicPr>
            <p:blipFill>
              <a:blip r:embed="rId5"/>
              <a:stretch/>
            </p:blipFill>
            <p:spPr>
              <a:xfrm>
                <a:off x="8165880" y="2379960"/>
                <a:ext cx="705600" cy="6980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96" name="그룹 25"/>
            <p:cNvGrpSpPr/>
            <p:nvPr/>
          </p:nvGrpSpPr>
          <p:grpSpPr>
            <a:xfrm>
              <a:off x="2211480" y="3477600"/>
              <a:ext cx="7826040" cy="646200"/>
              <a:chOff x="2211480" y="3477600"/>
              <a:chExt cx="7826040" cy="646200"/>
            </a:xfrm>
          </p:grpSpPr>
          <p:pic>
            <p:nvPicPr>
              <p:cNvPr id="97" name="그림 11" descr=""/>
              <p:cNvPicPr/>
              <p:nvPr/>
            </p:nvPicPr>
            <p:blipFill>
              <a:blip r:embed="rId6"/>
              <a:stretch/>
            </p:blipFill>
            <p:spPr>
              <a:xfrm>
                <a:off x="2211480" y="3542400"/>
                <a:ext cx="1306080" cy="5169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8" name="그림 12" descr=""/>
              <p:cNvPicPr/>
              <p:nvPr/>
            </p:nvPicPr>
            <p:blipFill>
              <a:blip r:embed="rId7"/>
              <a:stretch/>
            </p:blipFill>
            <p:spPr>
              <a:xfrm>
                <a:off x="3807000" y="3488040"/>
                <a:ext cx="1379160" cy="62604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99" name="그림 13" descr=""/>
              <p:cNvPicPr/>
              <p:nvPr/>
            </p:nvPicPr>
            <p:blipFill>
              <a:blip r:embed="rId8"/>
              <a:stretch/>
            </p:blipFill>
            <p:spPr>
              <a:xfrm>
                <a:off x="5506920" y="3496680"/>
                <a:ext cx="743040" cy="6087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0" name="그림 14" descr=""/>
              <p:cNvPicPr/>
              <p:nvPr/>
            </p:nvPicPr>
            <p:blipFill>
              <a:blip r:embed="rId9"/>
              <a:stretch/>
            </p:blipFill>
            <p:spPr>
              <a:xfrm>
                <a:off x="6552360" y="3477600"/>
                <a:ext cx="592920" cy="6462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1" name="그림 30" descr=""/>
              <p:cNvPicPr/>
              <p:nvPr/>
            </p:nvPicPr>
            <p:blipFill>
              <a:blip r:embed="rId10"/>
              <a:stretch/>
            </p:blipFill>
            <p:spPr>
              <a:xfrm>
                <a:off x="7381080" y="3611880"/>
                <a:ext cx="1521360" cy="3780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02" name="그림 19" descr=""/>
              <p:cNvPicPr/>
              <p:nvPr/>
            </p:nvPicPr>
            <p:blipFill>
              <a:blip r:embed="rId11"/>
              <a:stretch/>
            </p:blipFill>
            <p:spPr>
              <a:xfrm>
                <a:off x="9138240" y="3503160"/>
                <a:ext cx="899280" cy="5958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sp>
        <p:nvSpPr>
          <p:cNvPr id="103" name="TextBox 3"/>
          <p:cNvSpPr/>
          <p:nvPr/>
        </p:nvSpPr>
        <p:spPr>
          <a:xfrm>
            <a:off x="3807000" y="956160"/>
            <a:ext cx="7086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React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개발 서버에서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Spring Boot API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호출하여 연동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개발환경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06" name="사각형: 둥근 모서리 15"/>
          <p:cNvSpPr/>
          <p:nvPr/>
        </p:nvSpPr>
        <p:spPr>
          <a:xfrm>
            <a:off x="941400" y="1791000"/>
            <a:ext cx="10366560" cy="282384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1774440" y="5097240"/>
            <a:ext cx="38034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IDE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Intellij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test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Postman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DB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MySQL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버전관리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git+gitHub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8" name="TextBox 17"/>
          <p:cNvSpPr/>
          <p:nvPr/>
        </p:nvSpPr>
        <p:spPr>
          <a:xfrm>
            <a:off x="6936840" y="5055840"/>
            <a:ext cx="38034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Docker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+DB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Swagger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문서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ReactAdmin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페이지관리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배포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AWS/Render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직사각형 20"/>
          <p:cNvSpPr/>
          <p:nvPr/>
        </p:nvSpPr>
        <p:spPr>
          <a:xfrm>
            <a:off x="6115680" y="5022000"/>
            <a:ext cx="17640" cy="824760"/>
          </a:xfrm>
          <a:prstGeom prst="rect">
            <a:avLst/>
          </a:prstGeom>
          <a:solidFill>
            <a:srgbClr val="379a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grpSp>
        <p:nvGrpSpPr>
          <p:cNvPr id="110" name="그룹 2"/>
          <p:cNvGrpSpPr/>
          <p:nvPr/>
        </p:nvGrpSpPr>
        <p:grpSpPr>
          <a:xfrm>
            <a:off x="3150000" y="2223720"/>
            <a:ext cx="5948640" cy="1833480"/>
            <a:chOff x="3150000" y="2223720"/>
            <a:chExt cx="5948640" cy="1833480"/>
          </a:xfrm>
        </p:grpSpPr>
        <p:pic>
          <p:nvPicPr>
            <p:cNvPr id="111" name="그림 3" descr=""/>
            <p:cNvPicPr/>
            <p:nvPr/>
          </p:nvPicPr>
          <p:blipFill>
            <a:blip r:embed="rId1"/>
            <a:stretch/>
          </p:blipFill>
          <p:spPr>
            <a:xfrm>
              <a:off x="3464280" y="2238120"/>
              <a:ext cx="672480" cy="67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2" name="그림 18" descr=""/>
            <p:cNvPicPr/>
            <p:nvPr/>
          </p:nvPicPr>
          <p:blipFill>
            <a:blip r:embed="rId2"/>
            <a:stretch/>
          </p:blipFill>
          <p:spPr>
            <a:xfrm>
              <a:off x="4652640" y="2239560"/>
              <a:ext cx="691560" cy="67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3" name="그림 19" descr=""/>
            <p:cNvPicPr/>
            <p:nvPr/>
          </p:nvPicPr>
          <p:blipFill>
            <a:blip r:embed="rId3"/>
            <a:stretch/>
          </p:blipFill>
          <p:spPr>
            <a:xfrm>
              <a:off x="5803920" y="2231640"/>
              <a:ext cx="1304280" cy="67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4" name="그림 21" descr=""/>
            <p:cNvPicPr/>
            <p:nvPr/>
          </p:nvPicPr>
          <p:blipFill>
            <a:blip r:embed="rId4"/>
            <a:stretch/>
          </p:blipFill>
          <p:spPr>
            <a:xfrm>
              <a:off x="7639200" y="2223720"/>
              <a:ext cx="768240" cy="758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5" name="그림 22" descr=""/>
            <p:cNvPicPr/>
            <p:nvPr/>
          </p:nvPicPr>
          <p:blipFill>
            <a:blip r:embed="rId5"/>
            <a:stretch/>
          </p:blipFill>
          <p:spPr>
            <a:xfrm>
              <a:off x="3150000" y="3385440"/>
              <a:ext cx="947520" cy="541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6" name="그림 23" descr=""/>
            <p:cNvPicPr/>
            <p:nvPr/>
          </p:nvPicPr>
          <p:blipFill>
            <a:blip r:embed="rId6"/>
            <a:stretch/>
          </p:blipFill>
          <p:spPr>
            <a:xfrm>
              <a:off x="4587840" y="3325680"/>
              <a:ext cx="677160" cy="677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7" name="그림 24" descr=""/>
            <p:cNvPicPr/>
            <p:nvPr/>
          </p:nvPicPr>
          <p:blipFill>
            <a:blip r:embed="rId7"/>
            <a:stretch/>
          </p:blipFill>
          <p:spPr>
            <a:xfrm>
              <a:off x="5715000" y="3244680"/>
              <a:ext cx="792000" cy="8125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8" name="그림 25" descr=""/>
            <p:cNvPicPr/>
            <p:nvPr/>
          </p:nvPicPr>
          <p:blipFill>
            <a:blip r:embed="rId8"/>
            <a:stretch/>
          </p:blipFill>
          <p:spPr>
            <a:xfrm>
              <a:off x="6940080" y="3381120"/>
              <a:ext cx="899280" cy="59580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19" name="그룹 26"/>
            <p:cNvGrpSpPr/>
            <p:nvPr/>
          </p:nvGrpSpPr>
          <p:grpSpPr>
            <a:xfrm>
              <a:off x="8294040" y="3223440"/>
              <a:ext cx="804600" cy="691560"/>
              <a:chOff x="8294040" y="3223440"/>
              <a:chExt cx="804600" cy="691560"/>
            </a:xfrm>
          </p:grpSpPr>
          <p:pic>
            <p:nvPicPr>
              <p:cNvPr id="120" name="그림 27" descr=""/>
              <p:cNvPicPr/>
              <p:nvPr/>
            </p:nvPicPr>
            <p:blipFill>
              <a:blip r:embed="rId9"/>
              <a:stretch/>
            </p:blipFill>
            <p:spPr>
              <a:xfrm>
                <a:off x="8499240" y="3223440"/>
                <a:ext cx="424800" cy="47880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21" name="그림 28" descr=""/>
              <p:cNvPicPr/>
              <p:nvPr/>
            </p:nvPicPr>
            <p:blipFill>
              <a:blip r:embed="rId10"/>
              <a:stretch/>
            </p:blipFill>
            <p:spPr>
              <a:xfrm>
                <a:off x="8294040" y="3720600"/>
                <a:ext cx="804600" cy="1944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개발 단계 분리표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952200" y="1832400"/>
            <a:ext cx="8044200" cy="255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3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1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회원가입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,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로그인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/ JWT(JSON Web Token) /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관리자 권한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3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2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상품 → 장바구니 → 주문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3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3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게시판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/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문의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시스템 아키텍쳐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graphicFrame>
        <p:nvGraphicFramePr>
          <p:cNvPr id="127" name="표 3"/>
          <p:cNvGraphicFramePr/>
          <p:nvPr/>
        </p:nvGraphicFramePr>
        <p:xfrm>
          <a:off x="1247040" y="1928520"/>
          <a:ext cx="9875160" cy="2868120"/>
        </p:xfrm>
        <a:graphic>
          <a:graphicData uri="http://schemas.openxmlformats.org/drawingml/2006/table">
            <a:tbl>
              <a:tblPr/>
              <a:tblGrid>
                <a:gridCol w="1379880"/>
                <a:gridCol w="1698120"/>
                <a:gridCol w="6797160"/>
              </a:tblGrid>
              <a:tr h="29052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계층 </a:t>
                      </a: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(Layer)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주요 역할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상세 설명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Client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요청 발신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사용자가 브라우저나 앱을 통해 </a:t>
                      </a: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JWT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를 헤더에 담아 요청을 보냅니다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JWT Filter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인증 및 인가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HTTP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헤더에서 토큰을 추출하여 유효성을 검증하고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권한이 없으면 진입을 차단합니다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Controller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엔드포인트 관리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API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경로를 매핑하고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클라이언트의 입력을 받아 서비스 계층으로 전달합니다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Service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비즈니스 로직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실제 핵심 업무 로직이 수행되며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3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Transactional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을 통해 데이터의 일관성을 보장합니다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Repository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데이터 추상화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JPA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등을 사용하여 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DB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객체에 접근하며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쿼리를 실행하는 인터페이스 역할을 합니다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13920"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MySQL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영속성 계층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800" rIns="82800" tIns="55080" bIns="55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모든 데이터가 물리적으로 저장되는 공간입니다</a:t>
                      </a:r>
                      <a:r>
                        <a:rPr b="0" lang="en-US" sz="13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2800" marR="828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8" name="TextBox 4"/>
          <p:cNvSpPr/>
          <p:nvPr/>
        </p:nvSpPr>
        <p:spPr>
          <a:xfrm>
            <a:off x="1285920" y="4876920"/>
            <a:ext cx="987516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ko-KR" sz="1600" spc="-1" strike="noStrike">
                <a:solidFill>
                  <a:schemeClr val="dk1"/>
                </a:solidFill>
                <a:latin typeface="맑은 고딕"/>
              </a:rPr>
              <a:t>데이터 흐름의 특징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보안 우선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(Fail-Fast): JWT Filter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가 가장 앞에 위치하여 유효하지 않은 요청은 컨트롤러에 도달하기도 전에 걸러냅니다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트랜잭션 관리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서비스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(Service)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계층에서 트랜잭션이 시작되고 종료되므로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Repository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작업 중 하나라도 실패하면 전체 작업이 롤백됩니다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관심사의 분리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각 계층은 본인의 역할에만 집중합니다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사이트맵</a:t>
            </a: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(Site Map)-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전체 페이지 구조도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1583640" y="1836360"/>
            <a:ext cx="450936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🏠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메인 ─ 실시간 구장 날씨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├─ 🏷️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상품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목록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팀별 필터링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+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검색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상세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수량 선택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+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장바구니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└─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장바구니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수량 변경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+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삭제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├─ 💳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주문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└─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결제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배송지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+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재고 차감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├─ 👤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회원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로그인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가입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└─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마이페이지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 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주문내역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    └─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회원정보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6298200" y="1836360"/>
            <a:ext cx="49734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├─ 📋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게시판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(3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공지사항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├─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FAQ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   └─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1:1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문의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│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└─ 🔧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관리자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 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상품 관리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등록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수정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삭제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    ├─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주문 관리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상태 변경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     └─ 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회원 관리 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800" spc="-1" strike="noStrike">
                <a:solidFill>
                  <a:schemeClr val="dk1"/>
                </a:solidFill>
                <a:latin typeface="맑은 고딕"/>
              </a:rPr>
              <a:t>권한 설정</a:t>
            </a: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사각형: 둥근 모서리 5"/>
          <p:cNvSpPr/>
          <p:nvPr/>
        </p:nvSpPr>
        <p:spPr>
          <a:xfrm>
            <a:off x="8658000" y="1602360"/>
            <a:ext cx="282384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DB ERD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pic>
        <p:nvPicPr>
          <p:cNvPr id="135" name="그림 4" descr=""/>
          <p:cNvPicPr/>
          <p:nvPr/>
        </p:nvPicPr>
        <p:blipFill>
          <a:blip r:embed="rId1"/>
          <a:stretch/>
        </p:blipFill>
        <p:spPr>
          <a:xfrm>
            <a:off x="16560" y="7167600"/>
            <a:ext cx="4543200" cy="2161800"/>
          </a:xfrm>
          <a:prstGeom prst="rect">
            <a:avLst/>
          </a:prstGeom>
          <a:ln w="0">
            <a:noFill/>
          </a:ln>
        </p:spPr>
      </p:pic>
      <p:sp>
        <p:nvSpPr>
          <p:cNvPr id="136" name="TextBox 6"/>
          <p:cNvSpPr/>
          <p:nvPr/>
        </p:nvSpPr>
        <p:spPr>
          <a:xfrm>
            <a:off x="8762760" y="1767960"/>
            <a:ext cx="2590920" cy="23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Cart-cartItem,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 order-orderItem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을합치면 구현이 훨씬 빠르고 간결해진다는 점은 이해했습니다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하지만 제가 이 프로젝트를 통해 실제 이커머스의 표준적인 데이터 흐름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(1:N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관계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을 직접 구현해보고 싶습니다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조금 시간이 더 걸리더라도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트랜잭션 처리와 데이터 무결성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을 직접 고민하며 정석대로 가보겠습니다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37" name="그림 3" descr=""/>
          <p:cNvPicPr/>
          <p:nvPr/>
        </p:nvPicPr>
        <p:blipFill>
          <a:blip r:embed="rId2"/>
          <a:stretch/>
        </p:blipFill>
        <p:spPr>
          <a:xfrm>
            <a:off x="573120" y="1690560"/>
            <a:ext cx="7973280" cy="460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DB ERD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pic>
        <p:nvPicPr>
          <p:cNvPr id="139" name="그림 4" descr=""/>
          <p:cNvPicPr/>
          <p:nvPr/>
        </p:nvPicPr>
        <p:blipFill>
          <a:blip r:embed="rId1"/>
          <a:stretch/>
        </p:blipFill>
        <p:spPr>
          <a:xfrm>
            <a:off x="16560" y="7167600"/>
            <a:ext cx="4543200" cy="2161800"/>
          </a:xfrm>
          <a:prstGeom prst="rect">
            <a:avLst/>
          </a:prstGeom>
          <a:ln w="0">
            <a:noFill/>
          </a:ln>
        </p:spPr>
      </p:pic>
      <p:pic>
        <p:nvPicPr>
          <p:cNvPr id="140" name="그림 7" descr=""/>
          <p:cNvPicPr/>
          <p:nvPr/>
        </p:nvPicPr>
        <p:blipFill>
          <a:blip r:embed="rId2"/>
          <a:stretch/>
        </p:blipFill>
        <p:spPr>
          <a:xfrm>
            <a:off x="1343160" y="1402920"/>
            <a:ext cx="5754960" cy="508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사각형: 둥근 모서리 5"/>
          <p:cNvSpPr/>
          <p:nvPr/>
        </p:nvSpPr>
        <p:spPr>
          <a:xfrm>
            <a:off x="838080" y="1602360"/>
            <a:ext cx="106437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DB ERD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1244880" y="2015280"/>
            <a:ext cx="9803520" cy="37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400" spc="-1" strike="noStrike">
                <a:solidFill>
                  <a:schemeClr val="dk1"/>
                </a:solidFill>
                <a:latin typeface="맑은 고딕"/>
              </a:rPr>
              <a:t>왜 </a:t>
            </a:r>
            <a:r>
              <a:rPr b="1" lang="en-US" sz="1400" spc="-1" strike="noStrike">
                <a:solidFill>
                  <a:schemeClr val="dk1"/>
                </a:solidFill>
                <a:latin typeface="맑은 고딕"/>
              </a:rPr>
              <a:t>cart-cartItem/ order-orderItem </a:t>
            </a:r>
            <a:r>
              <a:rPr b="1" lang="ko-KR" sz="1400" spc="-1" strike="noStrike">
                <a:solidFill>
                  <a:schemeClr val="dk1"/>
                </a:solidFill>
                <a:latin typeface="맑은 고딕"/>
              </a:rPr>
              <a:t>분리 작업 했을까요</a:t>
            </a:r>
            <a:r>
              <a:rPr b="1" lang="en-US" sz="1400" spc="-1" strike="noStrike">
                <a:solidFill>
                  <a:schemeClr val="dk1"/>
                </a:solidFill>
                <a:latin typeface="맑은 고딕"/>
              </a:rPr>
              <a:t>?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1.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데이터 중복의 최소화 및 일관성 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(Normalization)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기술적으로는 데이터의 무결성을 지키기에 훨씬 유리합니다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Order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테이블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날짜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배송지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총 결제 금액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유저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ID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등 주문 전체에 공통된 정보만 딱 한 번 저장합니다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OrderItem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테이블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해당 주문에 속한 각 상품의 상세 정보만 저장합니다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장점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만약 배송지를 수정해야 한다면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Order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테이블의 행 하나만 고치면 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하지만 합쳐진 구조에서는 해당 주문번호를 가진 모든 행을 찾아 배송지를 수정해야 하므로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데이터가 서로 달라질 위험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데이터 불일치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이 생깁니다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2.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객체 지향적 도메인 모델링 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(OOP)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코드를 짤 때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Java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객체로 변환하기가 매우 자연스럽습니다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Order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객체 안에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List&lt;OrderItem&gt; items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라는 리스트를 두는 구조는 실제 비즈니스 로직과 똑같습니다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장점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JPA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같은 기술을 쓸 때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@OneToMany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관계 설정만으로 주문과 상세 내역을 한 번에 조회하고 관리할 수 있어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코드의 가독성이 높아지고 관리가 쉬워집니다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3.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확장성과 통계 쿼리의 용이성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나중에 서비스가 커졌을 때를 대비하기 좋습니다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주문 상태 관리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"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전체 주문은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결제완료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인데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그중 상품 하나만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품절 취소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가 되었다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"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같은 복잡한 상황을 관리하기가 훨씬 수월합니다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통계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"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이번 달 총 주문 건수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결제 건수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)"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구할 때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분리된 구조에서는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Order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테이블만 카운트하면 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하지만 합쳐진 구조에서는 상품 개수만큼 행이 존재하므로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DISTINCT(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주문번호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써서 중복을 제거해야 하는 번거로움이 생깁니다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44" name="그림 4" descr=""/>
          <p:cNvPicPr/>
          <p:nvPr/>
        </p:nvPicPr>
        <p:blipFill>
          <a:blip r:embed="rId1"/>
          <a:stretch/>
        </p:blipFill>
        <p:spPr>
          <a:xfrm>
            <a:off x="16560" y="7167600"/>
            <a:ext cx="4543200" cy="21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[DB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설계</a:t>
            </a: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]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관계 및 상세 구조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graphicFrame>
        <p:nvGraphicFramePr>
          <p:cNvPr id="147" name="표 11"/>
          <p:cNvGraphicFramePr/>
          <p:nvPr/>
        </p:nvGraphicFramePr>
        <p:xfrm>
          <a:off x="1206360" y="1866960"/>
          <a:ext cx="9816840" cy="4230000"/>
        </p:xfrm>
        <a:graphic>
          <a:graphicData uri="http://schemas.openxmlformats.org/drawingml/2006/table">
            <a:tbl>
              <a:tblPr/>
              <a:tblGrid>
                <a:gridCol w="1260720"/>
                <a:gridCol w="8556120"/>
              </a:tblGrid>
              <a:tr h="29376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테이블명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컬럼명 및 제약조건 </a:t>
                      </a: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</a:t>
                      </a:r>
                      <a:r>
                        <a:rPr b="1" lang="ko-KR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한 줄 요약</a:t>
                      </a: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368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User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email (Unique,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auth_provider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name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role (Not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376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Team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name (Unique, 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368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Product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team_id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name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price (Not Null, Check&gt;=0)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stock (Not Null, Check&gt;=0)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376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Cart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user_id (FK, Unique, 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368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CartItem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cart_id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product_id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quantity (Not Null, Min 1)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368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Orders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user_id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order_num (Unique,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order_date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status (Not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368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OrderItem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product_id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order_price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count (Not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1984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Delivery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order_id (FK, Unique,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receiver_name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address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tracking_num (Unique)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delivery_status (Not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1984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Payment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order_id (FK, Unique,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payment_key (Unique,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method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amount (Not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73680"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Board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id (PK, AI)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user_id (FK, 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title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content (Not Null)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created_at (Not Null)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66600" marR="66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명세서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50" name="제목 1"/>
          <p:cNvSpPr/>
          <p:nvPr/>
        </p:nvSpPr>
        <p:spPr>
          <a:xfrm>
            <a:off x="840960" y="1228320"/>
            <a:ext cx="10515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RESTful 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원칙을 준수하며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자원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(Resource)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에 대한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CRUD(Create, Read, Update, Delete)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처리를 명확히 설계하였습니다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graphicFrame>
        <p:nvGraphicFramePr>
          <p:cNvPr id="151" name="표 3"/>
          <p:cNvGraphicFramePr/>
          <p:nvPr/>
        </p:nvGraphicFramePr>
        <p:xfrm>
          <a:off x="1074240" y="1744200"/>
          <a:ext cx="10134360" cy="2192400"/>
        </p:xfrm>
        <a:graphic>
          <a:graphicData uri="http://schemas.openxmlformats.org/drawingml/2006/table">
            <a:tbl>
              <a:tblPr/>
              <a:tblGrid>
                <a:gridCol w="838080"/>
                <a:gridCol w="901440"/>
                <a:gridCol w="2323800"/>
                <a:gridCol w="1676160"/>
                <a:gridCol w="4394160"/>
              </a:tblGrid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분류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메서드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경로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기능 설명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주요 처리 로직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GET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/api/product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 전체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/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필터 조회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구단별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(teamId)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필터링 및 검색 기능 포함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POST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/api/admin/product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KBO 10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개 구단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Enum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초기 재고를 입력할 때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GET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/api/product/{id}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 상세 조회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 정보 및 현재 재고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</a:t>
                      </a: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stock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)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반환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장바구니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POST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/api/cart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장바구니 상품 추가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cart_items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레코드 생성 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이미 있으면 수량 증가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장바구니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PUT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/api/cart-items/{id}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장바구니 수량 변경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quantity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수정 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(0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미만 불가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장바구니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DELETE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/api/cart-items/{id}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장바구니 아이템 삭제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특정 </a:t>
                      </a: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cart_item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레코드 제거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주문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POST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/api/orders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주문 생성 및 결제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재고 차감 로직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 실행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주문서 생성 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(JWT </a:t>
                      </a: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필수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0520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리뷰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POST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/api/reviews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 리뷰 작성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상품 구매 여부 확인 후 등록 </a:t>
                      </a:r>
                      <a:r>
                        <a:rPr b="0" lang="en-US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(Optional)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2" name="표 6"/>
          <p:cNvGraphicFramePr/>
          <p:nvPr/>
        </p:nvGraphicFramePr>
        <p:xfrm>
          <a:off x="1074240" y="3929040"/>
          <a:ext cx="10098360" cy="2312280"/>
        </p:xfrm>
        <a:graphic>
          <a:graphicData uri="http://schemas.openxmlformats.org/drawingml/2006/table">
            <a:tbl>
              <a:tblPr/>
              <a:tblGrid>
                <a:gridCol w="873000"/>
                <a:gridCol w="860400"/>
                <a:gridCol w="2341080"/>
                <a:gridCol w="1683000"/>
                <a:gridCol w="4340520"/>
              </a:tblGrid>
              <a:tr h="261360"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분류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메서드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경로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기능 설명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040" rIns="77040" tIns="51480" bIns="514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9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주요 처리 로직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77040" marR="77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61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상품관리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POST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/api/admin/products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신규 상품 등록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구단 매핑 및 이미지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URL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업로드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61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상품관리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PUT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/api/admin/product/{id}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 정보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/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재고 수정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(Update)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가격 변경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,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재고 수량 증감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,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 상세 설명 수정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61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상품관리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DELETE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/api/admin/product/{id}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 삭제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Soft Delete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처리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상태값 변경으로 데이터 보존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613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주문관리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PUT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/api/admin/order/{id}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주문 상태 변경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배송 준비중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-&gt;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배송 중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-&gt;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배송 완료 상태 변경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906480">
                <a:tc gridSpan="5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엔드포인트 단일화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: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모든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API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경로를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/api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로 통합하여 프론트엔드 호출 규격을 일원화함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원자적 재고 관리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: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주문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(POST /api/orders)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처리 시 데이터 생성과 재고 차감을 하나의 트랜잭션으로 묶어 동시성 이슈 방지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Soft Delete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도입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: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 삭제 시 실제 데이터를 지우지 않고 상태값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(deleted_at)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만 변경하여 주문 이력의 데이터 무결성 보존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리소스 경로 명확화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: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장바구니 수정 경로를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/api/cart-items/{id}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로 구체화하여 조작 대상을 명확히 정의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Cart: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사용자별로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1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개 존재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사용자 바구니의 주인 확인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)-CartItem: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바구니 안에 담긴 상품들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(N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개 존재 가능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만약 하나로 합치면 한 명의 사용자가 여러 상품을 담을 때마다 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Cart </a:t>
                      </a:r>
                      <a:r>
                        <a:rPr b="0" lang="ko-KR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행이 계속 중복 생성되어 데이터 낭비가 심해집니다</a:t>
                      </a:r>
                      <a:r>
                        <a:rPr b="0" lang="en-US" sz="9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91440" marR="914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테이블 관계 요약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graphicFrame>
        <p:nvGraphicFramePr>
          <p:cNvPr id="155" name="표 3"/>
          <p:cNvGraphicFramePr/>
          <p:nvPr/>
        </p:nvGraphicFramePr>
        <p:xfrm>
          <a:off x="988200" y="1891080"/>
          <a:ext cx="10281960" cy="3216600"/>
        </p:xfrm>
        <a:graphic>
          <a:graphicData uri="http://schemas.openxmlformats.org/drawingml/2006/table">
            <a:tbl>
              <a:tblPr/>
              <a:tblGrid>
                <a:gridCol w="1206360"/>
                <a:gridCol w="1698480"/>
                <a:gridCol w="7377120"/>
              </a:tblGrid>
              <a:tr h="324720"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관계 유형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대상 테이블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ko-KR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관계 설명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86680">
                <a:tc>
                  <a:txBody>
                    <a:bodyPr lIns="111600" rIns="111600" tIns="74160" bIns="741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1 : 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Users ↔ Orders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한 명의 사용자는 여러 번의 주문을 생성할 수 있으며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user_id</a:t>
                      </a: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를 통해 주문 주체를 식별함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81080">
                <a:tc>
                  <a:txBody>
                    <a:bodyPr lIns="111600" rIns="111600" tIns="74160" bIns="741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1 : N : 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Orders ↔ Products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다대다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(N:M) </a:t>
                      </a: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관계를 해소하기 위해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order_items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 </a:t>
                      </a: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테이블을 매개체로 두어 주문 시점의 수량과 가격을 개별 관리함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86680">
                <a:tc>
                  <a:txBody>
                    <a:bodyPr lIns="111600" rIns="111600" tIns="74160" bIns="741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1 : 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Users ↔ Cart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11600" rIns="111600" tIns="74160" bIns="74160" anchor="ctr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각 회원은 고유한 장바구니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(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cart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) </a:t>
                      </a: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하나를 소유하며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, </a:t>
                      </a:r>
                      <a:r>
                        <a:rPr b="0" lang="en-US" sz="1200" spc="-1" strike="noStrike">
                          <a:solidFill>
                            <a:srgbClr val="444746"/>
                          </a:solidFill>
                          <a:latin typeface="Google Sans Text"/>
                        </a:rPr>
                        <a:t>cart_items</a:t>
                      </a:r>
                      <a:r>
                        <a:rPr b="0" lang="ko-KR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를 통해 여러 상품을 임시 보관함</a:t>
                      </a:r>
                      <a:r>
                        <a:rPr b="0" lang="en-US" sz="1200" spc="-1" strike="noStrike">
                          <a:solidFill>
                            <a:srgbClr val="1f1f1f"/>
                          </a:solidFill>
                          <a:latin typeface="Google Sans Text"/>
                        </a:rPr>
                        <a:t>.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  <a:p>
                      <a:pPr defTabSz="914400">
                        <a:lnSpc>
                          <a:spcPct val="150000"/>
                        </a:lnSpc>
                      </a:pP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111600" marR="11160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6" name="TextBox 6"/>
          <p:cNvSpPr/>
          <p:nvPr/>
        </p:nvSpPr>
        <p:spPr>
          <a:xfrm>
            <a:off x="997560" y="5314680"/>
            <a:ext cx="10106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외부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API: OpenWeatherMap API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연동 목적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전국 주요 구장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대구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잠실 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의 실시간 날씨 정보 표출 및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UX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향상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사각형: 둥근 모서리 5"/>
          <p:cNvSpPr/>
          <p:nvPr/>
        </p:nvSpPr>
        <p:spPr>
          <a:xfrm>
            <a:off x="8395920" y="1602360"/>
            <a:ext cx="31287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핵심 로직 시퀀스 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896400" y="1293120"/>
            <a:ext cx="824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사용자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확인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응답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| Cart → Order → OrderItem → Stock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차감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8700840" y="1769040"/>
            <a:ext cx="2567160" cy="41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ko-KR" sz="1600" spc="-1" strike="noStrike">
                <a:solidFill>
                  <a:schemeClr val="dk1"/>
                </a:solidFill>
                <a:latin typeface="맑은 고딕"/>
              </a:rPr>
              <a:t>핵심 로직 시퀀스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ko-KR" sz="1600" spc="-1" strike="noStrike">
                <a:solidFill>
                  <a:schemeClr val="dk1"/>
                </a:solidFill>
                <a:latin typeface="맑은 고딕"/>
              </a:rPr>
              <a:t>다이어그램 특징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 로직은 데이터 정합성이 핵심인 영역으로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상세 생성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장바구니 정리를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하나의 트랜잭션으로 처리하여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부분 성공으로 인한 데이터 불일치를 방지하도록 설계하였다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5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주문 생성 과정 중 하나라도 실패하면 재고나 주문 데이터가 불일치할 수 있기 때문에 원자성을 보장하기 위해 트랜잭션으로 처리했습니다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61" name="그림 3" descr=""/>
          <p:cNvPicPr/>
          <p:nvPr/>
        </p:nvPicPr>
        <p:blipFill>
          <a:blip r:embed="rId1"/>
          <a:stretch/>
        </p:blipFill>
        <p:spPr>
          <a:xfrm>
            <a:off x="573120" y="1690560"/>
            <a:ext cx="7973280" cy="460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graphicFrame>
        <p:nvGraphicFramePr>
          <p:cNvPr id="163" name="표 2"/>
          <p:cNvGraphicFramePr/>
          <p:nvPr/>
        </p:nvGraphicFramePr>
        <p:xfrm>
          <a:off x="990000" y="1825560"/>
          <a:ext cx="10212120" cy="2987640"/>
        </p:xfrm>
        <a:graphic>
          <a:graphicData uri="http://schemas.openxmlformats.org/drawingml/2006/table">
            <a:tbl>
              <a:tblPr/>
              <a:tblGrid>
                <a:gridCol w="533880"/>
                <a:gridCol w="1346040"/>
                <a:gridCol w="3581280"/>
                <a:gridCol w="4750560"/>
              </a:tblGrid>
              <a:tr h="23940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순서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주체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(Actor)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동작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(Action)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데이터 연결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(ID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기준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1940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사용자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결제 및 배송 정보 입력 후 주문 버튼 클릭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React → Spring Boot API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요청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1940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백엔드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상품 정보 및 구단 재고 확인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product_id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로 상품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+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재고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(stock)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조회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1940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백엔드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배송 정보 생성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입력받은 주소 →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delivery_id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생성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1940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외부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API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결제 승인 요청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토스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/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카카오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승인 성공 시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payment_id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발급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59904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백엔드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주문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(Order)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생성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Courier New"/>
                        </a:rPr>
                        <a:t>user_id + delivery_id + payment_id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 </a:t>
                      </a: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연결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419400"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DB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재고 차감 및 트랜잭션 완료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88560" rIns="88560" tIns="44280" bIns="44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모든 작업 성공 시 </a:t>
                      </a:r>
                      <a:r>
                        <a:rPr b="0" lang="en-US" sz="1200" spc="-1" strike="noStrike">
                          <a:solidFill>
                            <a:schemeClr val="dk1"/>
                          </a:solidFill>
                          <a:latin typeface="맑은 고딕"/>
                        </a:rPr>
                        <a:t>Commit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Noto Sans KR"/>
                      </a:endParaRPr>
                    </a:p>
                  </a:txBody>
                  <a:tcPr anchor="ctr" marL="88560" marR="885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핵심 로직 시퀀스 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838080" y="7117920"/>
            <a:ext cx="10106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외부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API: OpenWeatherMap API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연동 목적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전국 주요 구장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대구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잠실 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의 실시간 날씨 정보 표출 및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UX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향상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6" name="TextBox 4"/>
          <p:cNvSpPr/>
          <p:nvPr/>
        </p:nvSpPr>
        <p:spPr>
          <a:xfrm>
            <a:off x="896400" y="1293120"/>
            <a:ext cx="824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사용자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확인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응답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| Cart → Order → OrderItem → Stock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차감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1099800" y="4971960"/>
            <a:ext cx="101062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배송 정보 생성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사용자가 입력한 주소로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delivery_id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먼저 생성합니다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결제 승인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외부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토스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카카오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통해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payment_id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발급받습니다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데이터 연결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(ID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기준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생성된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delivery_id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payment_id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user_id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묶어 최종 주문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(Order)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을 완성합니다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트랜잭션 보장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이 모든 과정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장바구니 정리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은 하나의 트랜잭션으로 처리되어 하나라도 실패하면 모두 취소됩니다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사각형: 둥근 모서리 5"/>
          <p:cNvSpPr/>
          <p:nvPr/>
        </p:nvSpPr>
        <p:spPr>
          <a:xfrm>
            <a:off x="615240" y="1602360"/>
            <a:ext cx="1090944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핵심 로직 시퀀스 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896400" y="1293120"/>
            <a:ext cx="824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사용자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확인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응답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| Cart → Order → OrderItem → Stock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차감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71" name="그림 4" descr=""/>
          <p:cNvPicPr/>
          <p:nvPr/>
        </p:nvPicPr>
        <p:blipFill>
          <a:blip r:embed="rId1"/>
          <a:stretch/>
        </p:blipFill>
        <p:spPr>
          <a:xfrm>
            <a:off x="981000" y="1747800"/>
            <a:ext cx="8727840" cy="439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사각형: 둥근 모서리 5"/>
          <p:cNvSpPr/>
          <p:nvPr/>
        </p:nvSpPr>
        <p:spPr>
          <a:xfrm>
            <a:off x="615240" y="1602360"/>
            <a:ext cx="1090944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핵심 로직 시퀀스 다이어그램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896400" y="1293120"/>
            <a:ext cx="824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사용자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확인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주문 생성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-&gt;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응답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| Cart → Order → OrderItem → Stock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차감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75" name="그림 6" descr=""/>
          <p:cNvPicPr/>
          <p:nvPr/>
        </p:nvPicPr>
        <p:blipFill>
          <a:blip r:embed="rId1"/>
          <a:stretch/>
        </p:blipFill>
        <p:spPr>
          <a:xfrm>
            <a:off x="906120" y="1955880"/>
            <a:ext cx="8102160" cy="4051080"/>
          </a:xfrm>
          <a:prstGeom prst="rect">
            <a:avLst/>
          </a:prstGeom>
          <a:ln w="0">
            <a:noFill/>
          </a:ln>
        </p:spPr>
      </p:pic>
      <p:sp>
        <p:nvSpPr>
          <p:cNvPr id="176" name="TextBox 7"/>
          <p:cNvSpPr/>
          <p:nvPr/>
        </p:nvSpPr>
        <p:spPr>
          <a:xfrm>
            <a:off x="9142560" y="2072880"/>
            <a:ext cx="2211120" cy="38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맑은 고딕"/>
              </a:rPr>
              <a:t>JWT </a:t>
            </a:r>
            <a:r>
              <a:rPr b="1" lang="ko-KR" sz="1800" spc="-1" strike="noStrike">
                <a:solidFill>
                  <a:schemeClr val="dk1"/>
                </a:solidFill>
                <a:latin typeface="맑은 고딕"/>
              </a:rPr>
              <a:t>구조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Header: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알고리즘 정보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(HS256)</a:t>
            </a:r>
            <a:br>
              <a:rPr sz="1200"/>
            </a:b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Payload: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userId, role, exp 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만료시간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br>
              <a:rPr sz="1200"/>
            </a:b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Signature: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 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서버의 비밀키로 서명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1-3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JWT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인증 과정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4-6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트랜잭션 시작 및 재고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7-10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단계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성공 시 처리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차감 → 주문 생성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예외 처리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재고 부족 시 롤백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개발단계 일정🥊😆</a:t>
            </a: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-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이슈기록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79" name="제목 1"/>
          <p:cNvSpPr/>
          <p:nvPr/>
        </p:nvSpPr>
        <p:spPr>
          <a:xfrm>
            <a:off x="1005840" y="1919520"/>
            <a:ext cx="10112400" cy="366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20251219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기획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설계도 구성 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20251230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기획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컨셉확정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20251231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기획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설계완료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20260105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수정 및 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DB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생성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리액트 연결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20261006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수정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-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결제시스템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배송정보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구단정보추가 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 DB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수정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-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갈아엎음💥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20261007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수정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-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결제시스템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배송정보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구단정보추가 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 ERD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수정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20261008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 docker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설치 및 설정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20261009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설계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 docker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설치 및 설정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수정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20261014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개발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패스워드리스 추가해야된데서 갈아엎음😵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20261016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개발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한번날려먹어서 다시 갈아엎음😈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20261021 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개발</a:t>
            </a:r>
            <a:r>
              <a:rPr b="0" lang="en-US" sz="1600" spc="-1" strike="noStrike">
                <a:solidFill>
                  <a:schemeClr val="dk1"/>
                </a:solidFill>
                <a:latin typeface="맑은 고딕"/>
              </a:rPr>
              <a:t>:DB</a:t>
            </a:r>
            <a:r>
              <a:rPr b="0" lang="ko-KR" sz="1600" spc="-1" strike="noStrike">
                <a:solidFill>
                  <a:schemeClr val="dk1"/>
                </a:solidFill>
                <a:latin typeface="맑은 고딕"/>
              </a:rPr>
              <a:t>비번왜 안맞을까 싹밀어버리고 다시 시작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트러블슈팅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82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개발 과정 중 유사 라이브러리 자동 임포트로 인한 엔티티 매핑 오류 발생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7260120" y="2102400"/>
            <a:ext cx="3837240" cy="18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Error log 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Caused by: org.hibernate.AnnotationException: Property 'com.example.LikeKBO.entity.User.role' is annotated '@Enumerated' but its type 'javax.management.relation.Role' is not an enum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85" name="그림 6" descr=""/>
          <p:cNvPicPr/>
          <p:nvPr/>
        </p:nvPicPr>
        <p:blipFill>
          <a:blip r:embed="rId1"/>
          <a:srcRect l="0" t="0" r="8947" b="0"/>
          <a:stretch/>
        </p:blipFill>
        <p:spPr>
          <a:xfrm>
            <a:off x="1296000" y="2118960"/>
            <a:ext cx="5524200" cy="1257120"/>
          </a:xfrm>
          <a:prstGeom prst="rect">
            <a:avLst/>
          </a:prstGeom>
          <a:ln w="0">
            <a:noFill/>
          </a:ln>
        </p:spPr>
      </p:pic>
      <p:pic>
        <p:nvPicPr>
          <p:cNvPr id="186" name="그림 12" descr=""/>
          <p:cNvPicPr/>
          <p:nvPr/>
        </p:nvPicPr>
        <p:blipFill>
          <a:blip r:embed="rId2"/>
          <a:stretch/>
        </p:blipFill>
        <p:spPr>
          <a:xfrm>
            <a:off x="1296000" y="3475080"/>
            <a:ext cx="5524200" cy="2276280"/>
          </a:xfrm>
          <a:prstGeom prst="rect">
            <a:avLst/>
          </a:prstGeom>
          <a:ln w="0">
            <a:noFill/>
          </a:ln>
        </p:spPr>
      </p:pic>
      <p:sp>
        <p:nvSpPr>
          <p:cNvPr id="187" name="직사각형 13"/>
          <p:cNvSpPr/>
          <p:nvPr/>
        </p:nvSpPr>
        <p:spPr>
          <a:xfrm>
            <a:off x="1334520" y="4095000"/>
            <a:ext cx="3051360" cy="3074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88" name="TextBox 14"/>
          <p:cNvSpPr/>
          <p:nvPr/>
        </p:nvSpPr>
        <p:spPr>
          <a:xfrm>
            <a:off x="4349880" y="4109400"/>
            <a:ext cx="95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rgbClr val="f2f2f2"/>
                </a:solidFill>
                <a:latin typeface="맑은 고딕"/>
              </a:rPr>
              <a:t>삭제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사각형: 둥근 모서리 5"/>
          <p:cNvSpPr/>
          <p:nvPr/>
        </p:nvSpPr>
        <p:spPr>
          <a:xfrm>
            <a:off x="8658000" y="1602360"/>
            <a:ext cx="282384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트러블슈팅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896400" y="1293120"/>
            <a:ext cx="8245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수정후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8858160" y="1718280"/>
            <a:ext cx="2495160" cy="41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맑은 고딕"/>
              </a:rPr>
              <a:t>DB ERD </a:t>
            </a:r>
            <a:r>
              <a:rPr b="1" lang="ko-KR" sz="1100" spc="-1" strike="noStrike">
                <a:solidFill>
                  <a:schemeClr val="dk1"/>
                </a:solidFill>
                <a:latin typeface="맑은 고딕"/>
              </a:rPr>
              <a:t>다이어그램 수정 후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분류 추가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사용자와 관리자를 나누어 권한부여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장바구니 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cart-cart_item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분리이유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장바구니에서 수량 변경 및 삭제기능을 버그없이 구현하기 위함 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사용자마다 바구니 하나를 정해두고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그 안에 담긴 여러 상품들만 따로 관리해야 데이터가 꼬이지 않기 때문에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바구니는 유저 꺼로 딱 고정해두고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물건만 추가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삭제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수량 변경을 관리하는 게 관리가쉽다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:cart-cart_item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합쳤을 때의 문제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장바구니랑 물건이 붙어 있으면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물건 하나를 바꿀 때마다 바구니 전체를 새로 만들어야 해서 복잡해짐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결제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배송 연결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100" spc="-1" strike="noStrike">
                <a:solidFill>
                  <a:schemeClr val="dk1"/>
                </a:solidFill>
                <a:latin typeface="맑은 고딕"/>
              </a:rPr>
              <a:t>주문 시 결제 검증과 배송지 저장이 동시에 일어나는 흐름을 포함했습니다</a:t>
            </a:r>
            <a:r>
              <a:rPr b="0" lang="en-US" sz="11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  <a:p>
            <a:pPr algn="just" defTabSz="914400"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93" name="그림 4" descr=""/>
          <p:cNvPicPr/>
          <p:nvPr/>
        </p:nvPicPr>
        <p:blipFill>
          <a:blip r:embed="rId1"/>
          <a:stretch/>
        </p:blipFill>
        <p:spPr>
          <a:xfrm>
            <a:off x="573120" y="1690560"/>
            <a:ext cx="7973280" cy="460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사각형: 둥근 모서리 5"/>
          <p:cNvSpPr/>
          <p:nvPr/>
        </p:nvSpPr>
        <p:spPr>
          <a:xfrm>
            <a:off x="6095880" y="1602360"/>
            <a:ext cx="542880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DB-MySQL-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트러블슈팅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196" name="제목 1"/>
          <p:cNvSpPr/>
          <p:nvPr/>
        </p:nvSpPr>
        <p:spPr>
          <a:xfrm>
            <a:off x="6654240" y="2067840"/>
            <a:ext cx="4534200" cy="35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Cmd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관리자 모드로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2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개를 켠다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1.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첫번째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cmd: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mysqld --defaults-file="C:\Program Files\MariaDB 10.6\data\my.ini" --skip-grant-tables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1.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두번째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cmd: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&gt;&gt;mysql -u root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&gt;&gt;USE mysql;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--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비번 강제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1234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적용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&gt;&gt;UPDATE user SET password=PASSWORD('1234') WHERE User='root’;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--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권한 적용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&gt;&gt;FLUSH PRIVILEGES;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&gt;&gt; exit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97" name="제목 1"/>
          <p:cNvSpPr/>
          <p:nvPr/>
        </p:nvSpPr>
        <p:spPr>
          <a:xfrm>
            <a:off x="838080" y="1225440"/>
            <a:ext cx="4467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DB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강제 비번 변경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98" name="그림 6" descr=""/>
          <p:cNvPicPr/>
          <p:nvPr/>
        </p:nvPicPr>
        <p:blipFill>
          <a:blip r:embed="rId1"/>
          <a:stretch/>
        </p:blipFill>
        <p:spPr>
          <a:xfrm>
            <a:off x="878760" y="1690560"/>
            <a:ext cx="4985640" cy="4698360"/>
          </a:xfrm>
          <a:prstGeom prst="rect">
            <a:avLst/>
          </a:prstGeom>
          <a:ln w="0">
            <a:noFill/>
          </a:ln>
        </p:spPr>
      </p:pic>
      <p:sp>
        <p:nvSpPr>
          <p:cNvPr id="199" name="직사각형 7"/>
          <p:cNvSpPr/>
          <p:nvPr/>
        </p:nvSpPr>
        <p:spPr>
          <a:xfrm>
            <a:off x="838080" y="2265840"/>
            <a:ext cx="4467240" cy="1947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00" name="직사각형 8"/>
          <p:cNvSpPr/>
          <p:nvPr/>
        </p:nvSpPr>
        <p:spPr>
          <a:xfrm>
            <a:off x="838080" y="5348880"/>
            <a:ext cx="4467240" cy="2530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Product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03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KBO 10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개 구단 데이터를 안전하게 관리하기 위한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Enum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타입 도입 및 도메인 모델 설계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05" name="TextBox 14"/>
          <p:cNvSpPr/>
          <p:nvPr/>
        </p:nvSpPr>
        <p:spPr>
          <a:xfrm>
            <a:off x="4349880" y="4109400"/>
            <a:ext cx="95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rgbClr val="f2f2f2"/>
                </a:solidFill>
                <a:latin typeface="맑은 고딕"/>
              </a:rPr>
              <a:t>삭제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06" name="그림 3" descr=""/>
          <p:cNvPicPr/>
          <p:nvPr/>
        </p:nvPicPr>
        <p:blipFill>
          <a:blip r:embed="rId1"/>
          <a:stretch/>
        </p:blipFill>
        <p:spPr>
          <a:xfrm>
            <a:off x="1233720" y="1845000"/>
            <a:ext cx="2180160" cy="4237200"/>
          </a:xfrm>
          <a:prstGeom prst="rect">
            <a:avLst/>
          </a:prstGeom>
          <a:ln w="0">
            <a:noFill/>
          </a:ln>
        </p:spPr>
      </p:pic>
      <p:pic>
        <p:nvPicPr>
          <p:cNvPr id="207" name="그림 7" descr=""/>
          <p:cNvPicPr/>
          <p:nvPr/>
        </p:nvPicPr>
        <p:blipFill>
          <a:blip r:embed="rId2"/>
          <a:stretch/>
        </p:blipFill>
        <p:spPr>
          <a:xfrm>
            <a:off x="4509000" y="1845000"/>
            <a:ext cx="3860280" cy="4237200"/>
          </a:xfrm>
          <a:prstGeom prst="rect">
            <a:avLst/>
          </a:prstGeom>
          <a:ln w="0">
            <a:noFill/>
          </a:ln>
        </p:spPr>
      </p:pic>
      <p:sp>
        <p:nvSpPr>
          <p:cNvPr id="208" name="직사각형 2"/>
          <p:cNvSpPr/>
          <p:nvPr/>
        </p:nvSpPr>
        <p:spPr>
          <a:xfrm>
            <a:off x="5037480" y="5711400"/>
            <a:ext cx="2552760" cy="31392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09" name="직사각형 4"/>
          <p:cNvSpPr/>
          <p:nvPr/>
        </p:nvSpPr>
        <p:spPr>
          <a:xfrm>
            <a:off x="1982880" y="4414680"/>
            <a:ext cx="1230840" cy="401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cxnSp>
        <p:nvCxnSpPr>
          <p:cNvPr id="210" name="연결선: 꺾임 10"/>
          <p:cNvCxnSpPr/>
          <p:nvPr/>
        </p:nvCxnSpPr>
        <p:spPr>
          <a:xfrm>
            <a:off x="3300480" y="4609440"/>
            <a:ext cx="1688040" cy="125928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SecurityConfig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개발 편의 및 프론트엔드 연동을 위해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SecurityFilterChain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을 커스터마이징하여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경로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(PermitAll)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개방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4349880" y="4109400"/>
            <a:ext cx="95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rgbClr val="f2f2f2"/>
                </a:solidFill>
                <a:latin typeface="맑은 고딕"/>
              </a:rPr>
              <a:t>삭제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16" name="그림 4" descr=""/>
          <p:cNvPicPr/>
          <p:nvPr/>
        </p:nvPicPr>
        <p:blipFill>
          <a:blip r:embed="rId1"/>
          <a:srcRect l="0" t="0" r="6831" b="0"/>
          <a:stretch/>
        </p:blipFill>
        <p:spPr>
          <a:xfrm>
            <a:off x="1058400" y="1976400"/>
            <a:ext cx="4924800" cy="2904840"/>
          </a:xfrm>
          <a:prstGeom prst="rect">
            <a:avLst/>
          </a:prstGeom>
          <a:ln w="0">
            <a:noFill/>
          </a:ln>
        </p:spPr>
      </p:pic>
      <p:pic>
        <p:nvPicPr>
          <p:cNvPr id="217" name="그림 10" descr=""/>
          <p:cNvPicPr/>
          <p:nvPr/>
        </p:nvPicPr>
        <p:blipFill>
          <a:blip r:embed="rId2"/>
          <a:srcRect l="0" t="0" r="0" b="20817"/>
          <a:stretch/>
        </p:blipFill>
        <p:spPr>
          <a:xfrm>
            <a:off x="6679080" y="1976400"/>
            <a:ext cx="4484520" cy="3871800"/>
          </a:xfrm>
          <a:prstGeom prst="rect">
            <a:avLst/>
          </a:prstGeom>
          <a:ln w="0">
            <a:noFill/>
          </a:ln>
        </p:spPr>
      </p:pic>
      <p:sp>
        <p:nvSpPr>
          <p:cNvPr id="218" name="TextBox 11"/>
          <p:cNvSpPr/>
          <p:nvPr/>
        </p:nvSpPr>
        <p:spPr>
          <a:xfrm>
            <a:off x="1581480" y="5167440"/>
            <a:ext cx="3764520" cy="82116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Spring Security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의존성 추가 시 기본 보안 필터가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자동 적용되어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접근 시 인증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(Login)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요구 확인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9" name="TextBox 12"/>
          <p:cNvSpPr/>
          <p:nvPr/>
        </p:nvSpPr>
        <p:spPr>
          <a:xfrm>
            <a:off x="6984000" y="5167440"/>
            <a:ext cx="3882600" cy="82116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보안 설정 적용 과정에서 경로 매핑 오류 발생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확인 및 디버깅 로그 분석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0" name="화살표: 오른쪽 3"/>
          <p:cNvSpPr/>
          <p:nvPr/>
        </p:nvSpPr>
        <p:spPr>
          <a:xfrm>
            <a:off x="6206760" y="3385440"/>
            <a:ext cx="308160" cy="25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ba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SecurityConfig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23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커스텀 보안 설정을 통해 모든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경로에 대한 접근 권한을 허용하여 프론트엔드와의 통신 환경 구축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4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25" name="그림 7" descr=""/>
          <p:cNvPicPr/>
          <p:nvPr/>
        </p:nvPicPr>
        <p:blipFill>
          <a:blip r:embed="rId1"/>
          <a:srcRect l="0" t="2074" r="20222" b="0"/>
          <a:stretch/>
        </p:blipFill>
        <p:spPr>
          <a:xfrm>
            <a:off x="1058400" y="1924920"/>
            <a:ext cx="5984640" cy="4088520"/>
          </a:xfrm>
          <a:prstGeom prst="rect">
            <a:avLst/>
          </a:prstGeom>
          <a:ln w="0">
            <a:noFill/>
          </a:ln>
        </p:spPr>
      </p:pic>
      <p:sp>
        <p:nvSpPr>
          <p:cNvPr id="226" name="직사각형 13"/>
          <p:cNvSpPr/>
          <p:nvPr/>
        </p:nvSpPr>
        <p:spPr>
          <a:xfrm>
            <a:off x="2405880" y="4611960"/>
            <a:ext cx="3328560" cy="25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227" name="그림 16" descr=""/>
          <p:cNvPicPr/>
          <p:nvPr/>
        </p:nvPicPr>
        <p:blipFill>
          <a:blip r:embed="rId2"/>
          <a:srcRect l="0" t="0" r="0" b="40600"/>
          <a:stretch/>
        </p:blipFill>
        <p:spPr>
          <a:xfrm>
            <a:off x="8650440" y="1924920"/>
            <a:ext cx="2643120" cy="4088520"/>
          </a:xfrm>
          <a:prstGeom prst="rect">
            <a:avLst/>
          </a:prstGeom>
          <a:ln w="0">
            <a:noFill/>
          </a:ln>
        </p:spPr>
      </p:pic>
      <p:sp>
        <p:nvSpPr>
          <p:cNvPr id="228" name="직사각형 10"/>
          <p:cNvSpPr/>
          <p:nvPr/>
        </p:nvSpPr>
        <p:spPr>
          <a:xfrm>
            <a:off x="8809200" y="2165760"/>
            <a:ext cx="1575000" cy="25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29" name="직사각형 11"/>
          <p:cNvSpPr/>
          <p:nvPr/>
        </p:nvSpPr>
        <p:spPr>
          <a:xfrm>
            <a:off x="8809200" y="3220560"/>
            <a:ext cx="1575000" cy="25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30" name="직사각형 14"/>
          <p:cNvSpPr/>
          <p:nvPr/>
        </p:nvSpPr>
        <p:spPr>
          <a:xfrm>
            <a:off x="8809200" y="4257720"/>
            <a:ext cx="1575000" cy="25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31" name="직사각형 15"/>
          <p:cNvSpPr/>
          <p:nvPr/>
        </p:nvSpPr>
        <p:spPr>
          <a:xfrm>
            <a:off x="8809200" y="5276160"/>
            <a:ext cx="1575000" cy="250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32" name="TextBox 12"/>
          <p:cNvSpPr/>
          <p:nvPr/>
        </p:nvSpPr>
        <p:spPr>
          <a:xfrm>
            <a:off x="6124680" y="4566960"/>
            <a:ext cx="3000240" cy="100404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보안 필터 수정 후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API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호출 성공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및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DB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데이터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(JSON)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수신 확인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URL: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 http://localhost:8080/api/products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3" name="화살표: 오른쪽 17"/>
          <p:cNvSpPr/>
          <p:nvPr/>
        </p:nvSpPr>
        <p:spPr>
          <a:xfrm>
            <a:off x="7692840" y="3385440"/>
            <a:ext cx="308160" cy="25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ba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235" name="그림 4" descr=""/>
          <p:cNvPicPr/>
          <p:nvPr/>
        </p:nvPicPr>
        <p:blipFill>
          <a:blip r:embed="rId1"/>
          <a:srcRect l="0" t="0" r="0" b="34744"/>
          <a:stretch/>
        </p:blipFill>
        <p:spPr>
          <a:xfrm>
            <a:off x="1135800" y="1839960"/>
            <a:ext cx="4409280" cy="2630160"/>
          </a:xfrm>
          <a:prstGeom prst="rect">
            <a:avLst/>
          </a:prstGeom>
          <a:ln w="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Signup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트러블슈팅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37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회원가입시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 발생하는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403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에러상황을 포트번호 통일로 해결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8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9" name="TextBox 17"/>
          <p:cNvSpPr/>
          <p:nvPr/>
        </p:nvSpPr>
        <p:spPr>
          <a:xfrm>
            <a:off x="3105360" y="4059000"/>
            <a:ext cx="1434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100" spc="-1" strike="noStrike">
                <a:solidFill>
                  <a:srgbClr val="f2f2f2"/>
                </a:solidFill>
                <a:latin typeface="맑은 고딕"/>
              </a:rPr>
              <a:t>기종 간 통신 해결</a:t>
            </a:r>
            <a:endParaRPr b="0" lang="en-US" sz="11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40" name="화살표: 오른쪽 3"/>
          <p:cNvSpPr/>
          <p:nvPr/>
        </p:nvSpPr>
        <p:spPr>
          <a:xfrm>
            <a:off x="5875920" y="3590280"/>
            <a:ext cx="308160" cy="25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ba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241" name="그림 7" descr=""/>
          <p:cNvPicPr/>
          <p:nvPr/>
        </p:nvPicPr>
        <p:blipFill>
          <a:blip r:embed="rId2"/>
          <a:srcRect l="35253" t="371" r="-479" b="6594"/>
          <a:stretch/>
        </p:blipFill>
        <p:spPr>
          <a:xfrm>
            <a:off x="6422040" y="1764000"/>
            <a:ext cx="4807080" cy="4182840"/>
          </a:xfrm>
          <a:prstGeom prst="rect">
            <a:avLst/>
          </a:prstGeom>
          <a:ln w="0">
            <a:noFill/>
          </a:ln>
        </p:spPr>
      </p:pic>
      <p:sp>
        <p:nvSpPr>
          <p:cNvPr id="242" name="직사각형 22"/>
          <p:cNvSpPr/>
          <p:nvPr/>
        </p:nvSpPr>
        <p:spPr>
          <a:xfrm>
            <a:off x="8928000" y="4886280"/>
            <a:ext cx="1557360" cy="2314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43" name="TextBox 15"/>
          <p:cNvSpPr/>
          <p:nvPr/>
        </p:nvSpPr>
        <p:spPr>
          <a:xfrm>
            <a:off x="7852320" y="4246920"/>
            <a:ext cx="2633040" cy="36396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"http://localhost:5173"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44" name="그림 19" descr=""/>
          <p:cNvPicPr/>
          <p:nvPr/>
        </p:nvPicPr>
        <p:blipFill>
          <a:blip r:embed="rId3"/>
          <a:srcRect l="0" t="0" r="35336" b="0"/>
          <a:stretch/>
        </p:blipFill>
        <p:spPr>
          <a:xfrm>
            <a:off x="1135800" y="4689720"/>
            <a:ext cx="4409280" cy="980640"/>
          </a:xfrm>
          <a:prstGeom prst="rect">
            <a:avLst/>
          </a:prstGeom>
          <a:ln w="0">
            <a:noFill/>
          </a:ln>
        </p:spPr>
      </p:pic>
      <p:sp>
        <p:nvSpPr>
          <p:cNvPr id="245" name="직사각형 13"/>
          <p:cNvSpPr/>
          <p:nvPr/>
        </p:nvSpPr>
        <p:spPr>
          <a:xfrm>
            <a:off x="3429000" y="4538880"/>
            <a:ext cx="1257120" cy="6274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cxnSp>
        <p:nvCxnSpPr>
          <p:cNvPr id="246" name="연결선: 꺾임 23"/>
          <p:cNvCxnSpPr/>
          <p:nvPr/>
        </p:nvCxnSpPr>
        <p:spPr>
          <a:xfrm flipH="1" rot="16200000">
            <a:off x="3463200" y="3462480"/>
            <a:ext cx="1766520" cy="388080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</a:ln>
        </p:spPr>
      </p:cxnSp>
      <p:sp>
        <p:nvSpPr>
          <p:cNvPr id="247" name="직사각형 27"/>
          <p:cNvSpPr/>
          <p:nvPr/>
        </p:nvSpPr>
        <p:spPr>
          <a:xfrm>
            <a:off x="2424240" y="2100240"/>
            <a:ext cx="1828440" cy="6732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cxnSp>
        <p:nvCxnSpPr>
          <p:cNvPr id="248" name="연결선: 꺾임 30"/>
          <p:cNvCxnSpPr/>
          <p:nvPr/>
        </p:nvCxnSpPr>
        <p:spPr>
          <a:xfrm>
            <a:off x="4686120" y="4772160"/>
            <a:ext cx="4242240" cy="265680"/>
          </a:xfrm>
          <a:prstGeom prst="bentConnector3">
            <a:avLst>
              <a:gd name="adj1" fmla="val 50004"/>
            </a:avLst>
          </a:prstGeom>
          <a:ln w="19050">
            <a:solidFill>
              <a:srgbClr val="c00000"/>
            </a:solidFill>
            <a:tailEnd len="med" type="triangle" w="med"/>
          </a:ln>
        </p:spPr>
      </p:cxnSp>
      <p:grpSp>
        <p:nvGrpSpPr>
          <p:cNvPr id="249" name="그룹 33"/>
          <p:cNvGrpSpPr/>
          <p:nvPr/>
        </p:nvGrpSpPr>
        <p:grpSpPr>
          <a:xfrm>
            <a:off x="6230520" y="2859120"/>
            <a:ext cx="5122800" cy="1176480"/>
            <a:chOff x="6230520" y="2859120"/>
            <a:chExt cx="5122800" cy="1176480"/>
          </a:xfrm>
        </p:grpSpPr>
        <p:sp>
          <p:nvSpPr>
            <p:cNvPr id="250" name="사각형: 둥근 모서리 32"/>
            <p:cNvSpPr/>
            <p:nvPr/>
          </p:nvSpPr>
          <p:spPr>
            <a:xfrm>
              <a:off x="6230520" y="2859120"/>
              <a:ext cx="5122800" cy="1176480"/>
            </a:xfrm>
            <a:prstGeom prst="roundRect">
              <a:avLst>
                <a:gd name="adj" fmla="val 5603"/>
              </a:avLst>
            </a:prstGeom>
            <a:solidFill>
              <a:schemeClr val="dk1">
                <a:alpha val="5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맑은 고딕"/>
              </a:endParaRPr>
            </a:p>
          </p:txBody>
        </p:sp>
        <p:sp>
          <p:nvSpPr>
            <p:cNvPr id="251" name="TextBox 31"/>
            <p:cNvSpPr/>
            <p:nvPr/>
          </p:nvSpPr>
          <p:spPr>
            <a:xfrm>
              <a:off x="6346440" y="3023280"/>
              <a:ext cx="4882680" cy="82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200" spc="-1" strike="noStrike">
                  <a:solidFill>
                    <a:schemeClr val="lt1"/>
                  </a:solidFill>
                  <a:latin typeface="맑은 고딕"/>
                </a:rPr>
                <a:t>403 </a:t>
              </a:r>
              <a:r>
                <a:rPr b="0" lang="ko-KR" sz="1200" spc="-1" strike="noStrike">
                  <a:solidFill>
                    <a:schemeClr val="lt1"/>
                  </a:solidFill>
                  <a:latin typeface="맑은 고딕"/>
                </a:rPr>
                <a:t>오류가 발생했는데</a:t>
              </a:r>
              <a:r>
                <a:rPr b="0" lang="en-US" sz="1200" spc="-1" strike="noStrike">
                  <a:solidFill>
                    <a:schemeClr val="lt1"/>
                  </a:solidFill>
                  <a:latin typeface="맑은 고딕"/>
                </a:rPr>
                <a:t>,</a:t>
              </a:r>
              <a:br>
                <a:rPr sz="1200"/>
              </a:br>
              <a:r>
                <a:rPr b="0" lang="ko-KR" sz="1200" spc="-1" strike="noStrike">
                  <a:solidFill>
                    <a:schemeClr val="lt1"/>
                  </a:solidFill>
                  <a:latin typeface="맑은 고딕"/>
                </a:rPr>
                <a:t>포트 문제라기보다는 프론트엔드와 백엔드 서버가 분리된 환경에서</a:t>
              </a:r>
              <a:br>
                <a:rPr sz="1200"/>
              </a:br>
              <a:r>
                <a:rPr b="0" lang="en-US" sz="1200" spc="-1" strike="noStrike">
                  <a:solidFill>
                    <a:schemeClr val="lt1"/>
                  </a:solidFill>
                  <a:latin typeface="맑은 고딕"/>
                </a:rPr>
                <a:t>CORS </a:t>
              </a:r>
              <a:r>
                <a:rPr b="0" lang="ko-KR" sz="1200" spc="-1" strike="noStrike">
                  <a:solidFill>
                    <a:schemeClr val="lt1"/>
                  </a:solidFill>
                  <a:latin typeface="맑은 고딕"/>
                </a:rPr>
                <a:t>설정이 되지 않아 요청이 차단된 것이 원인이었습니다</a:t>
              </a:r>
              <a:r>
                <a:rPr b="0" lang="en-US" sz="1200" spc="-1" strike="noStrike">
                  <a:solidFill>
                    <a:schemeClr val="lt1"/>
                  </a:solidFill>
                  <a:latin typeface="맑은 고딕"/>
                </a:rPr>
                <a:t>.</a:t>
              </a:r>
              <a:br>
                <a:rPr sz="1200"/>
              </a:br>
              <a:r>
                <a:rPr b="0" lang="en-US" sz="1200" spc="-1" strike="noStrike">
                  <a:solidFill>
                    <a:schemeClr val="lt1"/>
                  </a:solidFill>
                  <a:latin typeface="맑은 고딕"/>
                </a:rPr>
                <a:t>Spring Security</a:t>
              </a:r>
              <a:r>
                <a:rPr b="0" lang="ko-KR" sz="1200" spc="-1" strike="noStrike">
                  <a:solidFill>
                    <a:schemeClr val="lt1"/>
                  </a:solidFill>
                  <a:latin typeface="맑은 고딕"/>
                </a:rPr>
                <a:t>에서 프론트엔드 주소를 허용해 문제를 해결했습니다</a:t>
              </a:r>
              <a:r>
                <a:rPr b="0" lang="en-US" sz="1200" spc="-1" strike="noStrike">
                  <a:solidFill>
                    <a:schemeClr val="lt1"/>
                  </a:solidFill>
                  <a:latin typeface="맑은 고딕"/>
                </a:rPr>
                <a:t>.</a:t>
              </a:r>
              <a:endParaRPr b="0" lang="en-US" sz="1200" spc="-1" strike="noStrike">
                <a:solidFill>
                  <a:srgbClr val="000000"/>
                </a:solidFill>
                <a:latin typeface="Noto Sans KR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login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54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정상로그인 확인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55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56" name="그림 6" descr=""/>
          <p:cNvPicPr/>
          <p:nvPr/>
        </p:nvPicPr>
        <p:blipFill>
          <a:blip r:embed="rId1"/>
          <a:stretch/>
        </p:blipFill>
        <p:spPr>
          <a:xfrm>
            <a:off x="1257480" y="2039040"/>
            <a:ext cx="4594680" cy="3772800"/>
          </a:xfrm>
          <a:prstGeom prst="rect">
            <a:avLst/>
          </a:prstGeom>
          <a:ln w="0">
            <a:noFill/>
          </a:ln>
        </p:spPr>
      </p:pic>
      <p:sp>
        <p:nvSpPr>
          <p:cNvPr id="257" name="TextBox 10"/>
          <p:cNvSpPr/>
          <p:nvPr/>
        </p:nvSpPr>
        <p:spPr>
          <a:xfrm>
            <a:off x="1883520" y="3290040"/>
            <a:ext cx="2633040" cy="36396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맑은 고딕"/>
              </a:rPr>
              <a:t>rkfnsk10@naver.com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58" name="그림 11" descr=""/>
          <p:cNvPicPr/>
          <p:nvPr/>
        </p:nvPicPr>
        <p:blipFill>
          <a:blip r:embed="rId2"/>
          <a:srcRect l="53804" t="47375" r="702" b="30457"/>
          <a:stretch/>
        </p:blipFill>
        <p:spPr>
          <a:xfrm>
            <a:off x="6396840" y="4209840"/>
            <a:ext cx="4006080" cy="1602000"/>
          </a:xfrm>
          <a:prstGeom prst="rect">
            <a:avLst/>
          </a:prstGeom>
          <a:ln w="0">
            <a:noFill/>
          </a:ln>
        </p:spPr>
      </p:pic>
      <p:sp>
        <p:nvSpPr>
          <p:cNvPr id="259" name="제목 1"/>
          <p:cNvSpPr/>
          <p:nvPr/>
        </p:nvSpPr>
        <p:spPr>
          <a:xfrm>
            <a:off x="6339600" y="2146320"/>
            <a:ext cx="4315320" cy="19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맑은 고딕"/>
              </a:rPr>
              <a:t>Login-passwordless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정상로그인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200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호출확인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패스워드리스로 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회원가입시 입력한 이메일로 </a:t>
            </a:r>
            <a:r>
              <a:rPr b="0" lang="en-US" sz="1400" spc="-1" strike="noStrike" u="sng">
                <a:solidFill>
                  <a:schemeClr val="dk1"/>
                </a:solidFill>
                <a:uFillTx/>
                <a:latin typeface="맑은 고딕"/>
                <a:hlinkClick r:id="rId3"/>
              </a:rPr>
              <a:t>rkfnsk10@naver.com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본인폰으로 인증 후 로그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0" name="직사각형 20"/>
          <p:cNvSpPr/>
          <p:nvPr/>
        </p:nvSpPr>
        <p:spPr>
          <a:xfrm>
            <a:off x="3619440" y="4274280"/>
            <a:ext cx="1409400" cy="5133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Login-email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인증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3" name="제목 1"/>
          <p:cNvSpPr/>
          <p:nvPr/>
        </p:nvSpPr>
        <p:spPr>
          <a:xfrm>
            <a:off x="5204160" y="803880"/>
            <a:ext cx="4467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인증번호입력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64" name="화살표: 오른쪽 8"/>
          <p:cNvSpPr/>
          <p:nvPr/>
        </p:nvSpPr>
        <p:spPr>
          <a:xfrm>
            <a:off x="6898680" y="3996000"/>
            <a:ext cx="308160" cy="257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ba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pic>
        <p:nvPicPr>
          <p:cNvPr id="265" name="그림 14" descr=""/>
          <p:cNvPicPr/>
          <p:nvPr/>
        </p:nvPicPr>
        <p:blipFill>
          <a:blip r:embed="rId1"/>
          <a:stretch/>
        </p:blipFill>
        <p:spPr>
          <a:xfrm>
            <a:off x="7569000" y="1825920"/>
            <a:ext cx="2903040" cy="4251240"/>
          </a:xfrm>
          <a:prstGeom prst="rect">
            <a:avLst/>
          </a:prstGeom>
          <a:ln w="0">
            <a:noFill/>
          </a:ln>
        </p:spPr>
      </p:pic>
      <p:pic>
        <p:nvPicPr>
          <p:cNvPr id="266" name="그림 16" descr=""/>
          <p:cNvPicPr/>
          <p:nvPr/>
        </p:nvPicPr>
        <p:blipFill>
          <a:blip r:embed="rId2"/>
          <a:srcRect l="0" t="0" r="13686" b="0"/>
          <a:stretch/>
        </p:blipFill>
        <p:spPr>
          <a:xfrm>
            <a:off x="1456560" y="2506680"/>
            <a:ext cx="5162760" cy="240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ADMIN-login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관리자페이지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915480" y="131580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관리자아디로 로그인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200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호출 확인 후 관리자페이지에서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DB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에 넣은 더미데이터 확인 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71" name="그림 7" descr=""/>
          <p:cNvPicPr/>
          <p:nvPr/>
        </p:nvPicPr>
        <p:blipFill>
          <a:blip r:embed="rId1"/>
          <a:srcRect l="17645" t="0" r="15150" b="0"/>
          <a:stretch/>
        </p:blipFill>
        <p:spPr>
          <a:xfrm>
            <a:off x="1054080" y="1833840"/>
            <a:ext cx="5290920" cy="4072320"/>
          </a:xfrm>
          <a:prstGeom prst="rect">
            <a:avLst/>
          </a:prstGeom>
          <a:ln w="0">
            <a:noFill/>
          </a:ln>
        </p:spPr>
      </p:pic>
      <p:pic>
        <p:nvPicPr>
          <p:cNvPr id="272" name="그림 13" descr=""/>
          <p:cNvPicPr/>
          <p:nvPr/>
        </p:nvPicPr>
        <p:blipFill>
          <a:blip r:embed="rId2"/>
          <a:stretch/>
        </p:blipFill>
        <p:spPr>
          <a:xfrm>
            <a:off x="6675480" y="1842840"/>
            <a:ext cx="4609080" cy="4063320"/>
          </a:xfrm>
          <a:prstGeom prst="rect">
            <a:avLst/>
          </a:prstGeom>
          <a:ln w="0">
            <a:noFill/>
          </a:ln>
        </p:spPr>
      </p:pic>
      <p:grpSp>
        <p:nvGrpSpPr>
          <p:cNvPr id="273" name="그룹 17"/>
          <p:cNvGrpSpPr/>
          <p:nvPr/>
        </p:nvGrpSpPr>
        <p:grpSpPr>
          <a:xfrm>
            <a:off x="8939880" y="3331800"/>
            <a:ext cx="2064240" cy="672120"/>
            <a:chOff x="8939880" y="3331800"/>
            <a:chExt cx="2064240" cy="672120"/>
          </a:xfrm>
        </p:grpSpPr>
        <p:pic>
          <p:nvPicPr>
            <p:cNvPr id="274" name="그림 15" descr=""/>
            <p:cNvPicPr/>
            <p:nvPr/>
          </p:nvPicPr>
          <p:blipFill>
            <a:blip r:embed="rId3"/>
            <a:stretch/>
          </p:blipFill>
          <p:spPr>
            <a:xfrm>
              <a:off x="8939880" y="3331800"/>
              <a:ext cx="2046600" cy="6721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5" name="직사각형 20"/>
            <p:cNvSpPr/>
            <p:nvPr/>
          </p:nvSpPr>
          <p:spPr>
            <a:xfrm>
              <a:off x="8957520" y="3331800"/>
              <a:ext cx="2046600" cy="672120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맑은 고딕"/>
              </a:endParaRPr>
            </a:p>
          </p:txBody>
        </p:sp>
      </p:grpSp>
      <p:sp>
        <p:nvSpPr>
          <p:cNvPr id="276" name="직사각형 19"/>
          <p:cNvSpPr/>
          <p:nvPr/>
        </p:nvSpPr>
        <p:spPr>
          <a:xfrm>
            <a:off x="1468080" y="2810520"/>
            <a:ext cx="1797120" cy="1488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77" name="TextBox 10"/>
          <p:cNvSpPr/>
          <p:nvPr/>
        </p:nvSpPr>
        <p:spPr>
          <a:xfrm>
            <a:off x="3387960" y="3061080"/>
            <a:ext cx="2237040" cy="272520"/>
          </a:xfrm>
          <a:prstGeom prst="rect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관리자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idrkfnsk10@naver.com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78" name="직사각형 21"/>
          <p:cNvSpPr/>
          <p:nvPr/>
        </p:nvSpPr>
        <p:spPr>
          <a:xfrm>
            <a:off x="5015520" y="4354920"/>
            <a:ext cx="1418760" cy="437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cxnSp>
        <p:nvCxnSpPr>
          <p:cNvPr id="279" name="연결선: 꺾임 23"/>
          <p:cNvCxnSpPr>
            <a:stCxn id="276" idx="3"/>
            <a:endCxn id="278" idx="1"/>
          </p:cNvCxnSpPr>
          <p:nvPr/>
        </p:nvCxnSpPr>
        <p:spPr>
          <a:xfrm>
            <a:off x="3265200" y="3555000"/>
            <a:ext cx="1750680" cy="101880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</p:cxnSp>
      <p:cxnSp>
        <p:nvCxnSpPr>
          <p:cNvPr id="280" name="연결선: 꺾임 25"/>
          <p:cNvCxnSpPr/>
          <p:nvPr/>
        </p:nvCxnSpPr>
        <p:spPr>
          <a:xfrm flipV="1">
            <a:off x="6434640" y="3667680"/>
            <a:ext cx="2505600" cy="835200"/>
          </a:xfrm>
          <a:prstGeom prst="bentConnector3">
            <a:avLst>
              <a:gd name="adj1" fmla="val 50007"/>
            </a:avLst>
          </a:prstGeom>
          <a:ln w="28575">
            <a:solidFill>
              <a:srgbClr val="c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React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7260120" y="2102400"/>
            <a:ext cx="383724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cmd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npm create vite@latest router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85" name="직사각형 13"/>
          <p:cNvSpPr/>
          <p:nvPr/>
        </p:nvSpPr>
        <p:spPr>
          <a:xfrm>
            <a:off x="1334520" y="4095000"/>
            <a:ext cx="3051360" cy="3074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86" name="TextBox 14"/>
          <p:cNvSpPr/>
          <p:nvPr/>
        </p:nvSpPr>
        <p:spPr>
          <a:xfrm>
            <a:off x="4349880" y="4109400"/>
            <a:ext cx="95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rgbClr val="f2f2f2"/>
                </a:solidFill>
                <a:latin typeface="맑은 고딕"/>
              </a:rPr>
              <a:t>삭제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287" name="그림 7" descr=""/>
          <p:cNvPicPr/>
          <p:nvPr/>
        </p:nvPicPr>
        <p:blipFill>
          <a:blip r:embed="rId1"/>
          <a:srcRect l="0" t="8405" r="0" b="12425"/>
          <a:stretch/>
        </p:blipFill>
        <p:spPr>
          <a:xfrm>
            <a:off x="1296000" y="2066400"/>
            <a:ext cx="4799520" cy="364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사각형: 둥근 모서리 5"/>
          <p:cNvSpPr/>
          <p:nvPr/>
        </p:nvSpPr>
        <p:spPr>
          <a:xfrm>
            <a:off x="966600" y="1602360"/>
            <a:ext cx="1051524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user-member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분리</a:t>
            </a:r>
            <a:r>
              <a:rPr b="0" lang="en-US" sz="3000" spc="-1" strike="noStrike">
                <a:solidFill>
                  <a:schemeClr val="dk1"/>
                </a:solidFill>
                <a:latin typeface="맑은 고딕"/>
              </a:rPr>
              <a:t>-passwordless</a:t>
            </a:r>
            <a:r>
              <a:rPr b="0" lang="ko-KR" sz="2500" spc="-1" strike="noStrike">
                <a:solidFill>
                  <a:schemeClr val="dk1"/>
                </a:solidFill>
                <a:latin typeface="맑은 고딕"/>
              </a:rPr>
              <a:t>적용</a:t>
            </a:r>
            <a:endParaRPr b="0" lang="en-US" sz="25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1123920" y="1833480"/>
            <a:ext cx="10229400" cy="31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Member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테이블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: 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아이디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비밀번호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라는 전통적인 열쇠를 선택한 사람들만을 위한 별도의 공간입니다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만약 이 둘을 합쳐버리면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비밀번호 없이 들어오는 소셜 로그인 사용자들의 데이터에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password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컬럼이 비어있게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(null)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되어 데이터 구조가 지저분해집니다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이걸 방지하려고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user/member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따로 설계했습니다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[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인증의 독립성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] "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로그인 수단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과 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사용자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를 분리하기 위해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User: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우리 서비스의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고객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'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그 자체입니다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(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누가 샀는지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누군지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 Member: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그 고객이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로그인하는 방법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'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(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아이디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비밀번호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이유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만약 나중에 카카오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구글 로그인을 붙인다면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Member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정보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비밀번호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 없는 사람도 우리 서비스의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는 될 수 있어야 합니다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즉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다양한 로그인 방식을 수용하기 위해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Member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를 따로 떼어놓은 것입니다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[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데이터 보안 계층화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] "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민감 정보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"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격리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테이블은 이름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이메일 등 서비스 곳곳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게시판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주문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에서 자주 조회됩니다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반면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Member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테이블에는 비밀번호 같은 치명적인 정보가 담깁니다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이유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보안 사고가 나더라도 서비스용 데이터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(User)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와 인증용 데이터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(Member)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를 분리해두면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해커가 고객 명부는 봐도 비밀번호까지는 털어가기 힘들게 층을 나눠놓은 것입니다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트러블슈팅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현재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가입 오류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의 기술적 원인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추측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지금 리액트에서 가입을 누르면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Member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정보만 들어오고 있는데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DB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설계상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테이블이 주인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(Parent)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이고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Member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 종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(Child)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으로 묶여 있다면 오류가 납니다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상황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: 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회원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(Member)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은 있는데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 회원이 연결될 고객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(User)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정보가 없다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!"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며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DB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 입력을 거부하는 상태일 수 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해결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: Member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가입 시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User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테이블에도 행을 하나 만들어줘서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 열쇠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(Member)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는 이 고객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(User)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의 것이다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라고 연결해줘야 합니다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“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초기 설계에서는 인증 수단을 분리했으나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단일 패스워드리스 구조에서는 과설계라 판단하여 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User </a:t>
            </a:r>
            <a:r>
              <a:rPr b="1" lang="ko-KR" sz="1200" spc="-1" strike="noStrike">
                <a:solidFill>
                  <a:schemeClr val="dk1"/>
                </a:solidFill>
                <a:latin typeface="맑은 고딕"/>
              </a:rPr>
              <a:t>단일 테이블로 리팩토링했습니다</a:t>
            </a:r>
            <a:r>
              <a:rPr b="1" lang="en-US" sz="1200" spc="-1" strike="noStrike">
                <a:solidFill>
                  <a:schemeClr val="dk1"/>
                </a:solidFill>
                <a:latin typeface="맑은 고딕"/>
              </a:rPr>
              <a:t>.”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사각형: 둥근 모서리 5"/>
          <p:cNvSpPr/>
          <p:nvPr/>
        </p:nvSpPr>
        <p:spPr>
          <a:xfrm>
            <a:off x="966600" y="1602360"/>
            <a:ext cx="1051524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user-users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분리</a:t>
            </a:r>
            <a:r>
              <a:rPr b="0" lang="en-US" sz="3000" spc="-1" strike="noStrike">
                <a:solidFill>
                  <a:schemeClr val="dk1"/>
                </a:solidFill>
                <a:latin typeface="맑은 고딕"/>
              </a:rPr>
              <a:t>-passwordless</a:t>
            </a:r>
            <a:r>
              <a:rPr b="0" lang="ko-KR" sz="2500" spc="-1" strike="noStrike">
                <a:solidFill>
                  <a:schemeClr val="dk1"/>
                </a:solidFill>
                <a:latin typeface="맑은 고딕"/>
              </a:rPr>
              <a:t>적용</a:t>
            </a:r>
            <a:endParaRPr b="0" lang="en-US" sz="25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93" name="TextBox 6"/>
          <p:cNvSpPr/>
          <p:nvPr/>
        </p:nvSpPr>
        <p:spPr>
          <a:xfrm>
            <a:off x="1247760" y="2406960"/>
            <a:ext cx="9953280" cy="30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1. DB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예약어 충돌 방지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MariaDB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나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MySQL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에서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는 시스템이 이미 쓰고 있는 예약어입니다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테이블 이름을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라고 지으면 쿼리를 날릴 때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DB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 혼동해서 에러가 날 수 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그래서 관례에 따라 복수형인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users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를 테이블 명으로 정했습니다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2.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자바 객체와 </a:t>
            </a: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DB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테이블의 역할 구분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자바 코드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(Entity)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에서는 한 명의 사용자 정보를 다루므로 단수형인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가 직관적이고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DB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는 여러 명의 데이터가 모인 집합이므로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users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라고 부르는 것이 데이터베이스 설계 표준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(Naming Convention)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에 더 적합하다고 판단했습니다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1" lang="en-US" sz="1000" spc="-1" strike="noStrike">
                <a:solidFill>
                  <a:schemeClr val="dk1"/>
                </a:solidFill>
                <a:latin typeface="맑은 고딕"/>
              </a:rPr>
              <a:t>3. Passwordless </a:t>
            </a:r>
            <a:r>
              <a:rPr b="1" lang="ko-KR" sz="1000" spc="-1" strike="noStrike">
                <a:solidFill>
                  <a:schemeClr val="dk1"/>
                </a:solidFill>
                <a:latin typeface="맑은 고딕"/>
              </a:rPr>
              <a:t>인증 구조의 확장성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비밀번호가 없는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Passwordless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방식입니다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단순히 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user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한 곳에 모든 걸 넣기보다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사용자 기본 정보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(users)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와 인증 상태 정보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(authenticator)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를 분리해서 설계했습니다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 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50000"/>
              </a:lnSpc>
            </a:pP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이렇게 하면 나중에 인증 방식이 추가되어도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생체 인증 등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) </a:t>
            </a:r>
            <a:r>
              <a:rPr b="0" lang="ko-KR" sz="1000" spc="-1" strike="noStrike">
                <a:solidFill>
                  <a:schemeClr val="dk1"/>
                </a:solidFill>
                <a:latin typeface="맑은 고딕"/>
              </a:rPr>
              <a:t>사용자 정보 테이블을 건드리지 않고 유연하게 확장할 수 있기 때문입니다</a:t>
            </a:r>
            <a:r>
              <a:rPr b="0" lang="en-US" sz="10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passwordless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296" name="TextBox 9"/>
          <p:cNvSpPr/>
          <p:nvPr/>
        </p:nvSpPr>
        <p:spPr>
          <a:xfrm>
            <a:off x="487080" y="7900560"/>
            <a:ext cx="9056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프론트엔드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(React)**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와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백엔드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(Spring Boot)**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를 연결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7" name="TextBox 10"/>
          <p:cNvSpPr/>
          <p:nvPr/>
        </p:nvSpPr>
        <p:spPr>
          <a:xfrm>
            <a:off x="5706360" y="2090160"/>
            <a:ext cx="564696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서비스 아이디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: 03a63f2df8c9435182bc504df9a89b7b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서버 키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: c41f590d66bd542b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내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PC IP : 192.168.200.97  (cmd ipconfig)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인증서버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IP : 192.168.200.96 (linux)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공인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IP : (whatismyip.com) : 1.220.101.170   (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네이버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: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내아이피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98" name="직사각형 13"/>
          <p:cNvSpPr/>
          <p:nvPr/>
        </p:nvSpPr>
        <p:spPr>
          <a:xfrm>
            <a:off x="1334520" y="4095000"/>
            <a:ext cx="3051360" cy="3074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299" name="TextBox 14"/>
          <p:cNvSpPr/>
          <p:nvPr/>
        </p:nvSpPr>
        <p:spPr>
          <a:xfrm>
            <a:off x="4349880" y="4109400"/>
            <a:ext cx="95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ko-KR" sz="1400" spc="-1" strike="noStrike">
                <a:solidFill>
                  <a:srgbClr val="f2f2f2"/>
                </a:solidFill>
                <a:latin typeface="맑은 고딕"/>
              </a:rPr>
              <a:t>삭제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300" name="그림 3" descr=""/>
          <p:cNvPicPr/>
          <p:nvPr/>
        </p:nvPicPr>
        <p:blipFill>
          <a:blip r:embed="rId1"/>
          <a:srcRect l="0" t="0" r="0" b="13742"/>
          <a:stretch/>
        </p:blipFill>
        <p:spPr>
          <a:xfrm>
            <a:off x="1094400" y="2018160"/>
            <a:ext cx="4400280" cy="3746160"/>
          </a:xfrm>
          <a:prstGeom prst="rect">
            <a:avLst/>
          </a:prstGeom>
          <a:ln w="0">
            <a:noFill/>
          </a:ln>
        </p:spPr>
      </p:pic>
      <p:pic>
        <p:nvPicPr>
          <p:cNvPr id="301" name="그림 6" descr=""/>
          <p:cNvPicPr/>
          <p:nvPr/>
        </p:nvPicPr>
        <p:blipFill>
          <a:blip r:embed="rId2"/>
          <a:srcRect l="0" t="18025" r="0" b="0"/>
          <a:stretch/>
        </p:blipFill>
        <p:spPr>
          <a:xfrm>
            <a:off x="5735160" y="3659040"/>
            <a:ext cx="4756680" cy="220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board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4" name="제목 1"/>
          <p:cNvSpPr/>
          <p:nvPr/>
        </p:nvSpPr>
        <p:spPr>
          <a:xfrm>
            <a:off x="3491280" y="2462760"/>
            <a:ext cx="4467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게시판은 사용자와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1:N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관계이며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,</a:t>
            </a:r>
            <a:br>
              <a:rPr sz="1400"/>
            </a:b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작성자 정보를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user_id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로 참조하도록 설계했습니다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05" name="제목 1"/>
          <p:cNvSpPr/>
          <p:nvPr/>
        </p:nvSpPr>
        <p:spPr>
          <a:xfrm>
            <a:off x="3491280" y="3192120"/>
            <a:ext cx="446724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1" lang="ko-KR" sz="1400" spc="-1" strike="noStrike">
                <a:solidFill>
                  <a:schemeClr val="dk1"/>
                </a:solidFill>
                <a:latin typeface="맑은 고딕"/>
              </a:rPr>
              <a:t>댓글의 삭제 수정 기능을 제거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말에 책임을 지는 시스템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"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은 사용자들에게 신중함을 요구하고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결과적으로 커뮤니티의 질을 높여주죠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.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특히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KIA, Lotte, Samsung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같은 열정적인 팬들이 모이는 곳에서 댓글 수정 불가 정책은 불필요한 논쟁을 방지하는 아주 영리한 전략입니다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//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기존 필드 유지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@Column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914400">
              <a:lnSpc>
                <a:spcPct val="9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private Long parentId; // null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이면 원글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, 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값이 있으면 해당 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id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의 댓글</a:t>
            </a:r>
            <a:r>
              <a:rPr b="0" lang="en-US" sz="1400" spc="-1" strike="noStrike">
                <a:solidFill>
                  <a:schemeClr val="dk1"/>
                </a:solidFill>
                <a:latin typeface="맑은 고딕"/>
              </a:rPr>
              <a:t>/</a:t>
            </a:r>
            <a:r>
              <a:rPr b="0" lang="ko-KR" sz="1400" spc="-1" strike="noStrike">
                <a:solidFill>
                  <a:schemeClr val="dk1"/>
                </a:solidFill>
                <a:latin typeface="맑은 고딕"/>
              </a:rPr>
              <a:t>대댓글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team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08" name="제목 1"/>
          <p:cNvSpPr/>
          <p:nvPr/>
        </p:nvSpPr>
        <p:spPr>
          <a:xfrm>
            <a:off x="3543120" y="3719160"/>
            <a:ext cx="4467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팀은 고정된 코드 도메인이라</a:t>
            </a:r>
            <a:br>
              <a:rPr sz="1200"/>
            </a:b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별도 테이블 대신 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CHAR(2)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코드로 관리했고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,</a:t>
            </a:r>
            <a:br>
              <a:rPr sz="1200"/>
            </a:b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CHECK </a:t>
            </a: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제약으로 무결성을 확보했습니다</a:t>
            </a:r>
            <a:r>
              <a:rPr b="0" lang="en-US" sz="1200" spc="-1" strike="noStrike">
                <a:solidFill>
                  <a:schemeClr val="dk1"/>
                </a:solidFill>
                <a:latin typeface="맑은 고딕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admin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11" name="제목 1"/>
          <p:cNvSpPr/>
          <p:nvPr/>
        </p:nvSpPr>
        <p:spPr>
          <a:xfrm>
            <a:off x="8630280" y="2462760"/>
            <a:ext cx="2136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관리자모드 로그인 상품등록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312" name="그림 6" descr=""/>
          <p:cNvPicPr/>
          <p:nvPr/>
        </p:nvPicPr>
        <p:blipFill>
          <a:blip r:embed="rId1"/>
          <a:srcRect l="26087" t="8731" r="25842" b="0"/>
          <a:stretch/>
        </p:blipFill>
        <p:spPr>
          <a:xfrm>
            <a:off x="1425240" y="1798920"/>
            <a:ext cx="4705200" cy="4305240"/>
          </a:xfrm>
          <a:prstGeom prst="rect">
            <a:avLst/>
          </a:prstGeom>
          <a:ln w="0">
            <a:noFill/>
          </a:ln>
        </p:spPr>
      </p:pic>
      <p:pic>
        <p:nvPicPr>
          <p:cNvPr id="313" name="그림 8" descr=""/>
          <p:cNvPicPr/>
          <p:nvPr/>
        </p:nvPicPr>
        <p:blipFill>
          <a:blip r:embed="rId2"/>
          <a:stretch/>
        </p:blipFill>
        <p:spPr>
          <a:xfrm>
            <a:off x="6580080" y="4446000"/>
            <a:ext cx="4495320" cy="161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admin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16" name="제목 1"/>
          <p:cNvSpPr/>
          <p:nvPr/>
        </p:nvSpPr>
        <p:spPr>
          <a:xfrm>
            <a:off x="8630280" y="2462760"/>
            <a:ext cx="2136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ko-KR" sz="1200" spc="-1" strike="noStrike">
                <a:solidFill>
                  <a:schemeClr val="dk1"/>
                </a:solidFill>
                <a:latin typeface="맑은 고딕"/>
              </a:rPr>
              <a:t>관리자모드 로그인 상품등록</a:t>
            </a:r>
            <a:endParaRPr b="0" lang="en-US" sz="1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317" name="그림 6" descr=""/>
          <p:cNvPicPr/>
          <p:nvPr/>
        </p:nvPicPr>
        <p:blipFill>
          <a:blip r:embed="rId1"/>
          <a:stretch/>
        </p:blipFill>
        <p:spPr>
          <a:xfrm>
            <a:off x="0" y="491760"/>
            <a:ext cx="12191760" cy="587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사각형: 둥근 모서리 5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UI/UX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와이어프레임 또는 스크린샷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sp>
        <p:nvSpPr>
          <p:cNvPr id="320" name="제목 1"/>
          <p:cNvSpPr/>
          <p:nvPr/>
        </p:nvSpPr>
        <p:spPr>
          <a:xfrm>
            <a:off x="3543120" y="3719160"/>
            <a:ext cx="446724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ko-KR" sz="3000" spc="-1" strike="noStrike">
                <a:solidFill>
                  <a:schemeClr val="dk1"/>
                </a:solidFill>
                <a:latin typeface="맑은 고딕"/>
              </a:rPr>
              <a:t>작업하면서 추가 될 예정</a:t>
            </a:r>
            <a:endParaRPr b="0" lang="en-US" sz="30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사각형: 둥근 모서리 1"/>
          <p:cNvSpPr/>
          <p:nvPr/>
        </p:nvSpPr>
        <p:spPr>
          <a:xfrm>
            <a:off x="724320" y="1602360"/>
            <a:ext cx="10800360" cy="4698360"/>
          </a:xfrm>
          <a:prstGeom prst="roundRect">
            <a:avLst>
              <a:gd name="adj" fmla="val 374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맑은 고딕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맑은 고딕"/>
              </a:rPr>
              <a:t>Rander </a:t>
            </a:r>
            <a:r>
              <a:rPr b="0" lang="ko-KR" sz="4400" spc="-1" strike="noStrike">
                <a:solidFill>
                  <a:schemeClr val="dk1"/>
                </a:solidFill>
                <a:latin typeface="맑은 고딕"/>
              </a:rPr>
              <a:t>배포 </a:t>
            </a:r>
            <a:endParaRPr b="0" lang="en-US" sz="4400" spc="-1" strike="noStrike">
              <a:solidFill>
                <a:schemeClr val="dk1"/>
              </a:solidFill>
              <a:latin typeface="맑은 고딕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1"/>
          <a:stretch/>
        </p:blipFill>
        <p:spPr>
          <a:xfrm>
            <a:off x="1008000" y="1769400"/>
            <a:ext cx="7966080" cy="43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 pitchFamily="0" charset="1"/>
        <a:ea typeface=""/>
        <a:cs typeface=""/>
      </a:majorFont>
      <a:minorFont>
        <a:latin typeface="맑은 고딕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5516</TotalTime>
  <Application>PPT_Plus/1.0.0.0$Windows_X86_64 LibreOffice_project/</Application>
  <AppVersion>15.0000</AppVersion>
  <Words>3622</Words>
  <Paragraphs>476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2025-12-15T08:26:50Z</dcterms:created>
  <dc:creator>user</dc:creator>
  <dc:description/>
  <dc:language>ko-KR</dc:language>
  <cp:lastModifiedBy/>
  <dcterms:modified xsi:type="dcterms:W3CDTF">2026-05-11T00:19:44Z</dcterms:modified>
  <cp:revision>317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와이드스크린</vt:lpwstr>
  </property>
  <property fmtid="{D5CDD505-2E9C-101B-9397-08002B2CF9AE}" pid="4" name="Slides">
    <vt:i4>38</vt:i4>
  </property>
</Properties>
</file>