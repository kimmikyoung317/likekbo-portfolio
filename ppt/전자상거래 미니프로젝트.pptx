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80" r:id="rId3"/>
    <p:sldId id="309" r:id="rId4"/>
    <p:sldId id="285" r:id="rId5"/>
    <p:sldId id="287" r:id="rId6"/>
    <p:sldId id="271" r:id="rId7"/>
    <p:sldId id="298" r:id="rId8"/>
    <p:sldId id="299" r:id="rId9"/>
    <p:sldId id="315" r:id="rId10"/>
    <p:sldId id="331" r:id="rId11"/>
    <p:sldId id="320" r:id="rId12"/>
    <p:sldId id="321" r:id="rId13"/>
    <p:sldId id="324" r:id="rId14"/>
    <p:sldId id="293" r:id="rId15"/>
    <p:sldId id="314" r:id="rId16"/>
    <p:sldId id="313" r:id="rId17"/>
    <p:sldId id="300" r:id="rId18"/>
    <p:sldId id="301" r:id="rId19"/>
    <p:sldId id="302" r:id="rId20"/>
    <p:sldId id="304" r:id="rId21"/>
    <p:sldId id="317" r:id="rId22"/>
    <p:sldId id="326" r:id="rId23"/>
    <p:sldId id="305" r:id="rId24"/>
    <p:sldId id="306" r:id="rId25"/>
    <p:sldId id="307" r:id="rId26"/>
    <p:sldId id="308" r:id="rId27"/>
    <p:sldId id="329" r:id="rId28"/>
    <p:sldId id="333" r:id="rId29"/>
    <p:sldId id="330" r:id="rId30"/>
    <p:sldId id="318" r:id="rId31"/>
    <p:sldId id="325" r:id="rId32"/>
    <p:sldId id="327" r:id="rId33"/>
    <p:sldId id="319" r:id="rId34"/>
    <p:sldId id="322" r:id="rId35"/>
    <p:sldId id="323" r:id="rId36"/>
    <p:sldId id="332" r:id="rId37"/>
    <p:sldId id="334" r:id="rId38"/>
    <p:sldId id="295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BABA"/>
    <a:srgbClr val="F2F2F2"/>
    <a:srgbClr val="666666"/>
    <a:srgbClr val="379AE3"/>
    <a:srgbClr val="75DC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4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1AB2BF-EA19-465B-B65A-0E888FEC835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AB2413-1E76-44B3-8435-DF94A7BB39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5004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5714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4478F-5B89-DA63-6186-E2E652B2F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ADBC1B-3780-23FD-3B88-1D7474BDC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0D1B94-C47D-48A2-0001-E91C9F4550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FD563-5458-4855-AEB1-45F441041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954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05BBF-303B-440C-529A-C3A3491B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DCA486-A56C-1994-14F5-B011BA272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0AEDE2-AA9C-6D5C-1638-3079B2273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6DE514-9235-663A-D345-4273FE7A8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802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635D5-9499-D906-36F8-337FEB6BC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9F4B2-5919-0B24-F508-8C6536EB1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4B8A81-0870-0838-35C8-E92BCDBDE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65AB5-3646-E093-88D7-20C249D119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756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FB0B-EDEA-8DF5-63D2-1F064BF9D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A5AC7C-881B-4739-23BA-70DF7BE4E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D70743-EB03-0449-B47F-0D012EE1B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AD580-2CF2-52D8-308B-D4A8F7D115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7177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162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C4AE3-A16C-97F4-291E-2D4E0C50D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04C054-60DD-6315-19A4-F10A89F88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1D2E12-05B2-65B1-D57B-DFB7A1BDB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EE091-344A-4E2F-6ADD-3ADCF0AFA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6496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E0B63-61A8-E2AE-2906-256B587ED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B0E12-084B-F145-EB85-745522236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50B6E6-6DDF-8174-7818-5B3E4AAE3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3D050-8348-2F61-8884-A2357C015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5470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2EC10-4B31-5BC2-6257-4DB330BEB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4B676B-4C92-6B57-0DF5-9643CC5E3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A204EB-C365-E98F-3DE1-147F089DB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22CBCE-E3B8-6BDD-8C67-AC70F19C1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4284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5622B-09AF-ACB9-E2EE-BF6B7CFCA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D947EC-ECA8-3ACC-CB97-FE80D0017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6817E-6081-0725-656C-D641A4795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FD630D-1F3C-6122-109D-BD64C54EE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637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A7D65-F22F-5FDF-6674-1840772CC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F183B-55B7-F936-7AFE-9815B061E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6E14F-E9DF-1C5A-7629-57E3ADC16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4C1FE-EEF4-356B-FFC9-6CAE9449E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904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040C3-2AB3-0046-1477-34D9E875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F49FD9-3330-BBFC-99C6-0F5FBE9A1D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CA768B-C95D-F1E5-9502-AE5A2F153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6D817-5916-C434-B12F-333661322F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5189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8088-D5BC-7DCF-C9AB-69133761A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6B593-3E9C-1CC9-ACAE-280E4A155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173313-7D7F-2FF6-454C-988FD47C5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D0F042-CE36-3159-5BD2-90F86C7003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940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0001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92144-B20B-2A4A-0A6B-39DA4F6B9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8B40CB-4B98-D897-066D-4096DE4BE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CCFDF9-756A-D415-1075-6525A8F23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70FE0A-4F7D-8422-4936-F9EAD0A88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65576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EB52-0876-341B-C764-C2DAE2ED4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4647C-50B7-965C-75C6-F8CD12AEB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0D3A43-08EA-A9C3-2D37-2D8DF100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53C9C0-C1BE-03CB-438D-9D100BF4A6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24822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0CF97-B8DA-5EC9-0DD9-1740B3DC2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81DAFD-C02D-CA6B-CC6B-D3DD766B4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F161F8-7A7E-16A0-BEE5-E4537051D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04021D-9977-6460-BC90-64B57CF4B4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298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2D30B-30F3-FF6B-6B78-6C34324C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D3CCE5-859C-6D29-E45A-C8C9D3F89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F451FD-A2DC-3DDF-F7F3-202767472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207DA9-D638-7A4D-5256-4DDE21DB5F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968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7AED1-B79E-D1AF-5358-6B5180F2C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0AC155-C2D7-A549-B7C1-88D34A73F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592F3-D333-1940-0BF6-A898ECB25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739E4-C502-AD7B-537F-777806A54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278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0EC5B-4F67-22A2-06F2-0AE21134C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546B79-6D1E-C1A2-9625-3BD6C85EF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C8529-469B-01C4-615C-82F5A6D8C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628EF-EC71-E10B-1C6B-83FA1B25D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372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4B476-F917-2E9D-8587-306E24F6E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21D9E-CDD8-CE5F-0762-278FDED0F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8ED19E-97B0-CF8A-CB65-4C95DBEF9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893FC-38E7-ED29-B6D7-8E8E90948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AB2413-1E76-44B3-8435-DF94A7BB3944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191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0D2AD-08F8-C1EB-487A-7165C2A63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0F8E930-D90B-DE0A-0890-99E52C5FD5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9BF381-9179-9CCA-C8C5-7A16CA7B9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A0608-CF54-89AE-0F72-7C5BA8DD7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063C7B-CBC6-2F75-A1EA-D95BA6207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3152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DA6164-8EA2-8C87-E70B-9B6309B1F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054AD7-D3EE-9CA5-16A5-2BBD8D43A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6756D3-2F6E-D083-25EA-089FBBC1F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963785-58E5-726F-9D8E-7B45DC6C4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A704C7-D6AD-2A7D-2A9C-F54E4B92E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255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BBA0-F267-8ADC-888F-C7E2849B9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3CA26A-1067-C1BE-6FF7-58D9EEBEF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AECC67-1F3C-1153-27B5-E35967F37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AE2E66-215F-EF7A-B871-4BAB2A377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68BC57-EB75-2BFF-9D4D-6F9731DBC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108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3E310E-DFFA-6A0D-B158-3A09B91DA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6FB03B-6D41-425B-344D-A82B0BB58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260DB4-C222-F69A-4ABD-BDC7B5E49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689E08-01EA-E241-D0DF-51B89E71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F55ED4-95C8-11F8-96BB-28525FC1A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DC8384-6DC0-28EB-003A-E9316D8D3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72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8FC62-D2CF-D021-34E7-9A6433D6D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1B2201-69AA-0FE6-508F-6F1D5564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73C19C-C9B4-F465-3864-996372B80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829840-4BA7-19C3-9173-AD90E0E98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E0033C0-1B30-68AF-C332-68F3C6086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9CB64C-AB96-6ECD-0DE6-042692B82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334041E-1E26-44A9-B80E-2609F3098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59C304C-D13B-DFA3-CFB4-B9EC01B7A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7784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A3707-7912-F83D-6A29-53AC3D6A6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FD3A1C4-9F40-0841-404E-63425EC36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B3E72F-756A-0820-FD0F-49D9EF52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02E9D0-A8E4-FEF1-D5BD-C31A3890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506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7B9CCB0-B594-6FFD-BB7F-F3B4FEBBF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765D30B-C65A-2ECA-86DA-41ED12D8E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AB143C-1FE1-4D8C-2B91-77FCF95E0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900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BF47-E8D1-4130-4212-364798556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D1DD85-44F8-C0E8-27E4-392AEF0EA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0DCBA3-3ED4-7DEE-1FDB-835EB57DC3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DCC2AC-E914-35B7-FE2C-58296965B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74F04-C623-68E1-9676-09AC83DCA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4DC704-3C23-FA4A-AA77-85A42F00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1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8CE01E-3471-0AB0-DF5F-DDC3301A8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7DB0F3-4D56-7AA1-F79D-28BB73082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1E9D74-3072-47EC-B459-5DF1464B4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5032FA-53F5-E7FF-46BB-0D314CA7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3A91AE-9121-87E1-A06F-2B42740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46DCC7-7585-280B-19DA-BF4E5807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21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9D814-D5E6-C490-CCFC-A819F5A7C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4D3BA1-4DC4-ABC7-6C0E-737A4B8F1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CD7521-73DE-639B-D3C8-E4864C8F0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06455D-6345-8A70-7BBB-B7FAB21CB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B704FF-5B35-F13C-2B95-33B3D1530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017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A73EDA8-74B5-2B53-1C95-044D58108B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6ADB45-5856-5474-4E19-D611EF9B4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20A6C2-9C31-2B26-784A-949482B16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33540C-F37F-AC50-36A1-17605845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8BC825-CBBA-BFFC-14D2-C4C9E4708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80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5B8DE9-6E1C-1808-F870-99005678A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C5E77C-0F50-7980-2763-A1043CCD7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207-B7F4-C41E-C1BF-5088B6E5C9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7ABA4D-3FED-4F23-8BAF-A1EE3E458BEE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E38FC6-4F8B-C833-ECFC-B5AE3B2381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F191D7-36E3-FA41-6785-B39A7A3AEC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12AFFE-11EA-48D1-9768-47198BF3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663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mailto:rkfnsk10@naver.com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15346-4E94-D1E8-39E5-0ED190CF8D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전자상거래 미니프로젝트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AC1DED-7920-0E0F-6042-7582B32313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김미경</a:t>
            </a:r>
          </a:p>
        </p:txBody>
      </p:sp>
    </p:spTree>
    <p:extLst>
      <p:ext uri="{BB962C8B-B14F-4D97-AF65-F5344CB8AC3E}">
        <p14:creationId xmlns:p14="http://schemas.microsoft.com/office/powerpoint/2010/main" val="3043768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97A78-B374-3D07-6458-C5E1AAAA8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B0B6BA7-C07E-F37D-15B8-3031A4D3625A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F825D50-883E-6751-376D-C82B11BE8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전자상거래 프로젝트 컨셉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03E60E-19E4-E982-DEE2-C63F0C295EFB}"/>
              </a:ext>
            </a:extLst>
          </p:cNvPr>
          <p:cNvSpPr txBox="1"/>
          <p:nvPr/>
        </p:nvSpPr>
        <p:spPr>
          <a:xfrm>
            <a:off x="1303814" y="3341422"/>
            <a:ext cx="8044543" cy="19956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/>
              <a:t>특정 팀에 국한된 팬몰이 아닌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확장 가능한 구조의 </a:t>
            </a:r>
            <a:r>
              <a:rPr lang="ko-KR" altLang="en-US" sz="1200" b="1"/>
              <a:t>전자상거래 시스템을 목표</a:t>
            </a:r>
            <a:r>
              <a:rPr lang="ko-KR" altLang="en-US" sz="1200"/>
              <a:t>로 하였으며</a:t>
            </a:r>
            <a:r>
              <a:rPr lang="en-US" altLang="ko-KR" sz="1200"/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미니프로젝트 범위에서는 상품 옵션에 따른 복잡성을 제외하고 </a:t>
            </a:r>
            <a:endParaRPr lang="en-US" altLang="ko-KR" sz="1200"/>
          </a:p>
          <a:p>
            <a:pPr>
              <a:lnSpc>
                <a:spcPct val="150000"/>
              </a:lnSpc>
            </a:pPr>
            <a:r>
              <a:rPr lang="ko-KR" altLang="en-US" sz="1200" b="1"/>
              <a:t>주문</a:t>
            </a:r>
            <a:r>
              <a:rPr lang="en-US" altLang="ko-KR" sz="1200" b="1"/>
              <a:t>·</a:t>
            </a:r>
            <a:r>
              <a:rPr lang="ko-KR" altLang="en-US" sz="1200" b="1"/>
              <a:t>재고</a:t>
            </a:r>
            <a:r>
              <a:rPr lang="en-US" altLang="ko-KR" sz="1200" b="1"/>
              <a:t>·</a:t>
            </a:r>
            <a:r>
              <a:rPr lang="ko-KR" altLang="en-US" sz="1200" b="1"/>
              <a:t>트랜잭션 핵심 로직</a:t>
            </a:r>
            <a:r>
              <a:rPr lang="ko-KR" altLang="en-US" sz="1200"/>
              <a:t>에 집중하기 위해 </a:t>
            </a:r>
            <a:endParaRPr lang="en-US" altLang="ko-KR" sz="1200"/>
          </a:p>
          <a:p>
            <a:pPr>
              <a:lnSpc>
                <a:spcPct val="150000"/>
              </a:lnSpc>
            </a:pPr>
            <a:r>
              <a:rPr lang="ko-KR" altLang="en-US" sz="1200" b="1"/>
              <a:t>단일 </a:t>
            </a:r>
            <a:r>
              <a:rPr lang="en-US" altLang="ko-KR" sz="1200" b="1"/>
              <a:t>SKU </a:t>
            </a:r>
            <a:r>
              <a:rPr lang="ko-KR" altLang="en-US" sz="1200" b="1"/>
              <a:t>기준</a:t>
            </a:r>
            <a:r>
              <a:rPr lang="ko-KR" altLang="en-US" sz="1200"/>
              <a:t>으로 </a:t>
            </a:r>
            <a:r>
              <a:rPr lang="ko-KR" altLang="en-US" sz="1200" b="1"/>
              <a:t>단순화</a:t>
            </a:r>
            <a:r>
              <a:rPr lang="ko-KR" altLang="en-US" sz="1200"/>
              <a:t>했습니다</a:t>
            </a:r>
            <a:r>
              <a:rPr lang="en-US" altLang="ko-KR" sz="1200"/>
              <a:t>.</a:t>
            </a:r>
            <a:endParaRPr lang="ko-KR" altLang="en-US" sz="1200"/>
          </a:p>
          <a:p>
            <a:pPr>
              <a:lnSpc>
                <a:spcPct val="150000"/>
              </a:lnSpc>
            </a:pPr>
            <a:r>
              <a:rPr lang="ko-KR" altLang="en-US" sz="1200"/>
              <a:t>이를 통해 실제 서비스 환경에서도</a:t>
            </a:r>
            <a:br>
              <a:rPr lang="ko-KR" altLang="en-US" sz="1200"/>
            </a:br>
            <a:r>
              <a:rPr lang="ko-KR" altLang="en-US" sz="1200" b="1"/>
              <a:t>팀 확장이 가능하도록 구조적 유연성을 고려해 설계</a:t>
            </a:r>
            <a:r>
              <a:rPr lang="ko-KR" altLang="en-US" sz="1200"/>
              <a:t>하였습니다</a:t>
            </a:r>
            <a:r>
              <a:rPr lang="en-US" altLang="ko-KR" sz="120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310F3A-BB0F-9C99-9A15-686845D5BE43}"/>
              </a:ext>
            </a:extLst>
          </p:cNvPr>
          <p:cNvSpPr txBox="1"/>
          <p:nvPr/>
        </p:nvSpPr>
        <p:spPr>
          <a:xfrm>
            <a:off x="1303813" y="2282543"/>
            <a:ext cx="8044543" cy="7078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2000" b="1"/>
              <a:t>본 프로젝트는 </a:t>
            </a:r>
            <a:r>
              <a:rPr lang="en-US" altLang="ko-KR" sz="2000" b="1"/>
              <a:t>KBO </a:t>
            </a:r>
            <a:r>
              <a:rPr lang="ko-KR" altLang="en-US" sz="2000" b="1"/>
              <a:t>전 구단 팬을 대상으로 한</a:t>
            </a:r>
            <a:br>
              <a:rPr lang="ko-KR" altLang="en-US" sz="2000" b="1"/>
            </a:br>
            <a:r>
              <a:rPr lang="ko-KR" altLang="en-US" sz="2000" b="1"/>
              <a:t>야구 굿즈 판매 전자상거래 서비스이다</a:t>
            </a:r>
            <a:r>
              <a:rPr lang="en-US" altLang="ko-KR" sz="2000" b="1"/>
              <a:t>.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2061205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E8CD3-6D72-0A04-EAA5-C45F5571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967CE5C-C896-52B0-749A-A3200B2F733E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7FA9361-A613-A204-5E7D-8FFC9A6B4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기술스택설명</a:t>
            </a:r>
            <a:r>
              <a:rPr lang="en-US" altLang="ko-KR"/>
              <a:t>(</a:t>
            </a:r>
            <a:r>
              <a:rPr lang="ko-KR" altLang="en-US"/>
              <a:t>삭제예정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6392E-8AC6-F6E2-E9C2-57B6D25AACFB}"/>
              </a:ext>
            </a:extLst>
          </p:cNvPr>
          <p:cNvSpPr txBox="1"/>
          <p:nvPr/>
        </p:nvSpPr>
        <p:spPr>
          <a:xfrm>
            <a:off x="1303811" y="2313250"/>
            <a:ext cx="8044543" cy="1015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1200" b="1"/>
              <a:t>예시</a:t>
            </a:r>
            <a:r>
              <a:rPr lang="en-US" altLang="ko-KR" sz="1200" b="1"/>
              <a:t>1.</a:t>
            </a:r>
          </a:p>
          <a:p>
            <a:r>
              <a:rPr lang="en-US" altLang="ko-KR" sz="1200"/>
              <a:t>React</a:t>
            </a:r>
            <a:r>
              <a:rPr lang="ko-KR" altLang="en-US" sz="1200"/>
              <a:t>와 </a:t>
            </a:r>
            <a:r>
              <a:rPr lang="en-US" altLang="ko-KR" sz="1200"/>
              <a:t>Spring Boot</a:t>
            </a:r>
            <a:r>
              <a:rPr lang="ko-KR" altLang="en-US" sz="1200"/>
              <a:t>를 </a:t>
            </a:r>
            <a:r>
              <a:rPr lang="en-US" altLang="ko-KR" sz="1200"/>
              <a:t>API </a:t>
            </a:r>
            <a:r>
              <a:rPr lang="ko-KR" altLang="en-US" sz="1200"/>
              <a:t>방식으로 연동한 전자상거래 프로젝트입니다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백엔드는 </a:t>
            </a:r>
            <a:r>
              <a:rPr lang="en-US" altLang="ko-KR" sz="1200"/>
              <a:t>Controller, Service, Repository </a:t>
            </a:r>
            <a:r>
              <a:rPr lang="ko-KR" altLang="en-US" sz="1200"/>
              <a:t>계층으로 분리했고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en-US" altLang="ko-KR" sz="1200"/>
              <a:t>JWT </a:t>
            </a:r>
            <a:r>
              <a:rPr lang="ko-KR" altLang="en-US" sz="1200"/>
              <a:t>기반 인증과 </a:t>
            </a:r>
            <a:r>
              <a:rPr lang="en-US" altLang="ko-KR" sz="1200"/>
              <a:t>ROLE_ADMIN </a:t>
            </a:r>
            <a:r>
              <a:rPr lang="ko-KR" altLang="en-US" sz="1200"/>
              <a:t>권한 체크로 보안을 구현했습니다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또한 공통 예외 처리와 </a:t>
            </a:r>
            <a:r>
              <a:rPr lang="en-US" altLang="ko-KR" sz="1200"/>
              <a:t>.gitignore </a:t>
            </a:r>
            <a:r>
              <a:rPr lang="ko-KR" altLang="en-US" sz="1200"/>
              <a:t>설정을 통해 실무 환경을 고려한 구조로 설계했습니다</a:t>
            </a:r>
            <a:r>
              <a:rPr lang="en-US" altLang="ko-KR" sz="12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DE7CC8-BD8B-C954-DA45-4CB3933358DC}"/>
              </a:ext>
            </a:extLst>
          </p:cNvPr>
          <p:cNvSpPr txBox="1"/>
          <p:nvPr/>
        </p:nvSpPr>
        <p:spPr>
          <a:xfrm>
            <a:off x="1303812" y="3716915"/>
            <a:ext cx="8044543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1200" b="1"/>
              <a:t>예시</a:t>
            </a:r>
            <a:r>
              <a:rPr lang="en-US" altLang="ko-KR" sz="1200" b="1"/>
              <a:t>2.</a:t>
            </a:r>
            <a:r>
              <a:rPr lang="ko-KR" altLang="en-US" sz="1200" b="1"/>
              <a:t> </a:t>
            </a:r>
            <a:endParaRPr lang="en-US" altLang="ko-KR" sz="1200" b="1"/>
          </a:p>
          <a:p>
            <a:r>
              <a:rPr lang="ko-KR" altLang="en-US" sz="1200"/>
              <a:t>프론트는 </a:t>
            </a:r>
            <a:r>
              <a:rPr lang="en-US" altLang="ko-KR" sz="1200"/>
              <a:t>React, </a:t>
            </a:r>
            <a:r>
              <a:rPr lang="ko-KR" altLang="en-US" sz="1200"/>
              <a:t>백엔드는 </a:t>
            </a:r>
            <a:r>
              <a:rPr lang="en-US" altLang="ko-KR" sz="1200"/>
              <a:t>Spring Boot</a:t>
            </a:r>
            <a:r>
              <a:rPr lang="ko-KR" altLang="en-US" sz="1200"/>
              <a:t>로 나눠서 만들었고 로그인은 </a:t>
            </a:r>
            <a:r>
              <a:rPr lang="en-US" altLang="ko-KR" sz="1200"/>
              <a:t>JWT</a:t>
            </a:r>
            <a:r>
              <a:rPr lang="ko-KR" altLang="en-US" sz="1200"/>
              <a:t>로 처리했습니다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관리자 권한을 따로 나눴고</a:t>
            </a:r>
            <a:r>
              <a:rPr lang="en-US" altLang="ko-KR" sz="1200"/>
              <a:t>, </a:t>
            </a:r>
            <a:r>
              <a:rPr lang="ko-KR" altLang="en-US" sz="1200"/>
              <a:t>에러 처리와 보안 설정도 적용했습니다</a:t>
            </a:r>
            <a:r>
              <a:rPr lang="en-US" altLang="ko-KR" sz="120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4F278-6202-4563-69E9-A36BD8F73B0C}"/>
              </a:ext>
            </a:extLst>
          </p:cNvPr>
          <p:cNvSpPr txBox="1"/>
          <p:nvPr/>
        </p:nvSpPr>
        <p:spPr>
          <a:xfrm>
            <a:off x="1303811" y="4747274"/>
            <a:ext cx="9920780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1200" b="1"/>
              <a:t>예시</a:t>
            </a:r>
            <a:r>
              <a:rPr lang="en-US" altLang="ko-KR" sz="1200" b="1"/>
              <a:t>3.</a:t>
            </a:r>
            <a:r>
              <a:rPr lang="ko-KR" altLang="en-US" sz="1200" b="1"/>
              <a:t> </a:t>
            </a:r>
            <a:endParaRPr lang="en-US" altLang="ko-KR" sz="1200" b="1"/>
          </a:p>
          <a:p>
            <a:r>
              <a:rPr lang="en-US" altLang="ko-KR" sz="1200"/>
              <a:t>React</a:t>
            </a:r>
            <a:r>
              <a:rPr lang="ko-KR" altLang="en-US" sz="1200"/>
              <a:t>와 </a:t>
            </a:r>
            <a:r>
              <a:rPr lang="en-US" altLang="ko-KR" sz="1200"/>
              <a:t>Spring Boot</a:t>
            </a:r>
            <a:r>
              <a:rPr lang="ko-KR" altLang="en-US" sz="1200"/>
              <a:t>를 </a:t>
            </a:r>
            <a:r>
              <a:rPr lang="en-US" altLang="ko-KR" sz="1200"/>
              <a:t>API </a:t>
            </a:r>
            <a:r>
              <a:rPr lang="ko-KR" altLang="en-US" sz="1200"/>
              <a:t>방식으로 연동했고</a:t>
            </a:r>
            <a:r>
              <a:rPr lang="en-US" altLang="ko-KR" sz="1200"/>
              <a:t>, Controller, Service, Repository </a:t>
            </a:r>
            <a:r>
              <a:rPr lang="ko-KR" altLang="en-US" sz="1200"/>
              <a:t>계층을 분리해 구조적으로 설계했습니다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인증은 </a:t>
            </a:r>
            <a:r>
              <a:rPr lang="en-US" altLang="ko-KR" sz="1200"/>
              <a:t>JWT </a:t>
            </a:r>
            <a:r>
              <a:rPr lang="ko-KR" altLang="en-US" sz="1200"/>
              <a:t>기반으로 구현해 무상태 인증을 적용했고</a:t>
            </a:r>
            <a:r>
              <a:rPr lang="en-US" altLang="ko-KR" sz="1200"/>
              <a:t>, </a:t>
            </a:r>
            <a:r>
              <a:rPr lang="ko-KR" altLang="en-US" sz="1200"/>
              <a:t>관리자 권한은 </a:t>
            </a:r>
            <a:r>
              <a:rPr lang="en-US" altLang="ko-KR" sz="1200"/>
              <a:t>ROLE_ADMIN</a:t>
            </a:r>
            <a:r>
              <a:rPr lang="ko-KR" altLang="en-US" sz="1200"/>
              <a:t>으로 접근 제어했습니다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또한 </a:t>
            </a:r>
            <a:r>
              <a:rPr lang="en-US" altLang="ko-KR" sz="1200"/>
              <a:t>@ControllerAdvice</a:t>
            </a:r>
            <a:r>
              <a:rPr lang="ko-KR" altLang="en-US" sz="1200"/>
              <a:t>로 예외를 공통 처리했고</a:t>
            </a:r>
            <a:r>
              <a:rPr lang="en-US" altLang="ko-KR" sz="1200"/>
              <a:t>, .gitignore </a:t>
            </a:r>
            <a:r>
              <a:rPr lang="ko-KR" altLang="en-US" sz="1200"/>
              <a:t>설정을 통해 보안 정보가 외부에 노출되지 않도록 했습니다</a:t>
            </a:r>
            <a:endParaRPr lang="en-US" altLang="ko-KR" sz="1200"/>
          </a:p>
        </p:txBody>
      </p:sp>
    </p:spTree>
    <p:extLst>
      <p:ext uri="{BB962C8B-B14F-4D97-AF65-F5344CB8AC3E}">
        <p14:creationId xmlns:p14="http://schemas.microsoft.com/office/powerpoint/2010/main" val="2843249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55897-D230-85A3-FB73-FF932EF4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F4F4EF1-03C8-849A-D0CA-27F21A029DAC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B3884DE-3832-C255-308B-6DDD6D341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프레임워크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1F315AF-62AD-C2E6-8560-3ACF9D6DE0F7}"/>
              </a:ext>
            </a:extLst>
          </p:cNvPr>
          <p:cNvSpPr/>
          <p:nvPr/>
        </p:nvSpPr>
        <p:spPr>
          <a:xfrm>
            <a:off x="941254" y="1820625"/>
            <a:ext cx="10366830" cy="28242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9168AF-CEFD-95D8-7741-A1487E284209}"/>
              </a:ext>
            </a:extLst>
          </p:cNvPr>
          <p:cNvSpPr txBox="1"/>
          <p:nvPr/>
        </p:nvSpPr>
        <p:spPr>
          <a:xfrm>
            <a:off x="1024384" y="4788016"/>
            <a:ext cx="443764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/>
              <a:t>프론트 기술 포인트 </a:t>
            </a:r>
            <a:endParaRPr lang="en-US" altLang="ko-KR" sz="1200" b="1"/>
          </a:p>
          <a:p>
            <a:endParaRPr lang="en-US" altLang="ko-KR" sz="1200" b="1"/>
          </a:p>
          <a:p>
            <a:r>
              <a:rPr lang="ko-KR" altLang="en-US" sz="1000"/>
              <a:t>컴포넌트 기반 설계</a:t>
            </a:r>
          </a:p>
          <a:p>
            <a:r>
              <a:rPr lang="ko-KR" altLang="en-US" sz="1000"/>
              <a:t>사용자 </a:t>
            </a:r>
            <a:r>
              <a:rPr lang="en-US" altLang="ko-KR" sz="1000"/>
              <a:t>/ </a:t>
            </a:r>
            <a:r>
              <a:rPr lang="ko-KR" altLang="en-US" sz="1000"/>
              <a:t>관리자 권한 분기 렌더링</a:t>
            </a:r>
          </a:p>
          <a:p>
            <a:r>
              <a:rPr lang="en-US" altLang="ko-KR" sz="1000"/>
              <a:t>axios interceptor</a:t>
            </a:r>
            <a:r>
              <a:rPr lang="ko-KR" altLang="en-US" sz="1000"/>
              <a:t>로 토큰 자동 첨부</a:t>
            </a:r>
          </a:p>
          <a:p>
            <a:r>
              <a:rPr lang="ko-KR" altLang="en-US" sz="1000"/>
              <a:t>로그인 상태 전역 관리</a:t>
            </a:r>
            <a:endParaRPr lang="en-US" altLang="ko-KR" sz="1000"/>
          </a:p>
          <a:p>
            <a:r>
              <a:rPr lang="en-US" altLang="ko-KR" sz="1000"/>
              <a:t>OpenWeatherMap</a:t>
            </a:r>
            <a:r>
              <a:rPr lang="ko-KR" altLang="en-US" sz="1000"/>
              <a:t>을 활용한 전국 구장 실시간 날씨 위젯 구현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D945F6-0DB6-3644-FE5D-D118408F5837}"/>
              </a:ext>
            </a:extLst>
          </p:cNvPr>
          <p:cNvSpPr txBox="1"/>
          <p:nvPr/>
        </p:nvSpPr>
        <p:spPr>
          <a:xfrm>
            <a:off x="6393560" y="4788016"/>
            <a:ext cx="4199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/>
              <a:t>백엔드 기술 포인트</a:t>
            </a:r>
            <a:endParaRPr lang="en-US" altLang="ko-KR" sz="1200" b="1"/>
          </a:p>
          <a:p>
            <a:endParaRPr lang="ko-KR" altLang="en-US" sz="1200" b="1"/>
          </a:p>
          <a:p>
            <a:r>
              <a:rPr lang="en-US" altLang="ko-KR" sz="1000"/>
              <a:t>React </a:t>
            </a:r>
            <a:r>
              <a:rPr lang="ko-KR" altLang="en-US" sz="1000"/>
              <a:t>개발 서버에서 </a:t>
            </a:r>
            <a:r>
              <a:rPr lang="en-US" altLang="ko-KR" sz="1000"/>
              <a:t>Spring Boot API</a:t>
            </a:r>
            <a:r>
              <a:rPr lang="ko-KR" altLang="en-US" sz="1000"/>
              <a:t>를 호출하여 연동</a:t>
            </a:r>
            <a:endParaRPr lang="en-US" altLang="ko-KR" sz="1000"/>
          </a:p>
          <a:p>
            <a:r>
              <a:rPr lang="en-US" altLang="ko-KR" sz="1000"/>
              <a:t>Controller / Service / Repository </a:t>
            </a:r>
            <a:r>
              <a:rPr lang="ko-KR" altLang="en-US" sz="1000"/>
              <a:t>계층 분리</a:t>
            </a:r>
          </a:p>
          <a:p>
            <a:r>
              <a:rPr lang="en-US" altLang="ko-KR" sz="1000"/>
              <a:t>JWT (JSON Web Token) </a:t>
            </a:r>
            <a:r>
              <a:rPr lang="ko-KR" altLang="en-US" sz="1000"/>
              <a:t>기반 인증</a:t>
            </a:r>
            <a:r>
              <a:rPr lang="en-US" altLang="ko-KR" sz="1000"/>
              <a:t>·</a:t>
            </a:r>
            <a:r>
              <a:rPr lang="ko-KR" altLang="en-US" sz="1000"/>
              <a:t>인가</a:t>
            </a:r>
          </a:p>
          <a:p>
            <a:r>
              <a:rPr lang="ko-KR" altLang="en-US" sz="1000"/>
              <a:t>관리자 권한 체크 </a:t>
            </a:r>
            <a:r>
              <a:rPr lang="en-US" altLang="ko-KR" sz="1000"/>
              <a:t>(ROLE_ADMIN)</a:t>
            </a:r>
          </a:p>
          <a:p>
            <a:r>
              <a:rPr lang="ko-KR" altLang="en-US" sz="1000"/>
              <a:t>예외 처리 </a:t>
            </a:r>
            <a:r>
              <a:rPr lang="en-US" altLang="ko-KR" sz="1000"/>
              <a:t>(@ControllerAdvice)</a:t>
            </a:r>
          </a:p>
          <a:p>
            <a:r>
              <a:rPr lang="en-US" altLang="ko-KR" sz="1000"/>
              <a:t>.gitignore</a:t>
            </a:r>
            <a:r>
              <a:rPr lang="ko-KR" altLang="en-US" sz="1000"/>
              <a:t> 설정으로 보안을 실무적완성</a:t>
            </a:r>
            <a:endParaRPr lang="en-US" altLang="ko-KR" sz="100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C82A06-E451-B668-89E1-B93E408FE12D}"/>
              </a:ext>
            </a:extLst>
          </p:cNvPr>
          <p:cNvSpPr/>
          <p:nvPr/>
        </p:nvSpPr>
        <p:spPr>
          <a:xfrm>
            <a:off x="6115669" y="5021943"/>
            <a:ext cx="18000" cy="825209"/>
          </a:xfrm>
          <a:prstGeom prst="rect">
            <a:avLst/>
          </a:prstGeom>
          <a:solidFill>
            <a:srgbClr val="379A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A65B75-E097-8B92-533D-62471983CBFF}"/>
              </a:ext>
            </a:extLst>
          </p:cNvPr>
          <p:cNvGrpSpPr/>
          <p:nvPr/>
        </p:nvGrpSpPr>
        <p:grpSpPr>
          <a:xfrm>
            <a:off x="2211484" y="2341075"/>
            <a:ext cx="7826371" cy="1783393"/>
            <a:chOff x="2778996" y="2341075"/>
            <a:chExt cx="7826371" cy="1783393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AFCE4614-5837-13E3-E31C-D0A87C450149}"/>
                </a:ext>
              </a:extLst>
            </p:cNvPr>
            <p:cNvGrpSpPr/>
            <p:nvPr/>
          </p:nvGrpSpPr>
          <p:grpSpPr>
            <a:xfrm>
              <a:off x="3944859" y="2341075"/>
              <a:ext cx="5494645" cy="776087"/>
              <a:chOff x="3377347" y="2316661"/>
              <a:chExt cx="5494645" cy="776087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A3522628-B220-DEF2-9EA9-816483C855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77347" y="2316661"/>
                <a:ext cx="843239" cy="776087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E503A9A0-802A-D4FE-E5F4-DD4CDD88F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12079" y="2446009"/>
                <a:ext cx="1155721" cy="517391"/>
              </a:xfrm>
              <a:prstGeom prst="rect">
                <a:avLst/>
              </a:pr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A3B65377-FB8A-CD1D-FAB8-8391F8E7D3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59293" y="2316661"/>
                <a:ext cx="673039" cy="776087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F6BDFFDE-DC57-E602-1E23-7220377203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55293" y="2316661"/>
                <a:ext cx="571591" cy="776087"/>
              </a:xfrm>
              <a:prstGeom prst="rect">
                <a:avLst/>
              </a:prstGeom>
            </p:spPr>
          </p:pic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17E174AF-3E1A-721C-BA55-40586B2B6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65932" y="2355465"/>
                <a:ext cx="706060" cy="698478"/>
              </a:xfrm>
              <a:prstGeom prst="rect">
                <a:avLst/>
              </a:prstGeom>
            </p:spPr>
          </p:pic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666F7017-EAF4-AE53-312E-F87A786B70D7}"/>
                </a:ext>
              </a:extLst>
            </p:cNvPr>
            <p:cNvGrpSpPr/>
            <p:nvPr/>
          </p:nvGrpSpPr>
          <p:grpSpPr>
            <a:xfrm>
              <a:off x="2778996" y="3477729"/>
              <a:ext cx="7826371" cy="646739"/>
              <a:chOff x="2778996" y="3477729"/>
              <a:chExt cx="7826371" cy="646739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6D90E57-1BD4-36F5-F7B7-C128DAE877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778996" y="3542403"/>
                <a:ext cx="1306365" cy="517391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AF66B281-9958-2700-5362-014CD8EF5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374426" y="3487920"/>
                <a:ext cx="1379464" cy="626357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C8BE0846-0688-14F2-2B72-2FD35945D5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74288" y="3496511"/>
                <a:ext cx="743425" cy="609174"/>
              </a:xfrm>
              <a:prstGeom prst="rect">
                <a:avLst/>
              </a:pr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912760E7-DA4E-4753-0B70-5977D12E50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119747" y="3477729"/>
                <a:ext cx="593430" cy="646739"/>
              </a:xfrm>
              <a:prstGeom prst="rect">
                <a:avLst/>
              </a:prstGeom>
            </p:spPr>
          </p:pic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41A6FA17-F228-9E39-A489-3D8385AB1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948549" y="3611895"/>
                <a:ext cx="1521794" cy="378407"/>
              </a:xfrm>
              <a:prstGeom prst="rect">
                <a:avLst/>
              </a:prstGeom>
            </p:spPr>
          </p:pic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F2098052-EC37-38B3-D908-71F00467F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705715" y="3503054"/>
                <a:ext cx="899652" cy="596088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98B024B-B515-25AC-60D7-36BE175750C9}"/>
              </a:ext>
            </a:extLst>
          </p:cNvPr>
          <p:cNvSpPr txBox="1"/>
          <p:nvPr/>
        </p:nvSpPr>
        <p:spPr>
          <a:xfrm>
            <a:off x="3806914" y="956287"/>
            <a:ext cx="7087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React </a:t>
            </a:r>
            <a:r>
              <a:rPr lang="ko-KR" altLang="en-US" sz="1200"/>
              <a:t>개발 서버에서 </a:t>
            </a:r>
            <a:r>
              <a:rPr lang="en-US" altLang="ko-KR" sz="1200"/>
              <a:t>Spring Boot API</a:t>
            </a:r>
            <a:r>
              <a:rPr lang="ko-KR" altLang="en-US" sz="1200"/>
              <a:t>를 호출하여 연동</a:t>
            </a:r>
          </a:p>
        </p:txBody>
      </p:sp>
    </p:spTree>
    <p:extLst>
      <p:ext uri="{BB962C8B-B14F-4D97-AF65-F5344CB8AC3E}">
        <p14:creationId xmlns:p14="http://schemas.microsoft.com/office/powerpoint/2010/main" val="86100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65D20-7F8B-041C-C90E-F413D7503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A3439A7-7DBE-8ACD-1A69-4EF0C4421AF7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5DC588-2410-399A-4E85-6BAAEAE4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개발환경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1E523D9-B658-FAE8-48DB-2F5706C54A95}"/>
              </a:ext>
            </a:extLst>
          </p:cNvPr>
          <p:cNvSpPr/>
          <p:nvPr/>
        </p:nvSpPr>
        <p:spPr>
          <a:xfrm>
            <a:off x="941254" y="1791128"/>
            <a:ext cx="10366830" cy="28242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AAB046-91D8-6A93-EB40-405BF6864730}"/>
              </a:ext>
            </a:extLst>
          </p:cNvPr>
          <p:cNvSpPr txBox="1"/>
          <p:nvPr/>
        </p:nvSpPr>
        <p:spPr>
          <a:xfrm>
            <a:off x="1774392" y="5097272"/>
            <a:ext cx="3803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IDE 		Intellij</a:t>
            </a:r>
          </a:p>
          <a:p>
            <a:r>
              <a:rPr lang="en-US" altLang="ko-KR" sz="1200"/>
              <a:t>API test		Postman</a:t>
            </a:r>
          </a:p>
          <a:p>
            <a:r>
              <a:rPr lang="en-US" altLang="ko-KR" sz="1200"/>
              <a:t>DB		MySQL</a:t>
            </a:r>
          </a:p>
          <a:p>
            <a:r>
              <a:rPr lang="ko-KR" altLang="en-US" sz="1200"/>
              <a:t>버전관리		</a:t>
            </a:r>
            <a:r>
              <a:rPr lang="en-US" altLang="ko-KR" sz="1200"/>
              <a:t>git+gitHub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B7E2A7-37BF-7EFD-AE37-4BBB0F160CDE}"/>
              </a:ext>
            </a:extLst>
          </p:cNvPr>
          <p:cNvSpPr txBox="1"/>
          <p:nvPr/>
        </p:nvSpPr>
        <p:spPr>
          <a:xfrm>
            <a:off x="6936669" y="5055696"/>
            <a:ext cx="3803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Docker		</a:t>
            </a:r>
            <a:r>
              <a:rPr lang="ko-KR" altLang="en-US" sz="1200"/>
              <a:t>백엔드</a:t>
            </a:r>
            <a:r>
              <a:rPr lang="en-US" altLang="ko-KR" sz="1200"/>
              <a:t>+DB</a:t>
            </a:r>
          </a:p>
          <a:p>
            <a:r>
              <a:rPr lang="en-US" altLang="ko-KR" sz="1200"/>
              <a:t>Swagger		API</a:t>
            </a:r>
            <a:r>
              <a:rPr lang="ko-KR" altLang="en-US" sz="1200"/>
              <a:t>문서</a:t>
            </a:r>
          </a:p>
          <a:p>
            <a:r>
              <a:rPr lang="en-US" altLang="ko-KR" sz="1200"/>
              <a:t>ReactAdmin		</a:t>
            </a:r>
            <a:r>
              <a:rPr lang="ko-KR" altLang="en-US" sz="1200"/>
              <a:t>페이지관리</a:t>
            </a:r>
          </a:p>
          <a:p>
            <a:r>
              <a:rPr lang="ko-KR" altLang="en-US" sz="1200"/>
              <a:t>배포		</a:t>
            </a:r>
            <a:r>
              <a:rPr lang="en-US" altLang="ko-KR" sz="1200"/>
              <a:t>AWS/Render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DAC2D-BA60-44F2-5155-E9921A4459C7}"/>
              </a:ext>
            </a:extLst>
          </p:cNvPr>
          <p:cNvSpPr/>
          <p:nvPr/>
        </p:nvSpPr>
        <p:spPr>
          <a:xfrm>
            <a:off x="6115669" y="5021943"/>
            <a:ext cx="18000" cy="825209"/>
          </a:xfrm>
          <a:prstGeom prst="rect">
            <a:avLst/>
          </a:prstGeom>
          <a:solidFill>
            <a:srgbClr val="379A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A6B5C2A-6701-F3E0-AE14-3E45C10480B8}"/>
              </a:ext>
            </a:extLst>
          </p:cNvPr>
          <p:cNvGrpSpPr/>
          <p:nvPr/>
        </p:nvGrpSpPr>
        <p:grpSpPr>
          <a:xfrm>
            <a:off x="3150163" y="2223863"/>
            <a:ext cx="5949012" cy="1833788"/>
            <a:chOff x="2199385" y="2626900"/>
            <a:chExt cx="7904232" cy="243648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9571914A-417E-8A2E-0D49-A54F8482A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16516" y="2645950"/>
              <a:ext cx="894136" cy="900000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011B1102-A091-826B-0236-39474B00F1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95762" y="2647950"/>
              <a:ext cx="919286" cy="90000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FDBFE2D4-F841-2E84-48D1-F21D6F554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25101" y="2637400"/>
              <a:ext cx="1733432" cy="900000"/>
            </a:xfrm>
            <a:prstGeom prst="rect">
              <a:avLst/>
            </a:pr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7A461D37-EBB3-2745-93DA-7E10DC4B7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63837" y="2626900"/>
              <a:ext cx="1021177" cy="1008000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611C9365-3E51-0F1A-FF8D-680365DEF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199385" y="4170262"/>
              <a:ext cx="1259544" cy="720000"/>
            </a:xfrm>
            <a:prstGeom prst="rect">
              <a:avLst/>
            </a:pr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30FE41D9-4375-840F-37C5-9562773EE7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09550" y="4090862"/>
              <a:ext cx="900000" cy="900000"/>
            </a:xfrm>
            <a:prstGeom prst="rect">
              <a:avLst/>
            </a:pr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02B65A61-6D84-2D4C-1D2D-0D5AFF91ED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06967" y="3983386"/>
              <a:ext cx="1052830" cy="1080000"/>
            </a:xfrm>
            <a:prstGeom prst="rect">
              <a:avLst/>
            </a:pr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A73F3A4E-735A-F2F2-9D9D-E44495D6B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234814" y="4164336"/>
              <a:ext cx="1195334" cy="792000"/>
            </a:xfrm>
            <a:prstGeom prst="rect">
              <a:avLst/>
            </a:prstGeom>
          </p:spPr>
        </p:pic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BE25563-CACB-6C5A-4102-54C39ADD89F8}"/>
                </a:ext>
              </a:extLst>
            </p:cNvPr>
            <p:cNvGrpSpPr/>
            <p:nvPr/>
          </p:nvGrpSpPr>
          <p:grpSpPr>
            <a:xfrm>
              <a:off x="9033984" y="3954785"/>
              <a:ext cx="1069633" cy="919711"/>
              <a:chOff x="9401991" y="4347562"/>
              <a:chExt cx="1512037" cy="1300108"/>
            </a:xfrm>
          </p:grpSpPr>
          <p:pic>
            <p:nvPicPr>
              <p:cNvPr id="28" name="그림 27">
                <a:extLst>
                  <a:ext uri="{FF2B5EF4-FFF2-40B4-BE49-F238E27FC236}">
                    <a16:creationId xmlns:a16="http://schemas.microsoft.com/office/drawing/2014/main" id="{A8D8A6F6-2497-5701-31A6-D759683089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786916" y="4347562"/>
                <a:ext cx="798214" cy="900000"/>
              </a:xfrm>
              <a:prstGeom prst="rect">
                <a:avLst/>
              </a:prstGeom>
            </p:spPr>
          </p:pic>
          <p:pic>
            <p:nvPicPr>
              <p:cNvPr id="29" name="그림 28">
                <a:extLst>
                  <a:ext uri="{FF2B5EF4-FFF2-40B4-BE49-F238E27FC236}">
                    <a16:creationId xmlns:a16="http://schemas.microsoft.com/office/drawing/2014/main" id="{2D38A356-F77A-D047-1734-5A12B452D4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401991" y="5281717"/>
                <a:ext cx="1512037" cy="365953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44021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D50FE-ECDC-8158-F985-E6086D6DD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7A0A0D1-2E1B-7C88-81D7-720932DBDC83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6C90C9F-4FB1-6526-B790-18977EA0B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 단계 분리표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81D9E-5D37-7A3D-8B56-CD627552923B}"/>
              </a:ext>
            </a:extLst>
          </p:cNvPr>
          <p:cNvSpPr txBox="1"/>
          <p:nvPr/>
        </p:nvSpPr>
        <p:spPr>
          <a:xfrm>
            <a:off x="952123" y="1832419"/>
            <a:ext cx="8044543" cy="2427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회원가입</a:t>
            </a:r>
            <a:r>
              <a:rPr lang="en-US" altLang="ko-KR" dirty="0"/>
              <a:t>,</a:t>
            </a:r>
            <a:r>
              <a:rPr lang="ko-KR" altLang="en-US" dirty="0"/>
              <a:t>로그인 </a:t>
            </a:r>
            <a:r>
              <a:rPr lang="en-US" altLang="ko-KR" dirty="0"/>
              <a:t>/ JWT(JSON Web Token) / </a:t>
            </a:r>
            <a:r>
              <a:rPr lang="ko-KR" altLang="en-US" dirty="0"/>
              <a:t>관리자 권한</a:t>
            </a:r>
          </a:p>
          <a:p>
            <a:pPr>
              <a:lnSpc>
                <a:spcPct val="300000"/>
              </a:lnSpc>
            </a:pPr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상품 → 장바구니 → 주문</a:t>
            </a:r>
          </a:p>
          <a:p>
            <a:pPr>
              <a:lnSpc>
                <a:spcPct val="300000"/>
              </a:lnSpc>
            </a:pPr>
            <a:r>
              <a:rPr lang="en-US" altLang="ko-KR" dirty="0"/>
              <a:t>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게시판 </a:t>
            </a:r>
            <a:r>
              <a:rPr lang="en-US" altLang="ko-KR" dirty="0"/>
              <a:t>/ </a:t>
            </a:r>
            <a:r>
              <a:rPr lang="ko-KR" altLang="en-US" dirty="0"/>
              <a:t>문의</a:t>
            </a:r>
          </a:p>
        </p:txBody>
      </p:sp>
    </p:spTree>
    <p:extLst>
      <p:ext uri="{BB962C8B-B14F-4D97-AF65-F5344CB8AC3E}">
        <p14:creationId xmlns:p14="http://schemas.microsoft.com/office/powerpoint/2010/main" val="1965109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1D22-03C5-E52E-50A4-4EAC8206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BE7FDF3-0315-6149-7752-FE8B2D24B3D7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3E18430-DE0D-D0A4-9ADD-D31363E6C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시스템 아키텍쳐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D5186E1-5C01-5C1E-4E21-CD1FAB423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899231"/>
              </p:ext>
            </p:extLst>
          </p:nvPr>
        </p:nvGraphicFramePr>
        <p:xfrm>
          <a:off x="1246908" y="1928560"/>
          <a:ext cx="9875520" cy="2806309"/>
        </p:xfrm>
        <a:graphic>
          <a:graphicData uri="http://schemas.openxmlformats.org/drawingml/2006/table">
            <a:tbl>
              <a:tblPr/>
              <a:tblGrid>
                <a:gridCol w="1380178">
                  <a:extLst>
                    <a:ext uri="{9D8B030D-6E8A-4147-A177-3AD203B41FA5}">
                      <a16:colId xmlns:a16="http://schemas.microsoft.com/office/drawing/2014/main" val="4233850332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2183557220"/>
                    </a:ext>
                  </a:extLst>
                </a:gridCol>
                <a:gridCol w="6797171">
                  <a:extLst>
                    <a:ext uri="{9D8B030D-6E8A-4147-A177-3AD203B41FA5}">
                      <a16:colId xmlns:a16="http://schemas.microsoft.com/office/drawing/2014/main" val="3170702306"/>
                    </a:ext>
                  </a:extLst>
                </a:gridCol>
              </a:tblGrid>
              <a:tr h="290833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계층 </a:t>
                      </a:r>
                      <a:r>
                        <a:rPr lang="en-US" altLang="ko-K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Layer)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주요 역할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상세 설명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7734987"/>
                  </a:ext>
                </a:extLst>
              </a:tr>
              <a:tr h="436765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Client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요청 발신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사용자가 브라우저나 앱을 통해 </a:t>
                      </a:r>
                      <a:r>
                        <a:rPr lang="en-US" altLang="ko-K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JWT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헤더에 담아 요청을 보냅니다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5424435"/>
                  </a:ext>
                </a:extLst>
              </a:tr>
              <a:tr h="436765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JWT Filter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인증 및 인가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HTTP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헤더에서 토큰을 추출하여 유효성을 검증하고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권한이 없으면 진입을 차단합니다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298015"/>
                  </a:ext>
                </a:extLst>
              </a:tr>
              <a:tr h="436765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Controller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엔드포인트 관리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API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경로를 매핑하고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클라이언트의 입력을 받아 서비스 계층으로 전달합니다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0066"/>
                  </a:ext>
                </a:extLst>
              </a:tr>
              <a:tr h="436765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Service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비즈니스 로직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실제 핵심 업무 로직이 수행되며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altLang="ko-KR" sz="13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Transactional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을 통해 데이터의 일관성을 보장합니다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828396"/>
                  </a:ext>
                </a:extLst>
              </a:tr>
              <a:tr h="436765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Repository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데이터 추상화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JPA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등을 사용하여 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DB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객체에 접근하며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쿼리를 실행하는 인터페이스 역할을 합니다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086521"/>
                  </a:ext>
                </a:extLst>
              </a:tr>
              <a:tr h="31392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MySQL</a:t>
                      </a:r>
                      <a:endParaRPr 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영속성 계층</a:t>
                      </a:r>
                      <a:endParaRPr lang="ko-KR" altLang="en-US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모든 데이터가 물리적으로 저장되는 공간입니다</a:t>
                      </a:r>
                      <a:r>
                        <a:rPr lang="en-US" altLang="ko-K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82830" marR="82830" marT="55220" marB="5522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10128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70C8F08-0E12-E394-5E9D-26BC26A62B55}"/>
              </a:ext>
            </a:extLst>
          </p:cNvPr>
          <p:cNvSpPr txBox="1"/>
          <p:nvPr/>
        </p:nvSpPr>
        <p:spPr>
          <a:xfrm>
            <a:off x="1285968" y="4876804"/>
            <a:ext cx="9875520" cy="1256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/>
              <a:t>데이터 흐름의 특징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보안 우선 </a:t>
            </a:r>
            <a:r>
              <a:rPr lang="en-US" altLang="ko-KR" sz="1200"/>
              <a:t>(Fail-Fast): JWT Filter</a:t>
            </a:r>
            <a:r>
              <a:rPr lang="ko-KR" altLang="en-US" sz="1200"/>
              <a:t>가 가장 앞에 위치하여 유효하지 않은 요청은 컨트롤러에 도달하기도 전에 걸러냅니다</a:t>
            </a:r>
            <a:r>
              <a:rPr lang="en-US" altLang="ko-KR" sz="120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트랜잭션 관리</a:t>
            </a:r>
            <a:r>
              <a:rPr lang="en-US" altLang="ko-KR" sz="1200"/>
              <a:t>: </a:t>
            </a:r>
            <a:r>
              <a:rPr lang="ko-KR" altLang="en-US" sz="1200"/>
              <a:t>서비스</a:t>
            </a:r>
            <a:r>
              <a:rPr lang="en-US" altLang="ko-KR" sz="1200"/>
              <a:t>(Service) </a:t>
            </a:r>
            <a:r>
              <a:rPr lang="ko-KR" altLang="en-US" sz="1200"/>
              <a:t>계층에서 트랜잭션이 시작되고 종료되므로</a:t>
            </a:r>
            <a:r>
              <a:rPr lang="en-US" altLang="ko-KR" sz="1200"/>
              <a:t>, Repository </a:t>
            </a:r>
            <a:r>
              <a:rPr lang="ko-KR" altLang="en-US" sz="1200"/>
              <a:t>작업 중 하나라도 실패하면 전체 작업이 롤백됩니다</a:t>
            </a:r>
            <a:r>
              <a:rPr lang="en-US" altLang="ko-KR" sz="120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관심사의 분리</a:t>
            </a:r>
            <a:r>
              <a:rPr lang="en-US" altLang="ko-KR" sz="1200"/>
              <a:t>: </a:t>
            </a:r>
            <a:r>
              <a:rPr lang="ko-KR" altLang="en-US" sz="1200"/>
              <a:t>각 계층은 본인의 역할에만 집중합니다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469851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9A719-45C2-8731-5386-D1C6C8855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8C9EEC5-4715-4282-3EAE-B304965B1FEA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F278FD-54C1-9E3D-F926-9CDBFB715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사이트맵</a:t>
            </a:r>
            <a:r>
              <a:rPr lang="en-US" altLang="ko-KR"/>
              <a:t>(Site Map)-</a:t>
            </a:r>
            <a:r>
              <a:rPr lang="ko-KR" altLang="en-US"/>
              <a:t>전체 페이지 구조도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FAC98-1BC6-E11A-4FA4-8FCC2DCA16D1}"/>
              </a:ext>
            </a:extLst>
          </p:cNvPr>
          <p:cNvSpPr txBox="1"/>
          <p:nvPr/>
        </p:nvSpPr>
        <p:spPr>
          <a:xfrm>
            <a:off x="1583575" y="1836433"/>
            <a:ext cx="450965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🏠 메인 ─ 실시간 구장 날씨</a:t>
            </a:r>
          </a:p>
          <a:p>
            <a:r>
              <a:rPr lang="ko-KR" altLang="en-US"/>
              <a:t> │</a:t>
            </a:r>
          </a:p>
          <a:p>
            <a:r>
              <a:rPr lang="ko-KR" altLang="en-US"/>
              <a:t> ├─ 🏷️ 상품</a:t>
            </a:r>
          </a:p>
          <a:p>
            <a:r>
              <a:rPr lang="ko-KR" altLang="en-US"/>
              <a:t> │   ├─ 목록 (팀별 필터링 + 검색)</a:t>
            </a:r>
          </a:p>
          <a:p>
            <a:r>
              <a:rPr lang="ko-KR" altLang="en-US"/>
              <a:t> │   ├─ 상세 (수량 선택 + 장바구니)</a:t>
            </a:r>
          </a:p>
          <a:p>
            <a:r>
              <a:rPr lang="ko-KR" altLang="en-US"/>
              <a:t> │   └─ 장바구니 (수량 변경 + 삭제)</a:t>
            </a:r>
          </a:p>
          <a:p>
            <a:r>
              <a:rPr lang="ko-KR" altLang="en-US"/>
              <a:t> │</a:t>
            </a:r>
          </a:p>
          <a:p>
            <a:r>
              <a:rPr lang="ko-KR" altLang="en-US"/>
              <a:t> ├─ 💳 주문</a:t>
            </a:r>
          </a:p>
          <a:p>
            <a:r>
              <a:rPr lang="ko-KR" altLang="en-US"/>
              <a:t> │   └─ 결제 (배송지 + 재고 차감)</a:t>
            </a:r>
          </a:p>
          <a:p>
            <a:r>
              <a:rPr lang="ko-KR" altLang="en-US"/>
              <a:t> │</a:t>
            </a:r>
          </a:p>
          <a:p>
            <a:r>
              <a:rPr lang="ko-KR" altLang="en-US"/>
              <a:t> ├─ 👤 회원</a:t>
            </a:r>
          </a:p>
          <a:p>
            <a:r>
              <a:rPr lang="ko-KR" altLang="en-US"/>
              <a:t> │   ├─ 로그인/가입</a:t>
            </a:r>
          </a:p>
          <a:p>
            <a:r>
              <a:rPr lang="ko-KR" altLang="en-US"/>
              <a:t> │   └─ 마이페이지</a:t>
            </a:r>
          </a:p>
          <a:p>
            <a:r>
              <a:rPr lang="ko-KR" altLang="en-US"/>
              <a:t> │       ├─ 주문내역</a:t>
            </a:r>
          </a:p>
          <a:p>
            <a:r>
              <a:rPr lang="ko-KR" altLang="en-US"/>
              <a:t> │       └─ 회원정보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023531-632F-5B02-922D-B1D5A4D95E1C}"/>
              </a:ext>
            </a:extLst>
          </p:cNvPr>
          <p:cNvSpPr txBox="1"/>
          <p:nvPr/>
        </p:nvSpPr>
        <p:spPr>
          <a:xfrm>
            <a:off x="6298272" y="1836433"/>
            <a:ext cx="49737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 │</a:t>
            </a:r>
          </a:p>
          <a:p>
            <a:r>
              <a:rPr lang="ko-KR" altLang="en-US"/>
              <a:t> ├─ 📋 게시판 (3단계)</a:t>
            </a:r>
          </a:p>
          <a:p>
            <a:r>
              <a:rPr lang="ko-KR" altLang="en-US"/>
              <a:t> │   ├─ 공지사항</a:t>
            </a:r>
          </a:p>
          <a:p>
            <a:r>
              <a:rPr lang="ko-KR" altLang="en-US"/>
              <a:t> │   ├─ FAQ</a:t>
            </a:r>
          </a:p>
          <a:p>
            <a:r>
              <a:rPr lang="ko-KR" altLang="en-US"/>
              <a:t> │   └─ 1:1 문의</a:t>
            </a:r>
          </a:p>
          <a:p>
            <a:r>
              <a:rPr lang="ko-KR" altLang="en-US"/>
              <a:t> │</a:t>
            </a:r>
          </a:p>
          <a:p>
            <a:r>
              <a:rPr lang="ko-KR" altLang="en-US"/>
              <a:t> └─ 🔧 관리자</a:t>
            </a:r>
          </a:p>
          <a:p>
            <a:r>
              <a:rPr lang="ko-KR" altLang="en-US"/>
              <a:t>     ├─ 상품 관리 (등록/수정/삭제)</a:t>
            </a:r>
          </a:p>
          <a:p>
            <a:r>
              <a:rPr lang="ko-KR" altLang="en-US"/>
              <a:t>     ├─ 주문 관리 (상태 변경)</a:t>
            </a:r>
          </a:p>
          <a:p>
            <a:r>
              <a:rPr lang="ko-KR" altLang="en-US"/>
              <a:t>     └─ 회원 관리 (권한 설정)</a:t>
            </a:r>
          </a:p>
        </p:txBody>
      </p:sp>
    </p:spTree>
    <p:extLst>
      <p:ext uri="{BB962C8B-B14F-4D97-AF65-F5344CB8AC3E}">
        <p14:creationId xmlns:p14="http://schemas.microsoft.com/office/powerpoint/2010/main" val="272133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B58436-4BD3-C3A2-2E2C-CE04D0F92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BCBECBE-9761-1A09-85AA-4331C99B5B11}"/>
              </a:ext>
            </a:extLst>
          </p:cNvPr>
          <p:cNvSpPr/>
          <p:nvPr/>
        </p:nvSpPr>
        <p:spPr>
          <a:xfrm>
            <a:off x="8657847" y="1602463"/>
            <a:ext cx="2824349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5CF6FF-7CB7-E4A7-8A76-02EBC33CE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ERD </a:t>
            </a:r>
            <a:r>
              <a:rPr lang="ko-KR" altLang="en-US"/>
              <a:t>다이어그램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8A1490-A44B-3CC8-D131-B4A263973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0" y="7167562"/>
            <a:ext cx="4543425" cy="21621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1DA310-0C6B-ED94-1B6E-017EC7C676E4}"/>
              </a:ext>
            </a:extLst>
          </p:cNvPr>
          <p:cNvSpPr txBox="1"/>
          <p:nvPr/>
        </p:nvSpPr>
        <p:spPr>
          <a:xfrm>
            <a:off x="8762598" y="1768072"/>
            <a:ext cx="2591202" cy="2370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/>
              <a:t>Cart-cartItem,</a:t>
            </a:r>
            <a:r>
              <a:rPr lang="ko-KR" altLang="en-US" sz="1000" b="1"/>
              <a:t> </a:t>
            </a:r>
            <a:r>
              <a:rPr lang="en-US" altLang="ko-KR" sz="1000" b="1"/>
              <a:t>order-orderItem</a:t>
            </a:r>
            <a:r>
              <a:rPr lang="ko-KR" altLang="en-US" sz="1000"/>
              <a:t>을합치면 구현이 훨씬 빠르고 간결해진다는 점은 이해했습니다</a:t>
            </a:r>
            <a:r>
              <a:rPr lang="en-US" altLang="ko-KR" sz="10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000"/>
              <a:t>하지만 제가 이 프로젝트를 통해 실제 이커머스의 표준적인 데이터 흐름</a:t>
            </a:r>
            <a:r>
              <a:rPr lang="en-US" altLang="ko-KR" sz="1000"/>
              <a:t>(1:N </a:t>
            </a:r>
            <a:r>
              <a:rPr lang="ko-KR" altLang="en-US" sz="1000"/>
              <a:t>관계</a:t>
            </a:r>
            <a:r>
              <a:rPr lang="en-US" altLang="ko-KR" sz="1000"/>
              <a:t>)</a:t>
            </a:r>
            <a:r>
              <a:rPr lang="ko-KR" altLang="en-US" sz="1000"/>
              <a:t>을 직접 구현해보고 싶습니다</a:t>
            </a:r>
            <a:r>
              <a:rPr lang="en-US" altLang="ko-KR" sz="10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000"/>
              <a:t>조금 시간이 더 걸리더라도 </a:t>
            </a:r>
            <a:r>
              <a:rPr lang="ko-KR" altLang="en-US" sz="1000" b="1"/>
              <a:t>트랜잭션 처리와 데이터 무결성</a:t>
            </a:r>
            <a:r>
              <a:rPr lang="ko-KR" altLang="en-US" sz="1000"/>
              <a:t>을 직접 고민하며 정석대로 가보겠습니다</a:t>
            </a:r>
            <a:endParaRPr lang="en-US" altLang="ko-KR" sz="1000"/>
          </a:p>
          <a:p>
            <a:pPr>
              <a:lnSpc>
                <a:spcPct val="150000"/>
              </a:lnSpc>
            </a:pPr>
            <a:endParaRPr lang="en-US" altLang="ko-KR" sz="10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4FDEDC-FF97-4984-110C-7A8E58FFD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55" y="1690688"/>
            <a:ext cx="7973639" cy="460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45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D37CBD-0BF6-4749-84A1-1C0399311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790B02-2E86-4CDC-8832-9230EA7A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ERD </a:t>
            </a:r>
            <a:r>
              <a:rPr lang="ko-KR" altLang="en-US"/>
              <a:t>다이어그램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75CD22-3746-8058-62C7-9F0B3A96E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0" y="7167562"/>
            <a:ext cx="4543425" cy="21621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91B761-B720-2309-2629-62AA91954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3057" y="1402947"/>
            <a:ext cx="5755196" cy="508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46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BB037D-7098-4B42-3F09-7F53F6904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E0E896C-F398-F62E-5573-5DE754A43DC0}"/>
              </a:ext>
            </a:extLst>
          </p:cNvPr>
          <p:cNvSpPr/>
          <p:nvPr/>
        </p:nvSpPr>
        <p:spPr>
          <a:xfrm>
            <a:off x="838201" y="1602463"/>
            <a:ext cx="10643996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3A41C68-E515-DD37-BF13-B40975EED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ERD </a:t>
            </a:r>
            <a:r>
              <a:rPr lang="ko-KR" altLang="en-US"/>
              <a:t>다이어그램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57FF8-F75C-4640-6565-68486BEC9880}"/>
              </a:ext>
            </a:extLst>
          </p:cNvPr>
          <p:cNvSpPr txBox="1"/>
          <p:nvPr/>
        </p:nvSpPr>
        <p:spPr>
          <a:xfrm>
            <a:off x="1244992" y="2015252"/>
            <a:ext cx="980400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왜 </a:t>
            </a:r>
            <a:r>
              <a:rPr lang="en-US" altLang="ko-KR" sz="1400" b="1"/>
              <a:t>cart-cartItem/ order-orderItem </a:t>
            </a:r>
            <a:r>
              <a:rPr lang="ko-KR" altLang="en-US" sz="1400" b="1"/>
              <a:t>분리 작업 했을까요</a:t>
            </a:r>
            <a:r>
              <a:rPr lang="en-US" altLang="ko-KR" sz="1400" b="1"/>
              <a:t>?</a:t>
            </a:r>
            <a:endParaRPr lang="en-US" altLang="ko-KR" sz="1400"/>
          </a:p>
          <a:p>
            <a:endParaRPr lang="en-US" altLang="ko-KR" sz="1200" b="1"/>
          </a:p>
          <a:p>
            <a:r>
              <a:rPr lang="en-US" altLang="ko-KR" sz="1200" b="1"/>
              <a:t>1. </a:t>
            </a:r>
            <a:r>
              <a:rPr lang="ko-KR" altLang="en-US" sz="1200" b="1"/>
              <a:t>데이터 중복의 최소화 및 일관성 </a:t>
            </a:r>
            <a:r>
              <a:rPr lang="en-US" altLang="ko-KR" sz="1200" b="1"/>
              <a:t>(Normalization)</a:t>
            </a:r>
          </a:p>
          <a:p>
            <a:r>
              <a:rPr lang="ko-KR" altLang="en-US" sz="1200"/>
              <a:t>기술적으로는 데이터의 무결성을 지키기에 훨씬 유리합니다</a:t>
            </a:r>
            <a:r>
              <a:rPr lang="en-US" altLang="ko-KR" sz="1200"/>
              <a:t>.</a:t>
            </a:r>
          </a:p>
          <a:p>
            <a:r>
              <a:rPr lang="en-US" altLang="ko-KR" sz="1200" b="1"/>
              <a:t>Order </a:t>
            </a:r>
            <a:r>
              <a:rPr lang="ko-KR" altLang="en-US" sz="1200" b="1"/>
              <a:t>테이블</a:t>
            </a:r>
            <a:r>
              <a:rPr lang="en-US" altLang="ko-KR" sz="1200"/>
              <a:t>: </a:t>
            </a:r>
            <a:r>
              <a:rPr lang="ko-KR" altLang="en-US" sz="1200"/>
              <a:t>주문 날짜</a:t>
            </a:r>
            <a:r>
              <a:rPr lang="en-US" altLang="ko-KR" sz="1200"/>
              <a:t>, </a:t>
            </a:r>
            <a:r>
              <a:rPr lang="ko-KR" altLang="en-US" sz="1200"/>
              <a:t>배송지</a:t>
            </a:r>
            <a:r>
              <a:rPr lang="en-US" altLang="ko-KR" sz="1200"/>
              <a:t>, </a:t>
            </a:r>
            <a:r>
              <a:rPr lang="ko-KR" altLang="en-US" sz="1200"/>
              <a:t>총 결제 금액</a:t>
            </a:r>
            <a:r>
              <a:rPr lang="en-US" altLang="ko-KR" sz="1200"/>
              <a:t>, </a:t>
            </a:r>
            <a:r>
              <a:rPr lang="ko-KR" altLang="en-US" sz="1200"/>
              <a:t>유저 </a:t>
            </a:r>
            <a:r>
              <a:rPr lang="en-US" altLang="ko-KR" sz="1200"/>
              <a:t>ID </a:t>
            </a:r>
            <a:r>
              <a:rPr lang="ko-KR" altLang="en-US" sz="1200"/>
              <a:t>등 주문 전체에 공통된 정보만 딱 한 번 저장합니다</a:t>
            </a:r>
            <a:r>
              <a:rPr lang="en-US" altLang="ko-KR" sz="1200"/>
              <a:t>.</a:t>
            </a:r>
          </a:p>
          <a:p>
            <a:r>
              <a:rPr lang="en-US" altLang="ko-KR" sz="1200" b="1"/>
              <a:t>OrderItem </a:t>
            </a:r>
            <a:r>
              <a:rPr lang="ko-KR" altLang="en-US" sz="1200" b="1"/>
              <a:t>테이블</a:t>
            </a:r>
            <a:r>
              <a:rPr lang="en-US" altLang="ko-KR" sz="1200"/>
              <a:t>: </a:t>
            </a:r>
            <a:r>
              <a:rPr lang="ko-KR" altLang="en-US" sz="1200"/>
              <a:t>해당 주문에 속한 각 상품의 상세 정보만 저장합니다</a:t>
            </a:r>
            <a:r>
              <a:rPr lang="en-US" altLang="ko-KR" sz="1200"/>
              <a:t>.</a:t>
            </a:r>
          </a:p>
          <a:p>
            <a:r>
              <a:rPr lang="ko-KR" altLang="en-US" sz="1200" b="1"/>
              <a:t>장점</a:t>
            </a:r>
            <a:r>
              <a:rPr lang="en-US" altLang="ko-KR" sz="1200"/>
              <a:t>: </a:t>
            </a:r>
            <a:r>
              <a:rPr lang="ko-KR" altLang="en-US" sz="1200"/>
              <a:t>만약 배송지를 수정해야 한다면 </a:t>
            </a:r>
            <a:r>
              <a:rPr lang="en-US" altLang="ko-KR" sz="1200"/>
              <a:t>Order</a:t>
            </a:r>
            <a:r>
              <a:rPr lang="ko-KR" altLang="en-US" sz="1200"/>
              <a:t> 테이블의 행 하나만 고치면 됩니다</a:t>
            </a:r>
            <a:r>
              <a:rPr lang="en-US" altLang="ko-KR" sz="1200"/>
              <a:t>. </a:t>
            </a:r>
            <a:r>
              <a:rPr lang="ko-KR" altLang="en-US" sz="1200"/>
              <a:t>하지만 합쳐진 구조에서는 해당 주문번호를 가진 모든 행을 찾아 배송지를 수정해야 하므로</a:t>
            </a:r>
            <a:r>
              <a:rPr lang="en-US" altLang="ko-KR" sz="1200"/>
              <a:t>, </a:t>
            </a:r>
            <a:r>
              <a:rPr lang="ko-KR" altLang="en-US" sz="1200"/>
              <a:t>데이터가 서로 달라질 위험</a:t>
            </a:r>
            <a:r>
              <a:rPr lang="en-US" altLang="ko-KR" sz="1200"/>
              <a:t>(</a:t>
            </a:r>
            <a:r>
              <a:rPr lang="ko-KR" altLang="en-US" sz="1200"/>
              <a:t>데이터 불일치</a:t>
            </a:r>
            <a:r>
              <a:rPr lang="en-US" altLang="ko-KR" sz="1200"/>
              <a:t>)</a:t>
            </a:r>
            <a:r>
              <a:rPr lang="ko-KR" altLang="en-US" sz="1200"/>
              <a:t>이 생깁니다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 b="1"/>
              <a:t>2. </a:t>
            </a:r>
            <a:r>
              <a:rPr lang="ko-KR" altLang="en-US" sz="1200" b="1"/>
              <a:t>객체 지향적 도메인 모델링 </a:t>
            </a:r>
            <a:r>
              <a:rPr lang="en-US" altLang="ko-KR" sz="1200" b="1"/>
              <a:t>(OOP)</a:t>
            </a:r>
          </a:p>
          <a:p>
            <a:r>
              <a:rPr lang="ko-KR" altLang="en-US" sz="1200"/>
              <a:t>백엔드</a:t>
            </a:r>
            <a:r>
              <a:rPr lang="en-US" altLang="ko-KR" sz="1200"/>
              <a:t>(Spring Boot) </a:t>
            </a:r>
            <a:r>
              <a:rPr lang="ko-KR" altLang="en-US" sz="1200"/>
              <a:t>코드를 짤 때 </a:t>
            </a:r>
            <a:r>
              <a:rPr lang="en-US" altLang="ko-KR" sz="1200"/>
              <a:t>Java </a:t>
            </a:r>
            <a:r>
              <a:rPr lang="ko-KR" altLang="en-US" sz="1200"/>
              <a:t>객체로 변환하기가 매우 자연스럽습니다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Order</a:t>
            </a:r>
            <a:r>
              <a:rPr lang="ko-KR" altLang="en-US" sz="1200"/>
              <a:t> 객체 안에 </a:t>
            </a:r>
            <a:r>
              <a:rPr lang="en-US" altLang="ko-KR" sz="1200"/>
              <a:t>List&lt;OrderItem&gt; items</a:t>
            </a:r>
            <a:r>
              <a:rPr lang="ko-KR" altLang="en-US" sz="1200"/>
              <a:t>라는 리스트를 두는 구조는 실제 비즈니스 로직과 똑같습니다</a:t>
            </a:r>
            <a:r>
              <a:rPr lang="en-US" altLang="ko-KR" sz="1200"/>
              <a:t>.</a:t>
            </a:r>
          </a:p>
          <a:p>
            <a:r>
              <a:rPr lang="ko-KR" altLang="en-US" sz="1200" b="1"/>
              <a:t>장점</a:t>
            </a:r>
            <a:r>
              <a:rPr lang="en-US" altLang="ko-KR" sz="1200"/>
              <a:t>: JPA </a:t>
            </a:r>
            <a:r>
              <a:rPr lang="ko-KR" altLang="en-US" sz="1200"/>
              <a:t>같은 기술을 쓸 때 </a:t>
            </a:r>
            <a:r>
              <a:rPr lang="en-US" altLang="ko-KR" sz="1200"/>
              <a:t>@OneToMany</a:t>
            </a:r>
            <a:r>
              <a:rPr lang="ko-KR" altLang="en-US" sz="1200"/>
              <a:t> 관계 설정만으로 주문과 상세 내역을 한 번에 조회하고 관리할 수 있어</a:t>
            </a:r>
            <a:r>
              <a:rPr lang="en-US" altLang="ko-KR" sz="1200"/>
              <a:t>, </a:t>
            </a:r>
            <a:r>
              <a:rPr lang="ko-KR" altLang="en-US" sz="1200"/>
              <a:t>코드의 가독성이 높아지고 관리가 쉬워집니다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 b="1"/>
              <a:t>3. </a:t>
            </a:r>
            <a:r>
              <a:rPr lang="ko-KR" altLang="en-US" sz="1200" b="1"/>
              <a:t>확장성과 통계 쿼리의 용이성</a:t>
            </a:r>
          </a:p>
          <a:p>
            <a:r>
              <a:rPr lang="ko-KR" altLang="en-US" sz="1200"/>
              <a:t>나중에 서비스가 커졌을 때를 대비하기 좋습니다</a:t>
            </a:r>
            <a:r>
              <a:rPr lang="en-US" altLang="ko-KR" sz="1200"/>
              <a:t>.</a:t>
            </a:r>
          </a:p>
          <a:p>
            <a:r>
              <a:rPr lang="ko-KR" altLang="en-US" sz="1200" b="1"/>
              <a:t>주문 상태 관리</a:t>
            </a:r>
            <a:r>
              <a:rPr lang="en-US" altLang="ko-KR" sz="1200"/>
              <a:t>: "</a:t>
            </a:r>
            <a:r>
              <a:rPr lang="ko-KR" altLang="en-US" sz="1200"/>
              <a:t>전체 주문은 </a:t>
            </a:r>
            <a:r>
              <a:rPr lang="en-US" altLang="ko-KR" sz="1200"/>
              <a:t>'</a:t>
            </a:r>
            <a:r>
              <a:rPr lang="ko-KR" altLang="en-US" sz="1200"/>
              <a:t>결제완료</a:t>
            </a:r>
            <a:r>
              <a:rPr lang="en-US" altLang="ko-KR" sz="1200"/>
              <a:t>'</a:t>
            </a:r>
            <a:r>
              <a:rPr lang="ko-KR" altLang="en-US" sz="1200"/>
              <a:t>인데</a:t>
            </a:r>
            <a:r>
              <a:rPr lang="en-US" altLang="ko-KR" sz="1200"/>
              <a:t>, </a:t>
            </a:r>
            <a:r>
              <a:rPr lang="ko-KR" altLang="en-US" sz="1200"/>
              <a:t>그중 상품 하나만 </a:t>
            </a:r>
            <a:r>
              <a:rPr lang="en-US" altLang="ko-KR" sz="1200"/>
              <a:t>'</a:t>
            </a:r>
            <a:r>
              <a:rPr lang="ko-KR" altLang="en-US" sz="1200"/>
              <a:t>품절 취소</a:t>
            </a:r>
            <a:r>
              <a:rPr lang="en-US" altLang="ko-KR" sz="1200"/>
              <a:t>'</a:t>
            </a:r>
            <a:r>
              <a:rPr lang="ko-KR" altLang="en-US" sz="1200"/>
              <a:t>가 되었다</a:t>
            </a:r>
            <a:r>
              <a:rPr lang="en-US" altLang="ko-KR" sz="1200"/>
              <a:t>" </a:t>
            </a:r>
            <a:r>
              <a:rPr lang="ko-KR" altLang="en-US" sz="1200"/>
              <a:t>같은 복잡한 상황을 관리하기가 훨씬 수월합니다</a:t>
            </a:r>
            <a:r>
              <a:rPr lang="en-US" altLang="ko-KR" sz="1200"/>
              <a:t>.</a:t>
            </a:r>
          </a:p>
          <a:p>
            <a:r>
              <a:rPr lang="ko-KR" altLang="en-US" sz="1200" b="1"/>
              <a:t>통계</a:t>
            </a:r>
            <a:r>
              <a:rPr lang="en-US" altLang="ko-KR" sz="1200"/>
              <a:t>: "</a:t>
            </a:r>
            <a:r>
              <a:rPr lang="ko-KR" altLang="en-US" sz="1200"/>
              <a:t>이번 달 총 주문 건수</a:t>
            </a:r>
            <a:r>
              <a:rPr lang="en-US" altLang="ko-KR" sz="1200"/>
              <a:t>(</a:t>
            </a:r>
            <a:r>
              <a:rPr lang="ko-KR" altLang="en-US" sz="1200"/>
              <a:t>결제 건수</a:t>
            </a:r>
            <a:r>
              <a:rPr lang="en-US" altLang="ko-KR" sz="1200"/>
              <a:t>)"</a:t>
            </a:r>
            <a:r>
              <a:rPr lang="ko-KR" altLang="en-US" sz="1200"/>
              <a:t>를 구할 때</a:t>
            </a:r>
            <a:r>
              <a:rPr lang="en-US" altLang="ko-KR" sz="1200"/>
              <a:t>, </a:t>
            </a:r>
            <a:r>
              <a:rPr lang="ko-KR" altLang="en-US" sz="1200"/>
              <a:t>분리된 구조에서는 </a:t>
            </a:r>
            <a:r>
              <a:rPr lang="en-US" altLang="ko-KR" sz="1200"/>
              <a:t>Order</a:t>
            </a:r>
            <a:r>
              <a:rPr lang="ko-KR" altLang="en-US" sz="1200"/>
              <a:t> 테이블만 카운트하면 됩니다</a:t>
            </a:r>
            <a:r>
              <a:rPr lang="en-US" altLang="ko-KR" sz="1200"/>
              <a:t>. </a:t>
            </a:r>
            <a:r>
              <a:rPr lang="ko-KR" altLang="en-US" sz="1200"/>
              <a:t>하지만 합쳐진 구조에서는 상품 개수만큼 행이 존재하므로 </a:t>
            </a:r>
            <a:r>
              <a:rPr lang="en-US" altLang="ko-KR" sz="1200"/>
              <a:t>DISTINCT(</a:t>
            </a:r>
            <a:r>
              <a:rPr lang="ko-KR" altLang="en-US" sz="1200"/>
              <a:t>주문번호</a:t>
            </a:r>
            <a:r>
              <a:rPr lang="en-US" altLang="ko-KR" sz="1200"/>
              <a:t>)</a:t>
            </a:r>
            <a:r>
              <a:rPr lang="ko-KR" altLang="en-US" sz="1200"/>
              <a:t>를 써서 중복을 제거해야 하는 번거로움이 생깁니다</a:t>
            </a:r>
            <a:r>
              <a:rPr lang="en-US" altLang="ko-KR" sz="120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E11D6A-CE50-9362-9BC5-B18C0B92E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0" y="7167562"/>
            <a:ext cx="4543425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05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4C1C43-54FD-687A-6EFC-4B27D5C74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5A0366C-0FEE-8995-A1C3-EDDA98510AFB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0CB283-6BB9-0583-B272-4CF49CA5F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[DB </a:t>
            </a:r>
            <a:r>
              <a:rPr lang="ko-KR" altLang="en-US"/>
              <a:t>설계</a:t>
            </a:r>
            <a:r>
              <a:rPr lang="en-US" altLang="ko-KR"/>
              <a:t>] </a:t>
            </a:r>
            <a:r>
              <a:rPr lang="ko-KR" altLang="en-US"/>
              <a:t>관계 및 상세 구조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A3E2C46-EAB8-48A9-4F05-1FE3CB3ED0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722859"/>
              </p:ext>
            </p:extLst>
          </p:nvPr>
        </p:nvGraphicFramePr>
        <p:xfrm>
          <a:off x="1206500" y="1866899"/>
          <a:ext cx="9817099" cy="4174136"/>
        </p:xfrm>
        <a:graphic>
          <a:graphicData uri="http://schemas.openxmlformats.org/drawingml/2006/table">
            <a:tbl>
              <a:tblPr/>
              <a:tblGrid>
                <a:gridCol w="1260948">
                  <a:extLst>
                    <a:ext uri="{9D8B030D-6E8A-4147-A177-3AD203B41FA5}">
                      <a16:colId xmlns:a16="http://schemas.microsoft.com/office/drawing/2014/main" val="1407439388"/>
                    </a:ext>
                  </a:extLst>
                </a:gridCol>
                <a:gridCol w="8556151">
                  <a:extLst>
                    <a:ext uri="{9D8B030D-6E8A-4147-A177-3AD203B41FA5}">
                      <a16:colId xmlns:a16="http://schemas.microsoft.com/office/drawing/2014/main" val="342691479"/>
                    </a:ext>
                  </a:extLst>
                </a:gridCol>
              </a:tblGrid>
              <a:tr h="2939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테이블명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컬럼명 및 제약조건 </a:t>
                      </a: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한 줄 요약</a:t>
                      </a: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9080746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User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email (Unique,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auth_provider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name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role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828464"/>
                  </a:ext>
                </a:extLst>
              </a:tr>
              <a:tr h="2939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Team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name (Unique, 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2626651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Product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team_id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name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price (Not Null, Check&gt;=0)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stock (Not Null, Check&gt;=0)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6318813"/>
                  </a:ext>
                </a:extLst>
              </a:tr>
              <a:tr h="2939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Cart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user_id (FK, Unique, 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6480922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CartItem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cart_id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product_id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quantity (Not Null, Min 1)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5780991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Orders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user_id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order_num (Unique,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order_date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status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293728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OrderItem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product_id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order_price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count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6021038"/>
                  </a:ext>
                </a:extLst>
              </a:tr>
              <a:tr h="5201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Delivery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order_id (FK, Unique,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receiver_name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address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tracking_num (Unique)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delivery_status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60848"/>
                  </a:ext>
                </a:extLst>
              </a:tr>
              <a:tr h="5201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Payment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order_id (FK, Unique,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payment_key (Unique,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method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amount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930569"/>
                  </a:ext>
                </a:extLst>
              </a:tr>
              <a:tr h="3738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Board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id (PK, AI)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user_id (FK, 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title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content (Not Null)</a:t>
                      </a:r>
                      <a:r>
                        <a:rPr 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created_at (Not Null)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6875" marR="66875" marT="44583" marB="4458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0733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66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12CA1-5374-0EB5-1851-78E4473B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3228B31-4343-6DB4-71CB-E6810E81665B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3FE3124-6BE6-80EC-4A14-55EEEBA8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</a:t>
            </a:r>
            <a:r>
              <a:rPr lang="ko-KR" altLang="en-US"/>
              <a:t>명세서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8E23DB-2D5D-5918-40D2-F584FE1A0A48}"/>
              </a:ext>
            </a:extLst>
          </p:cNvPr>
          <p:cNvSpPr txBox="1">
            <a:spLocks/>
          </p:cNvSpPr>
          <p:nvPr/>
        </p:nvSpPr>
        <p:spPr>
          <a:xfrm>
            <a:off x="840977" y="1228146"/>
            <a:ext cx="10515600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/>
              <a:t>RESTful API </a:t>
            </a:r>
            <a:r>
              <a:rPr lang="ko-KR" altLang="en-US" sz="1200"/>
              <a:t>원칙을 준수하며</a:t>
            </a:r>
            <a:r>
              <a:rPr lang="en-US" altLang="ko-KR" sz="1200"/>
              <a:t>, </a:t>
            </a:r>
            <a:r>
              <a:rPr lang="ko-KR" altLang="en-US" sz="1200"/>
              <a:t>자원</a:t>
            </a:r>
            <a:r>
              <a:rPr lang="en-US" altLang="ko-KR" sz="1200"/>
              <a:t>(Resource)</a:t>
            </a:r>
            <a:r>
              <a:rPr lang="ko-KR" altLang="en-US" sz="1200"/>
              <a:t>에 대한 </a:t>
            </a:r>
            <a:r>
              <a:rPr lang="en-US" altLang="ko-KR" sz="1200"/>
              <a:t>CRUD(Create, Read, Update, Delete) </a:t>
            </a:r>
            <a:r>
              <a:rPr lang="ko-KR" altLang="en-US" sz="1200"/>
              <a:t>처리를 명확히 설계하였습니다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115A08C-28F3-8BAB-E6D3-4BA23A5AAC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131072"/>
              </p:ext>
            </p:extLst>
          </p:nvPr>
        </p:nvGraphicFramePr>
        <p:xfrm>
          <a:off x="1074094" y="1744280"/>
          <a:ext cx="10134600" cy="2162448"/>
        </p:xfrm>
        <a:graphic>
          <a:graphicData uri="http://schemas.openxmlformats.org/drawingml/2006/table">
            <a:tbl>
              <a:tblPr/>
              <a:tblGrid>
                <a:gridCol w="838200">
                  <a:extLst>
                    <a:ext uri="{9D8B030D-6E8A-4147-A177-3AD203B41FA5}">
                      <a16:colId xmlns:a16="http://schemas.microsoft.com/office/drawing/2014/main" val="420786006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3740039456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3010880123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426405450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3812796144"/>
                    </a:ext>
                  </a:extLst>
                </a:gridCol>
              </a:tblGrid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분류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메서드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경로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 설명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주요 처리 로직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633084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GET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/api/product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전체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/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필터 조회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구단별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(teamId) 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필터링 및 검색 기능 포함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239043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POST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900"/>
                        <a:t>/api/admin/product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900"/>
                        <a:t>KBO 10</a:t>
                      </a:r>
                      <a:r>
                        <a:rPr lang="ko-KR" altLang="en-US" sz="900"/>
                        <a:t>개 구단 </a:t>
                      </a:r>
                      <a:r>
                        <a:rPr lang="en-US" altLang="ko-KR" sz="900"/>
                        <a:t>Enum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/>
                        <a:t>초기 재고를 입력할 때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9990571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GET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/api/product/{id}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상세 조회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정보 및 현재 재고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altLang="ko-KR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stock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반환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911556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POST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/api/cart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 상품 추가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cart_items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레코드 생성 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이미 있으면 수량 증가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835742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PUT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/api/cart-items/{id}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 수량 변경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quantity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수정 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(0 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미만 불가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600204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DELETE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/api/cart-items/{id}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 아이템 삭제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특정 </a:t>
                      </a:r>
                      <a:r>
                        <a:rPr lang="en-US" altLang="ko-KR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cart_item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레코드 제거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023662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주문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POST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/api/orders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주문 생성 및 결제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재고 차감 로직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실행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주문서 생성 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(JWT </a:t>
                      </a: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필수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683635"/>
                  </a:ext>
                </a:extLst>
              </a:tr>
              <a:tr h="20553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리뷰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POST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/api/reviews</a:t>
                      </a:r>
                      <a:endParaRPr 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리뷰 작성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구매 여부 확인 후 등록 </a:t>
                      </a:r>
                      <a:r>
                        <a:rPr lang="en-US" altLang="ko-KR" sz="9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(Optional)</a:t>
                      </a: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862661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A1DEBA4-15FC-8A26-FFE5-E6BCD31D8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860767"/>
              </p:ext>
            </p:extLst>
          </p:nvPr>
        </p:nvGraphicFramePr>
        <p:xfrm>
          <a:off x="1074093" y="3928964"/>
          <a:ext cx="10098732" cy="2222505"/>
        </p:xfrm>
        <a:graphic>
          <a:graphicData uri="http://schemas.openxmlformats.org/drawingml/2006/table">
            <a:tbl>
              <a:tblPr/>
              <a:tblGrid>
                <a:gridCol w="873199">
                  <a:extLst>
                    <a:ext uri="{9D8B030D-6E8A-4147-A177-3AD203B41FA5}">
                      <a16:colId xmlns:a16="http://schemas.microsoft.com/office/drawing/2014/main" val="420786006"/>
                    </a:ext>
                  </a:extLst>
                </a:gridCol>
                <a:gridCol w="860543">
                  <a:extLst>
                    <a:ext uri="{9D8B030D-6E8A-4147-A177-3AD203B41FA5}">
                      <a16:colId xmlns:a16="http://schemas.microsoft.com/office/drawing/2014/main" val="3740039456"/>
                    </a:ext>
                  </a:extLst>
                </a:gridCol>
                <a:gridCol w="2341185">
                  <a:extLst>
                    <a:ext uri="{9D8B030D-6E8A-4147-A177-3AD203B41FA5}">
                      <a16:colId xmlns:a16="http://schemas.microsoft.com/office/drawing/2014/main" val="3010880123"/>
                    </a:ext>
                  </a:extLst>
                </a:gridCol>
                <a:gridCol w="1683122">
                  <a:extLst>
                    <a:ext uri="{9D8B030D-6E8A-4147-A177-3AD203B41FA5}">
                      <a16:colId xmlns:a16="http://schemas.microsoft.com/office/drawing/2014/main" val="3426405450"/>
                    </a:ext>
                  </a:extLst>
                </a:gridCol>
                <a:gridCol w="4340683">
                  <a:extLst>
                    <a:ext uri="{9D8B030D-6E8A-4147-A177-3AD203B41FA5}">
                      <a16:colId xmlns:a16="http://schemas.microsoft.com/office/drawing/2014/main" val="3812796144"/>
                    </a:ext>
                  </a:extLst>
                </a:gridCol>
              </a:tblGrid>
              <a:tr h="2616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분류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메서드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경로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기능 설명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9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주요 처리 로직</a:t>
                      </a:r>
                      <a:endParaRPr lang="ko-KR" altLang="en-US" sz="9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334" marR="77334" marT="51556" marB="51556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633084"/>
                  </a:ext>
                </a:extLst>
              </a:tr>
              <a:tr h="26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상품관리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POST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latin typeface="Courier New" panose="02070309020205020404" pitchFamily="49" charset="0"/>
                        </a:rPr>
                        <a:t>/api/admin/products</a:t>
                      </a:r>
                      <a:endParaRPr lang="en-US" sz="9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신규 상품 등록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구단 매핑 및 이미지 </a:t>
                      </a:r>
                      <a:r>
                        <a:rPr lang="en-US" altLang="ko-KR" sz="900"/>
                        <a:t>URL </a:t>
                      </a:r>
                      <a:r>
                        <a:rPr lang="ko-KR" altLang="en-US" sz="900"/>
                        <a:t>업로드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239043"/>
                  </a:ext>
                </a:extLst>
              </a:tr>
              <a:tr h="26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상품관리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PUT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latin typeface="Courier New" panose="02070309020205020404" pitchFamily="49" charset="0"/>
                        </a:rPr>
                        <a:t>/api/admin/product/{id}</a:t>
                      </a:r>
                      <a:endParaRPr lang="en-US" sz="9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상품 정보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재고 수정</a:t>
                      </a:r>
                      <a:r>
                        <a:rPr lang="en-US" altLang="ko-KR" sz="900"/>
                        <a:t>(Update)</a:t>
                      </a:r>
                      <a:endParaRPr lang="ko-KR" altLang="en-US" sz="9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가격 변경</a:t>
                      </a:r>
                      <a:r>
                        <a:rPr lang="en-US" altLang="ko-KR" sz="900"/>
                        <a:t>, </a:t>
                      </a:r>
                      <a:r>
                        <a:rPr lang="ko-KR" altLang="en-US" sz="900"/>
                        <a:t>재고 수량 증감</a:t>
                      </a:r>
                      <a:r>
                        <a:rPr lang="en-US" altLang="ko-KR" sz="900"/>
                        <a:t>, </a:t>
                      </a:r>
                      <a:r>
                        <a:rPr lang="ko-KR" altLang="en-US" sz="900"/>
                        <a:t>상품 상세 설명 수정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911556"/>
                  </a:ext>
                </a:extLst>
              </a:tr>
              <a:tr h="26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상품관리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DELETE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latin typeface="Courier New" panose="02070309020205020404" pitchFamily="49" charset="0"/>
                        </a:rPr>
                        <a:t>/api/admin/product/{id}</a:t>
                      </a:r>
                      <a:endParaRPr lang="en-US" sz="9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상품 삭제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900" b="1"/>
                        <a:t>Soft Delete</a:t>
                      </a:r>
                      <a:r>
                        <a:rPr lang="ko-KR" altLang="en-US" sz="900"/>
                        <a:t> 처리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상태값 변경으로 데이터 보존</a:t>
                      </a:r>
                      <a:r>
                        <a:rPr lang="en-US" altLang="ko-KR" sz="900"/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835742"/>
                  </a:ext>
                </a:extLst>
              </a:tr>
              <a:tr h="26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주문관리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PUT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latin typeface="Courier New" panose="02070309020205020404" pitchFamily="49" charset="0"/>
                        </a:rPr>
                        <a:t>/api/admin/order/{id}</a:t>
                      </a:r>
                      <a:endParaRPr lang="en-US" sz="9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주문 상태 변경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00"/>
                        <a:t>배송 준비중 </a:t>
                      </a:r>
                      <a:r>
                        <a:rPr lang="en-US" altLang="ko-KR" sz="900"/>
                        <a:t>-&gt; </a:t>
                      </a:r>
                      <a:r>
                        <a:rPr lang="ko-KR" altLang="en-US" sz="900"/>
                        <a:t>배송 중 </a:t>
                      </a:r>
                      <a:r>
                        <a:rPr lang="en-US" altLang="ko-KR" sz="900"/>
                        <a:t>-&gt; </a:t>
                      </a:r>
                      <a:r>
                        <a:rPr lang="ko-KR" altLang="en-US" sz="900"/>
                        <a:t>배송 완료 상태 변경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600204"/>
                  </a:ext>
                </a:extLst>
              </a:tr>
              <a:tr h="906554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엔드포인트 단일화</a:t>
                      </a:r>
                      <a:r>
                        <a:rPr lang="en-US" altLang="ko-KR" sz="900"/>
                        <a:t>: </a:t>
                      </a:r>
                      <a:r>
                        <a:rPr lang="ko-KR" altLang="en-US" sz="900"/>
                        <a:t>모든 </a:t>
                      </a:r>
                      <a:r>
                        <a:rPr lang="en-US" altLang="ko-KR" sz="900"/>
                        <a:t>API </a:t>
                      </a:r>
                      <a:r>
                        <a:rPr lang="ko-KR" altLang="en-US" sz="900"/>
                        <a:t>경로를 </a:t>
                      </a:r>
                      <a:r>
                        <a:rPr lang="en-US" altLang="ko-KR" sz="900"/>
                        <a:t>/api</a:t>
                      </a:r>
                      <a:r>
                        <a:rPr lang="ko-KR" altLang="en-US" sz="900"/>
                        <a:t>로 통합하여 프론트엔드 호출 규격을 일원화함</a:t>
                      </a:r>
                      <a:r>
                        <a:rPr lang="en-US" altLang="ko-KR" sz="90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원자적 재고 관리</a:t>
                      </a:r>
                      <a:r>
                        <a:rPr lang="en-US" altLang="ko-KR" sz="900"/>
                        <a:t>: </a:t>
                      </a:r>
                      <a:r>
                        <a:rPr lang="ko-KR" altLang="en-US" sz="900"/>
                        <a:t>주문</a:t>
                      </a:r>
                      <a:r>
                        <a:rPr lang="en-US" altLang="ko-KR" sz="900"/>
                        <a:t>(POST /api/orders) </a:t>
                      </a:r>
                      <a:r>
                        <a:rPr lang="ko-KR" altLang="en-US" sz="900"/>
                        <a:t>처리 시 데이터 생성과 재고 차감을 하나의 트랜잭션으로 묶어 동시성 이슈 방지</a:t>
                      </a:r>
                      <a:r>
                        <a:rPr lang="en-US" altLang="ko-KR" sz="90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/>
                        <a:t>Soft Delete </a:t>
                      </a:r>
                      <a:r>
                        <a:rPr lang="ko-KR" altLang="en-US" sz="900"/>
                        <a:t>도입</a:t>
                      </a:r>
                      <a:r>
                        <a:rPr lang="en-US" altLang="ko-KR" sz="900"/>
                        <a:t>: </a:t>
                      </a:r>
                      <a:r>
                        <a:rPr lang="ko-KR" altLang="en-US" sz="900"/>
                        <a:t>상품 삭제 시 실제 데이터를 지우지 않고 상태값</a:t>
                      </a:r>
                      <a:r>
                        <a:rPr lang="en-US" altLang="ko-KR" sz="900"/>
                        <a:t>(deleted_at)</a:t>
                      </a:r>
                      <a:r>
                        <a:rPr lang="ko-KR" altLang="en-US" sz="900"/>
                        <a:t>만 변경하여 주문 이력의 데이터 무결성 보존</a:t>
                      </a:r>
                      <a:r>
                        <a:rPr lang="en-US" altLang="ko-KR" sz="90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리소스 경로 명확화</a:t>
                      </a:r>
                      <a:r>
                        <a:rPr lang="en-US" altLang="ko-KR" sz="900"/>
                        <a:t>: </a:t>
                      </a:r>
                      <a:r>
                        <a:rPr lang="ko-KR" altLang="en-US" sz="900"/>
                        <a:t>장바구니 수정 경로를 </a:t>
                      </a:r>
                      <a:r>
                        <a:rPr lang="en-US" altLang="ko-KR" sz="900"/>
                        <a:t>/api/cart-items/{id}</a:t>
                      </a:r>
                      <a:r>
                        <a:rPr lang="ko-KR" altLang="en-US" sz="900"/>
                        <a:t>로 구체화하여 조작 대상을 명확히 정의</a:t>
                      </a:r>
                      <a:r>
                        <a:rPr lang="en-US" altLang="ko-KR" sz="90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/>
                        <a:t>Cart: </a:t>
                      </a:r>
                      <a:r>
                        <a:rPr lang="ko-KR" altLang="en-US" sz="900"/>
                        <a:t>사용자별로 </a:t>
                      </a:r>
                      <a:r>
                        <a:rPr lang="en-US" altLang="ko-KR" sz="900"/>
                        <a:t>1</a:t>
                      </a:r>
                      <a:r>
                        <a:rPr lang="ko-KR" altLang="en-US" sz="900"/>
                        <a:t>개 존재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사용자 바구니의 주인 확인</a:t>
                      </a:r>
                      <a:r>
                        <a:rPr lang="en-US" altLang="ko-KR" sz="900"/>
                        <a:t>)-CartItem: </a:t>
                      </a:r>
                      <a:r>
                        <a:rPr lang="ko-KR" altLang="en-US" sz="900"/>
                        <a:t>바구니 안에 담긴 상품들 </a:t>
                      </a:r>
                      <a:r>
                        <a:rPr lang="en-US" altLang="ko-KR" sz="900"/>
                        <a:t>(N</a:t>
                      </a:r>
                      <a:r>
                        <a:rPr lang="ko-KR" altLang="en-US" sz="900"/>
                        <a:t>개 존재 가능</a:t>
                      </a:r>
                      <a:r>
                        <a:rPr lang="en-US" altLang="ko-KR" sz="90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만약 하나로 합치면 한 명의 사용자가 여러 상품을 담을 때마다 </a:t>
                      </a:r>
                      <a:r>
                        <a:rPr lang="en-US" altLang="ko-KR" sz="900"/>
                        <a:t>Cart </a:t>
                      </a:r>
                      <a:r>
                        <a:rPr lang="ko-KR" altLang="en-US" sz="900"/>
                        <a:t>행이 계속 중복 생성되어 데이터 낭비가 심해집니다</a:t>
                      </a:r>
                      <a:r>
                        <a:rPr lang="en-US" altLang="ko-KR" sz="900"/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0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0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0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000"/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023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60689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5DC334-706D-E4A1-7F11-AB36DD1F8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8F98C1-1245-6668-F4EE-DE1E55DDF2A2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CD3CD1-4272-BD1B-17C9-13BE5DC2D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테이블 관계 요약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20431FF-A8FB-7015-6F78-9722DB5A9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05084"/>
              </p:ext>
            </p:extLst>
          </p:nvPr>
        </p:nvGraphicFramePr>
        <p:xfrm>
          <a:off x="988114" y="1891088"/>
          <a:ext cx="10282272" cy="3217098"/>
        </p:xfrm>
        <a:graphic>
          <a:graphicData uri="http://schemas.openxmlformats.org/drawingml/2006/table">
            <a:tbl>
              <a:tblPr/>
              <a:tblGrid>
                <a:gridCol w="1206445">
                  <a:extLst>
                    <a:ext uri="{9D8B030D-6E8A-4147-A177-3AD203B41FA5}">
                      <a16:colId xmlns:a16="http://schemas.microsoft.com/office/drawing/2014/main" val="300919472"/>
                    </a:ext>
                  </a:extLst>
                </a:gridCol>
                <a:gridCol w="1698568">
                  <a:extLst>
                    <a:ext uri="{9D8B030D-6E8A-4147-A177-3AD203B41FA5}">
                      <a16:colId xmlns:a16="http://schemas.microsoft.com/office/drawing/2014/main" val="3372017706"/>
                    </a:ext>
                  </a:extLst>
                </a:gridCol>
                <a:gridCol w="7377259">
                  <a:extLst>
                    <a:ext uri="{9D8B030D-6E8A-4147-A177-3AD203B41FA5}">
                      <a16:colId xmlns:a16="http://schemas.microsoft.com/office/drawing/2014/main" val="2998579955"/>
                    </a:ext>
                  </a:extLst>
                </a:gridCol>
              </a:tblGrid>
              <a:tr h="32495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관계 유형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대상 테이블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관계 설명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331864"/>
                  </a:ext>
                </a:extLst>
              </a:tr>
              <a:tr h="886693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: N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Users ↔ Orders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한 명의 사용자는 여러 번의 주문을 생성할 수 있으며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altLang="ko-KR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user_id</a:t>
                      </a: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통해 주문 주체를 식별함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</a:t>
                      </a: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lnSpc>
                          <a:spcPct val="150000"/>
                        </a:lnSpc>
                        <a:buNone/>
                      </a:pP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2102999"/>
                  </a:ext>
                </a:extLst>
              </a:tr>
              <a:tr h="108133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: N : 1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Orders ↔ Products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다대다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(N:M) </a:t>
                      </a: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관계를 해소하기 위해 </a:t>
                      </a:r>
                      <a:r>
                        <a:rPr lang="en-US" altLang="ko-KR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order_items</a:t>
                      </a: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테이블을 매개체로 두어 주문 시점의 수량과 가격을 개별 관리함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</a:t>
                      </a: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lnSpc>
                          <a:spcPct val="150000"/>
                        </a:lnSpc>
                        <a:buNone/>
                      </a:pP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3196747"/>
                  </a:ext>
                </a:extLst>
              </a:tr>
              <a:tr h="886693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: 1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Users ↔ Cart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각 회원은 고유한 장바구니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altLang="ko-KR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cart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하나를 소유하며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altLang="ko-KR" sz="12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cart_items</a:t>
                      </a:r>
                      <a:r>
                        <a:rPr lang="ko-KR" altLang="en-US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통해 여러 상품을 임시 보관함</a:t>
                      </a: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</a:t>
                      </a: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lnSpc>
                          <a:spcPct val="150000"/>
                        </a:lnSpc>
                        <a:buNone/>
                      </a:pPr>
                      <a:endParaRPr lang="ko-KR" alt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1764" marR="111764" marT="74509" marB="74509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65297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D319E66-1339-3C48-4470-2521517F05C0}"/>
              </a:ext>
            </a:extLst>
          </p:cNvPr>
          <p:cNvSpPr txBox="1"/>
          <p:nvPr/>
        </p:nvSpPr>
        <p:spPr>
          <a:xfrm>
            <a:off x="997522" y="5314609"/>
            <a:ext cx="10106604" cy="610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/>
              <a:t>외부 </a:t>
            </a:r>
            <a:r>
              <a:rPr lang="en-US" altLang="ko-KR" sz="1200"/>
              <a:t>API: OpenWeatherMap API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연동 목적</a:t>
            </a:r>
            <a:r>
              <a:rPr lang="en-US" altLang="ko-KR" sz="1200"/>
              <a:t>: </a:t>
            </a:r>
            <a:r>
              <a:rPr lang="ko-KR" altLang="en-US" sz="1200"/>
              <a:t>전국 주요 구장</a:t>
            </a:r>
            <a:r>
              <a:rPr lang="en-US" altLang="ko-KR" sz="1200"/>
              <a:t>(</a:t>
            </a:r>
            <a:r>
              <a:rPr lang="ko-KR" altLang="en-US" sz="1200"/>
              <a:t>대구</a:t>
            </a:r>
            <a:r>
              <a:rPr lang="en-US" altLang="ko-KR" sz="1200"/>
              <a:t>, </a:t>
            </a:r>
            <a:r>
              <a:rPr lang="ko-KR" altLang="en-US" sz="1200"/>
              <a:t>잠실 등</a:t>
            </a:r>
            <a:r>
              <a:rPr lang="en-US" altLang="ko-KR" sz="1200"/>
              <a:t>)</a:t>
            </a:r>
            <a:r>
              <a:rPr lang="ko-KR" altLang="en-US" sz="1200"/>
              <a:t>의 실시간 날씨 정보 표출 및 </a:t>
            </a:r>
            <a:r>
              <a:rPr lang="en-US" altLang="ko-KR" sz="1200"/>
              <a:t>UX </a:t>
            </a:r>
            <a:r>
              <a:rPr lang="ko-KR" altLang="en-US" sz="1200"/>
              <a:t>향상</a:t>
            </a:r>
          </a:p>
        </p:txBody>
      </p:sp>
    </p:spTree>
    <p:extLst>
      <p:ext uri="{BB962C8B-B14F-4D97-AF65-F5344CB8AC3E}">
        <p14:creationId xmlns:p14="http://schemas.microsoft.com/office/powerpoint/2010/main" val="2165757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F235AF-9F5F-17CC-E8C2-D7FC0F6D0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2D0499D-DDCA-C7EF-9727-5843E3367F06}"/>
              </a:ext>
            </a:extLst>
          </p:cNvPr>
          <p:cNvSpPr/>
          <p:nvPr/>
        </p:nvSpPr>
        <p:spPr>
          <a:xfrm>
            <a:off x="8395855" y="1602463"/>
            <a:ext cx="3129205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0FA5A5B-8720-F822-1F3A-3F890A333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핵심 로직 시퀀스 다이어그램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AE0329-9FC2-562B-A52C-44702EDB7FC5}"/>
              </a:ext>
            </a:extLst>
          </p:cNvPr>
          <p:cNvSpPr txBox="1"/>
          <p:nvPr/>
        </p:nvSpPr>
        <p:spPr>
          <a:xfrm>
            <a:off x="896256" y="1293298"/>
            <a:ext cx="8246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사용자 </a:t>
            </a:r>
            <a:r>
              <a:rPr lang="en-US" altLang="ko-KR" sz="1200"/>
              <a:t>-&gt; </a:t>
            </a:r>
            <a:r>
              <a:rPr lang="ko-KR" altLang="en-US" sz="1200"/>
              <a:t>주문 </a:t>
            </a:r>
            <a:r>
              <a:rPr lang="en-US" altLang="ko-KR" sz="1200"/>
              <a:t>API -&gt; </a:t>
            </a:r>
            <a:r>
              <a:rPr lang="ko-KR" altLang="en-US" sz="1200"/>
              <a:t>재고 확인 </a:t>
            </a:r>
            <a:r>
              <a:rPr lang="en-US" altLang="ko-KR" sz="1200"/>
              <a:t>-&gt; </a:t>
            </a:r>
            <a:r>
              <a:rPr lang="ko-KR" altLang="en-US" sz="1200"/>
              <a:t>주문 생성 </a:t>
            </a:r>
            <a:r>
              <a:rPr lang="en-US" altLang="ko-KR" sz="1200"/>
              <a:t>-&gt; </a:t>
            </a:r>
            <a:r>
              <a:rPr lang="ko-KR" altLang="en-US" sz="1200"/>
              <a:t>재고 차감 </a:t>
            </a:r>
            <a:r>
              <a:rPr lang="en-US" altLang="ko-KR" sz="1200"/>
              <a:t>-&gt; </a:t>
            </a:r>
            <a:r>
              <a:rPr lang="ko-KR" altLang="en-US" sz="1200"/>
              <a:t>응답 </a:t>
            </a:r>
            <a:r>
              <a:rPr lang="en-US" altLang="ko-KR" sz="1200"/>
              <a:t>| Cart → Order → OrderItem → Stock </a:t>
            </a:r>
            <a:r>
              <a:rPr lang="ko-KR" altLang="en-US" sz="1200"/>
              <a:t>차감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B24D2-C44D-E0D8-623D-BFAA751E8BCF}"/>
              </a:ext>
            </a:extLst>
          </p:cNvPr>
          <p:cNvSpPr txBox="1"/>
          <p:nvPr/>
        </p:nvSpPr>
        <p:spPr>
          <a:xfrm>
            <a:off x="8700711" y="1769074"/>
            <a:ext cx="2567364" cy="4396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/>
              <a:t>핵심 로직 시퀀스 </a:t>
            </a:r>
            <a:endParaRPr lang="en-US" altLang="ko-KR" sz="1600" b="1"/>
          </a:p>
          <a:p>
            <a:r>
              <a:rPr lang="ko-KR" altLang="en-US" sz="1600" b="1"/>
              <a:t>다이어그램 특징</a:t>
            </a:r>
            <a:endParaRPr lang="en-US" altLang="ko-KR" sz="1600" b="1"/>
          </a:p>
          <a:p>
            <a:endParaRPr lang="ko-KR" altLang="en-US" sz="1600" b="1"/>
          </a:p>
          <a:p>
            <a:pPr algn="just">
              <a:lnSpc>
                <a:spcPct val="150000"/>
              </a:lnSpc>
            </a:pPr>
            <a:r>
              <a:rPr lang="ko-KR" altLang="en-US" sz="1200"/>
              <a:t>주문 생성 로직은 데이터 정합성이 핵심인 영역으로</a:t>
            </a:r>
            <a:r>
              <a:rPr lang="en-US" altLang="ko-KR" sz="1200"/>
              <a:t>,</a:t>
            </a:r>
          </a:p>
          <a:p>
            <a:pPr algn="just">
              <a:lnSpc>
                <a:spcPct val="150000"/>
              </a:lnSpc>
            </a:pPr>
            <a:r>
              <a:rPr lang="ko-KR" altLang="en-US" sz="1200"/>
              <a:t>주문 생성</a:t>
            </a:r>
            <a:r>
              <a:rPr lang="en-US" altLang="ko-KR" sz="1200"/>
              <a:t>, </a:t>
            </a:r>
            <a:r>
              <a:rPr lang="ko-KR" altLang="en-US" sz="1200"/>
              <a:t>주문 상세 생성</a:t>
            </a:r>
            <a:r>
              <a:rPr lang="en-US" altLang="ko-KR" sz="1200"/>
              <a:t>, </a:t>
            </a:r>
            <a:r>
              <a:rPr lang="ko-KR" altLang="en-US" sz="1200"/>
              <a:t>재고 차감</a:t>
            </a:r>
            <a:r>
              <a:rPr lang="en-US" altLang="ko-KR" sz="1200"/>
              <a:t>, </a:t>
            </a:r>
            <a:r>
              <a:rPr lang="ko-KR" altLang="en-US" sz="1200"/>
              <a:t>장바구니 정리를</a:t>
            </a:r>
          </a:p>
          <a:p>
            <a:pPr algn="just">
              <a:lnSpc>
                <a:spcPct val="150000"/>
              </a:lnSpc>
            </a:pPr>
            <a:r>
              <a:rPr lang="ko-KR" altLang="en-US" sz="1200"/>
              <a:t>하나의 트랜잭션으로 처리하여</a:t>
            </a:r>
          </a:p>
          <a:p>
            <a:pPr algn="just">
              <a:lnSpc>
                <a:spcPct val="150000"/>
              </a:lnSpc>
            </a:pPr>
            <a:r>
              <a:rPr lang="ko-KR" altLang="en-US" sz="1200"/>
              <a:t>부분 성공으로 인한 데이터 불일치를 방지하도록 설계하였다</a:t>
            </a:r>
            <a:r>
              <a:rPr lang="en-US" altLang="ko-KR" sz="1200"/>
              <a:t>.</a:t>
            </a:r>
          </a:p>
          <a:p>
            <a:pPr algn="just">
              <a:lnSpc>
                <a:spcPct val="150000"/>
              </a:lnSpc>
            </a:pPr>
            <a:endParaRPr lang="en-US" altLang="ko-KR" sz="1200"/>
          </a:p>
          <a:p>
            <a:pPr>
              <a:lnSpc>
                <a:spcPct val="150000"/>
              </a:lnSpc>
            </a:pPr>
            <a:r>
              <a:rPr lang="ko-KR" altLang="en-US" sz="1200" b="1"/>
              <a:t>주문 생성 과정 중 하나라도 실패하면 재고나 주문 데이터가 불일치할 수 있기 때문에 원자성을 보장하기 위해 트랜잭션으로 처리했습니다</a:t>
            </a:r>
            <a:r>
              <a:rPr lang="en-US" altLang="ko-KR" sz="1200" b="1"/>
              <a:t>.</a:t>
            </a:r>
            <a:endParaRPr lang="ko-KR" altLang="en-US" sz="1200" b="1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DF1C3A-8689-4139-17BB-F37AD1899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55" y="1690688"/>
            <a:ext cx="7973639" cy="460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312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EC9A5E-30F1-4768-BEDF-B52842F93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A6375C9-7AC2-2DB5-DCFA-2580562BB39E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2D55EBD-03CA-E5AB-C2CA-0CF92BAD9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826044"/>
              </p:ext>
            </p:extLst>
          </p:nvPr>
        </p:nvGraphicFramePr>
        <p:xfrm>
          <a:off x="989838" y="1825626"/>
          <a:ext cx="10212324" cy="2968809"/>
        </p:xfrm>
        <a:graphic>
          <a:graphicData uri="http://schemas.openxmlformats.org/drawingml/2006/table">
            <a:tbl>
              <a:tblPr/>
              <a:tblGrid>
                <a:gridCol w="534162">
                  <a:extLst>
                    <a:ext uri="{9D8B030D-6E8A-4147-A177-3AD203B41FA5}">
                      <a16:colId xmlns:a16="http://schemas.microsoft.com/office/drawing/2014/main" val="1260099142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74001143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3143977038"/>
                    </a:ext>
                  </a:extLst>
                </a:gridCol>
                <a:gridCol w="4750562">
                  <a:extLst>
                    <a:ext uri="{9D8B030D-6E8A-4147-A177-3AD203B41FA5}">
                      <a16:colId xmlns:a16="http://schemas.microsoft.com/office/drawing/2014/main" val="4120978418"/>
                    </a:ext>
                  </a:extLst>
                </a:gridCol>
              </a:tblGrid>
              <a:tr h="2397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순서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주체 </a:t>
                      </a:r>
                      <a:r>
                        <a:rPr lang="en-US" altLang="ko-KR" sz="1200"/>
                        <a:t>(</a:t>
                      </a:r>
                      <a:r>
                        <a:rPr lang="en-US" sz="1200"/>
                        <a:t>Actor)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동작 </a:t>
                      </a:r>
                      <a:r>
                        <a:rPr lang="en-US" altLang="ko-KR" sz="1200"/>
                        <a:t>(</a:t>
                      </a:r>
                      <a:r>
                        <a:rPr lang="en-US" sz="1200"/>
                        <a:t>Action)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데이터 연결 </a:t>
                      </a:r>
                      <a:r>
                        <a:rPr lang="en-US" altLang="ko-KR" sz="1200"/>
                        <a:t>(ID </a:t>
                      </a:r>
                      <a:r>
                        <a:rPr lang="ko-KR" altLang="en-US" sz="1200"/>
                        <a:t>기준</a:t>
                      </a:r>
                      <a:r>
                        <a:rPr lang="en-US" altLang="ko-KR" sz="1200"/>
                        <a:t>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004045"/>
                  </a:ext>
                </a:extLst>
              </a:tr>
              <a:tr h="41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1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사용자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결제 및 배송 정보 입력 후 주문 버튼 클릭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React → Spring Boot API </a:t>
                      </a:r>
                      <a:r>
                        <a:rPr lang="ko-KR" altLang="en-US" sz="1200"/>
                        <a:t>요청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968533"/>
                  </a:ext>
                </a:extLst>
              </a:tr>
              <a:tr h="41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2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백엔드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상품 정보 및 구단 재고 확인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product_id</a:t>
                      </a:r>
                      <a:r>
                        <a:rPr lang="ko-KR" altLang="en-US" sz="1200"/>
                        <a:t>로 상품 </a:t>
                      </a:r>
                      <a:r>
                        <a:rPr lang="en-US" altLang="ko-KR" sz="1200"/>
                        <a:t>+ </a:t>
                      </a:r>
                      <a:r>
                        <a:rPr lang="ko-KR" altLang="en-US" sz="1200"/>
                        <a:t>재고</a:t>
                      </a:r>
                      <a:r>
                        <a:rPr lang="en-US" altLang="ko-KR" sz="1200"/>
                        <a:t>(</a:t>
                      </a:r>
                      <a:r>
                        <a:rPr lang="en-US" sz="1200"/>
                        <a:t>stock) </a:t>
                      </a:r>
                      <a:r>
                        <a:rPr lang="ko-KR" altLang="en-US" sz="1200"/>
                        <a:t>조회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393477"/>
                  </a:ext>
                </a:extLst>
              </a:tr>
              <a:tr h="41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3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백엔드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배송 정보 생성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입력받은 주소 → </a:t>
                      </a:r>
                      <a:r>
                        <a:rPr lang="en-US" altLang="ko-KR" sz="1200">
                          <a:latin typeface="Courier New" panose="02070309020205020404" pitchFamily="49" charset="0"/>
                        </a:rPr>
                        <a:t>delivery_id</a:t>
                      </a:r>
                      <a:r>
                        <a:rPr lang="ko-KR" altLang="en-US" sz="1200"/>
                        <a:t> 생성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86141"/>
                  </a:ext>
                </a:extLst>
              </a:tr>
              <a:tr h="41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4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외부 </a:t>
                      </a:r>
                      <a:r>
                        <a:rPr lang="en-US" sz="1200"/>
                        <a:t>API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결제 승인 요청 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토스</a:t>
                      </a:r>
                      <a:r>
                        <a:rPr lang="en-US" altLang="ko-KR" sz="1200"/>
                        <a:t>/</a:t>
                      </a:r>
                      <a:r>
                        <a:rPr lang="ko-KR" altLang="en-US" sz="1200"/>
                        <a:t>카카오</a:t>
                      </a:r>
                      <a:r>
                        <a:rPr lang="en-US" altLang="ko-KR" sz="1200"/>
                        <a:t>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승인 성공 시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payment_id</a:t>
                      </a:r>
                      <a:r>
                        <a:rPr lang="en-US" sz="1200"/>
                        <a:t> </a:t>
                      </a:r>
                      <a:r>
                        <a:rPr lang="ko-KR" altLang="en-US" sz="1200"/>
                        <a:t>발급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4310"/>
                  </a:ext>
                </a:extLst>
              </a:tr>
              <a:tr h="5993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5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/>
                        <a:t>백엔드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주문</a:t>
                      </a:r>
                      <a:r>
                        <a:rPr lang="en-US" altLang="ko-KR" sz="1200"/>
                        <a:t>(</a:t>
                      </a:r>
                      <a:r>
                        <a:rPr lang="en-US" sz="1200"/>
                        <a:t>Order) </a:t>
                      </a:r>
                      <a:r>
                        <a:rPr lang="ko-KR" altLang="en-US" sz="1200"/>
                        <a:t>생성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user_id + delivery_id + payment_id</a:t>
                      </a:r>
                      <a:r>
                        <a:rPr lang="en-US" sz="1200"/>
                        <a:t> </a:t>
                      </a:r>
                      <a:r>
                        <a:rPr lang="ko-KR" altLang="en-US" sz="1200"/>
                        <a:t>연결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001401"/>
                  </a:ext>
                </a:extLst>
              </a:tr>
              <a:tr h="4195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/>
                        <a:t>6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/>
                        <a:t>DB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재고 차감 및 트랜잭션 완료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모든 작업 성공 시 </a:t>
                      </a:r>
                      <a:r>
                        <a:rPr lang="en-US" altLang="ko-KR" sz="1200"/>
                        <a:t>Commit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3788893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9863D11-CA45-7A0F-9DD0-D6B985B18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핵심 로직 시퀀스 다이어그램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C80C0B-6229-AC7D-4793-276FC2CE584C}"/>
              </a:ext>
            </a:extLst>
          </p:cNvPr>
          <p:cNvSpPr txBox="1"/>
          <p:nvPr/>
        </p:nvSpPr>
        <p:spPr>
          <a:xfrm>
            <a:off x="838200" y="7118009"/>
            <a:ext cx="10106604" cy="610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/>
              <a:t>외부 </a:t>
            </a:r>
            <a:r>
              <a:rPr lang="en-US" altLang="ko-KR" sz="1200"/>
              <a:t>API: OpenWeatherMap API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연동 목적</a:t>
            </a:r>
            <a:r>
              <a:rPr lang="en-US" altLang="ko-KR" sz="1200"/>
              <a:t>: </a:t>
            </a:r>
            <a:r>
              <a:rPr lang="ko-KR" altLang="en-US" sz="1200"/>
              <a:t>전국 주요 구장</a:t>
            </a:r>
            <a:r>
              <a:rPr lang="en-US" altLang="ko-KR" sz="1200"/>
              <a:t>(</a:t>
            </a:r>
            <a:r>
              <a:rPr lang="ko-KR" altLang="en-US" sz="1200"/>
              <a:t>대구</a:t>
            </a:r>
            <a:r>
              <a:rPr lang="en-US" altLang="ko-KR" sz="1200"/>
              <a:t>, </a:t>
            </a:r>
            <a:r>
              <a:rPr lang="ko-KR" altLang="en-US" sz="1200"/>
              <a:t>잠실 등</a:t>
            </a:r>
            <a:r>
              <a:rPr lang="en-US" altLang="ko-KR" sz="1200"/>
              <a:t>)</a:t>
            </a:r>
            <a:r>
              <a:rPr lang="ko-KR" altLang="en-US" sz="1200"/>
              <a:t>의 실시간 날씨 정보 표출 및 </a:t>
            </a:r>
            <a:r>
              <a:rPr lang="en-US" altLang="ko-KR" sz="1200"/>
              <a:t>UX </a:t>
            </a:r>
            <a:r>
              <a:rPr lang="ko-KR" altLang="en-US" sz="1200"/>
              <a:t>향상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6DB67-4D20-69AC-2AC5-CC99ECECF216}"/>
              </a:ext>
            </a:extLst>
          </p:cNvPr>
          <p:cNvSpPr txBox="1"/>
          <p:nvPr/>
        </p:nvSpPr>
        <p:spPr>
          <a:xfrm>
            <a:off x="896256" y="1293298"/>
            <a:ext cx="8246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사용자 </a:t>
            </a:r>
            <a:r>
              <a:rPr lang="en-US" altLang="ko-KR" sz="1200"/>
              <a:t>-&gt; </a:t>
            </a:r>
            <a:r>
              <a:rPr lang="ko-KR" altLang="en-US" sz="1200"/>
              <a:t>주문 </a:t>
            </a:r>
            <a:r>
              <a:rPr lang="en-US" altLang="ko-KR" sz="1200"/>
              <a:t>API -&gt; </a:t>
            </a:r>
            <a:r>
              <a:rPr lang="ko-KR" altLang="en-US" sz="1200"/>
              <a:t>재고 확인 </a:t>
            </a:r>
            <a:r>
              <a:rPr lang="en-US" altLang="ko-KR" sz="1200"/>
              <a:t>-&gt; </a:t>
            </a:r>
            <a:r>
              <a:rPr lang="ko-KR" altLang="en-US" sz="1200"/>
              <a:t>주문 생성 </a:t>
            </a:r>
            <a:r>
              <a:rPr lang="en-US" altLang="ko-KR" sz="1200"/>
              <a:t>-&gt; </a:t>
            </a:r>
            <a:r>
              <a:rPr lang="ko-KR" altLang="en-US" sz="1200"/>
              <a:t>재고 차감 </a:t>
            </a:r>
            <a:r>
              <a:rPr lang="en-US" altLang="ko-KR" sz="1200"/>
              <a:t>-&gt; </a:t>
            </a:r>
            <a:r>
              <a:rPr lang="ko-KR" altLang="en-US" sz="1200"/>
              <a:t>응답 </a:t>
            </a:r>
            <a:r>
              <a:rPr lang="en-US" altLang="ko-KR" sz="1200"/>
              <a:t>| Cart → Order → OrderItem → Stock </a:t>
            </a:r>
            <a:r>
              <a:rPr lang="ko-KR" altLang="en-US" sz="1200"/>
              <a:t>차감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85F25-9826-1A4D-DB5A-F08CEFFCCA8B}"/>
              </a:ext>
            </a:extLst>
          </p:cNvPr>
          <p:cNvSpPr txBox="1"/>
          <p:nvPr/>
        </p:nvSpPr>
        <p:spPr>
          <a:xfrm>
            <a:off x="1099943" y="4971995"/>
            <a:ext cx="10106604" cy="1164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/>
              <a:t>배송 정보 생성</a:t>
            </a:r>
            <a:r>
              <a:rPr lang="en-US" altLang="ko-KR" sz="1200"/>
              <a:t>: </a:t>
            </a:r>
            <a:r>
              <a:rPr lang="ko-KR" altLang="en-US" sz="1200"/>
              <a:t>사용자가 입력한 주소로 </a:t>
            </a:r>
            <a:r>
              <a:rPr lang="en-US" altLang="ko-KR" sz="1200"/>
              <a:t>delivery_id</a:t>
            </a:r>
            <a:r>
              <a:rPr lang="ko-KR" altLang="en-US" sz="1200"/>
              <a:t>를 먼저 생성합니다</a:t>
            </a:r>
            <a:r>
              <a:rPr lang="en-US" altLang="ko-KR" sz="12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결제 승인</a:t>
            </a:r>
            <a:r>
              <a:rPr lang="en-US" altLang="ko-KR" sz="1200"/>
              <a:t>: </a:t>
            </a:r>
            <a:r>
              <a:rPr lang="ko-KR" altLang="en-US" sz="1200"/>
              <a:t>외부 </a:t>
            </a:r>
            <a:r>
              <a:rPr lang="en-US" altLang="ko-KR" sz="1200"/>
              <a:t>API(</a:t>
            </a:r>
            <a:r>
              <a:rPr lang="ko-KR" altLang="en-US" sz="1200"/>
              <a:t>토스</a:t>
            </a:r>
            <a:r>
              <a:rPr lang="en-US" altLang="ko-KR" sz="1200"/>
              <a:t>/</a:t>
            </a:r>
            <a:r>
              <a:rPr lang="ko-KR" altLang="en-US" sz="1200"/>
              <a:t>카카오</a:t>
            </a:r>
            <a:r>
              <a:rPr lang="en-US" altLang="ko-KR" sz="1200"/>
              <a:t>)</a:t>
            </a:r>
            <a:r>
              <a:rPr lang="ko-KR" altLang="en-US" sz="1200"/>
              <a:t>를 통해 </a:t>
            </a:r>
            <a:r>
              <a:rPr lang="en-US" altLang="ko-KR" sz="1200"/>
              <a:t>payment_id</a:t>
            </a:r>
            <a:r>
              <a:rPr lang="ko-KR" altLang="en-US" sz="1200"/>
              <a:t>를 발급받습니다</a:t>
            </a:r>
            <a:r>
              <a:rPr lang="en-US" altLang="ko-KR" sz="12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데이터 연결 </a:t>
            </a:r>
            <a:r>
              <a:rPr lang="en-US" altLang="ko-KR" sz="1200"/>
              <a:t>(ID </a:t>
            </a:r>
            <a:r>
              <a:rPr lang="ko-KR" altLang="en-US" sz="1200"/>
              <a:t>기준</a:t>
            </a:r>
            <a:r>
              <a:rPr lang="en-US" altLang="ko-KR" sz="1200"/>
              <a:t>): </a:t>
            </a:r>
            <a:r>
              <a:rPr lang="ko-KR" altLang="en-US" sz="1200"/>
              <a:t>생성된 </a:t>
            </a:r>
            <a:r>
              <a:rPr lang="en-US" altLang="ko-KR" sz="1200"/>
              <a:t>delivery_id</a:t>
            </a:r>
            <a:r>
              <a:rPr lang="ko-KR" altLang="en-US" sz="1200"/>
              <a:t>와 </a:t>
            </a:r>
            <a:r>
              <a:rPr lang="en-US" altLang="ko-KR" sz="1200"/>
              <a:t>payment_id</a:t>
            </a:r>
            <a:r>
              <a:rPr lang="ko-KR" altLang="en-US" sz="1200"/>
              <a:t>를 </a:t>
            </a:r>
            <a:r>
              <a:rPr lang="en-US" altLang="ko-KR" sz="1200"/>
              <a:t>user_id</a:t>
            </a:r>
            <a:r>
              <a:rPr lang="ko-KR" altLang="en-US" sz="1200"/>
              <a:t>와 묶어 최종 주문</a:t>
            </a:r>
            <a:r>
              <a:rPr lang="en-US" altLang="ko-KR" sz="1200"/>
              <a:t>(Order)</a:t>
            </a:r>
            <a:r>
              <a:rPr lang="ko-KR" altLang="en-US" sz="1200"/>
              <a:t>을 완성합니다</a:t>
            </a:r>
            <a:r>
              <a:rPr lang="en-US" altLang="ko-KR" sz="12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/>
              <a:t>트랜잭션 보장</a:t>
            </a:r>
            <a:r>
              <a:rPr lang="en-US" altLang="ko-KR" sz="1200"/>
              <a:t>: </a:t>
            </a:r>
            <a:r>
              <a:rPr lang="ko-KR" altLang="en-US" sz="1200"/>
              <a:t>이 모든 과정</a:t>
            </a:r>
            <a:r>
              <a:rPr lang="en-US" altLang="ko-KR" sz="1200"/>
              <a:t>(</a:t>
            </a:r>
            <a:r>
              <a:rPr lang="ko-KR" altLang="en-US" sz="1200"/>
              <a:t>주문 생성</a:t>
            </a:r>
            <a:r>
              <a:rPr lang="en-US" altLang="ko-KR" sz="1200"/>
              <a:t>, </a:t>
            </a:r>
            <a:r>
              <a:rPr lang="ko-KR" altLang="en-US" sz="1200"/>
              <a:t>재고 차감</a:t>
            </a:r>
            <a:r>
              <a:rPr lang="en-US" altLang="ko-KR" sz="1200"/>
              <a:t>, </a:t>
            </a:r>
            <a:r>
              <a:rPr lang="ko-KR" altLang="en-US" sz="1200"/>
              <a:t>장바구니 정리</a:t>
            </a:r>
            <a:r>
              <a:rPr lang="en-US" altLang="ko-KR" sz="1200"/>
              <a:t>)</a:t>
            </a:r>
            <a:r>
              <a:rPr lang="ko-KR" altLang="en-US" sz="1200"/>
              <a:t>은 하나의 트랜잭션으로 처리되어 하나라도 실패하면 모두 취소됩니다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9056247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9A5795-CD54-28BD-83C6-FC421F32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542BC28-502A-466A-ED57-2BCEF0E08232}"/>
              </a:ext>
            </a:extLst>
          </p:cNvPr>
          <p:cNvSpPr/>
          <p:nvPr/>
        </p:nvSpPr>
        <p:spPr>
          <a:xfrm>
            <a:off x="615143" y="1602463"/>
            <a:ext cx="10909918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6CB7E2E-17E2-72A2-23A3-2C6B53EDB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핵심 로직 시퀀스 다이어그램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0749DC-1BDA-71B2-D732-E2D41B2CA062}"/>
              </a:ext>
            </a:extLst>
          </p:cNvPr>
          <p:cNvSpPr txBox="1"/>
          <p:nvPr/>
        </p:nvSpPr>
        <p:spPr>
          <a:xfrm>
            <a:off x="896256" y="1293298"/>
            <a:ext cx="8246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사용자 </a:t>
            </a:r>
            <a:r>
              <a:rPr lang="en-US" altLang="ko-KR" sz="1200"/>
              <a:t>-&gt; </a:t>
            </a:r>
            <a:r>
              <a:rPr lang="ko-KR" altLang="en-US" sz="1200"/>
              <a:t>주문 </a:t>
            </a:r>
            <a:r>
              <a:rPr lang="en-US" altLang="ko-KR" sz="1200"/>
              <a:t>API -&gt; </a:t>
            </a:r>
            <a:r>
              <a:rPr lang="ko-KR" altLang="en-US" sz="1200"/>
              <a:t>재고 확인 </a:t>
            </a:r>
            <a:r>
              <a:rPr lang="en-US" altLang="ko-KR" sz="1200"/>
              <a:t>-&gt; </a:t>
            </a:r>
            <a:r>
              <a:rPr lang="ko-KR" altLang="en-US" sz="1200"/>
              <a:t>주문 생성 </a:t>
            </a:r>
            <a:r>
              <a:rPr lang="en-US" altLang="ko-KR" sz="1200"/>
              <a:t>-&gt; </a:t>
            </a:r>
            <a:r>
              <a:rPr lang="ko-KR" altLang="en-US" sz="1200"/>
              <a:t>재고 차감 </a:t>
            </a:r>
            <a:r>
              <a:rPr lang="en-US" altLang="ko-KR" sz="1200"/>
              <a:t>-&gt; </a:t>
            </a:r>
            <a:r>
              <a:rPr lang="ko-KR" altLang="en-US" sz="1200"/>
              <a:t>응답 </a:t>
            </a:r>
            <a:r>
              <a:rPr lang="en-US" altLang="ko-KR" sz="1200"/>
              <a:t>| Cart → Order → OrderItem → Stock </a:t>
            </a:r>
            <a:r>
              <a:rPr lang="ko-KR" altLang="en-US" sz="1200"/>
              <a:t>차감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CE4D84-6A14-6C85-CB77-884F1AAE2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01" y="1747937"/>
            <a:ext cx="8728365" cy="439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0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1606FB-7B73-E890-37E1-EDC03213E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48D8C2-067D-B23C-FF6A-7EC06EB9D1C1}"/>
              </a:ext>
            </a:extLst>
          </p:cNvPr>
          <p:cNvSpPr/>
          <p:nvPr/>
        </p:nvSpPr>
        <p:spPr>
          <a:xfrm>
            <a:off x="615143" y="1602463"/>
            <a:ext cx="10909918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4FED54E-48DA-123F-343F-EA5800200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핵심 로직 시퀀스 다이어그램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012A0-D6EE-1E0B-9776-0542BFC43A26}"/>
              </a:ext>
            </a:extLst>
          </p:cNvPr>
          <p:cNvSpPr txBox="1"/>
          <p:nvPr/>
        </p:nvSpPr>
        <p:spPr>
          <a:xfrm>
            <a:off x="896256" y="1293298"/>
            <a:ext cx="8246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사용자 </a:t>
            </a:r>
            <a:r>
              <a:rPr lang="en-US" altLang="ko-KR" sz="1200"/>
              <a:t>-&gt; </a:t>
            </a:r>
            <a:r>
              <a:rPr lang="ko-KR" altLang="en-US" sz="1200"/>
              <a:t>주문 </a:t>
            </a:r>
            <a:r>
              <a:rPr lang="en-US" altLang="ko-KR" sz="1200"/>
              <a:t>API -&gt; </a:t>
            </a:r>
            <a:r>
              <a:rPr lang="ko-KR" altLang="en-US" sz="1200"/>
              <a:t>재고 확인 </a:t>
            </a:r>
            <a:r>
              <a:rPr lang="en-US" altLang="ko-KR" sz="1200"/>
              <a:t>-&gt; </a:t>
            </a:r>
            <a:r>
              <a:rPr lang="ko-KR" altLang="en-US" sz="1200"/>
              <a:t>주문 생성 </a:t>
            </a:r>
            <a:r>
              <a:rPr lang="en-US" altLang="ko-KR" sz="1200"/>
              <a:t>-&gt; </a:t>
            </a:r>
            <a:r>
              <a:rPr lang="ko-KR" altLang="en-US" sz="1200"/>
              <a:t>재고 차감 </a:t>
            </a:r>
            <a:r>
              <a:rPr lang="en-US" altLang="ko-KR" sz="1200"/>
              <a:t>-&gt; </a:t>
            </a:r>
            <a:r>
              <a:rPr lang="ko-KR" altLang="en-US" sz="1200"/>
              <a:t>응답 </a:t>
            </a:r>
            <a:r>
              <a:rPr lang="en-US" altLang="ko-KR" sz="1200"/>
              <a:t>| Cart → Order → OrderItem → Stock </a:t>
            </a:r>
            <a:r>
              <a:rPr lang="ko-KR" altLang="en-US" sz="1200"/>
              <a:t>차감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FE135C6-DB9E-5E93-17E7-04E508C27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231" y="1955801"/>
            <a:ext cx="8102599" cy="4051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ACF03E-0AE4-CBAB-539D-EAD6624C3B44}"/>
              </a:ext>
            </a:extLst>
          </p:cNvPr>
          <p:cNvSpPr txBox="1"/>
          <p:nvPr/>
        </p:nvSpPr>
        <p:spPr>
          <a:xfrm>
            <a:off x="9142482" y="2072761"/>
            <a:ext cx="2211318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JWT </a:t>
            </a:r>
            <a:r>
              <a:rPr lang="ko-KR" altLang="en-US" b="1"/>
              <a:t>구조</a:t>
            </a:r>
          </a:p>
          <a:p>
            <a:pPr>
              <a:lnSpc>
                <a:spcPct val="150000"/>
              </a:lnSpc>
            </a:pPr>
            <a:r>
              <a:rPr lang="en-US" altLang="ko-KR" sz="1200" b="1"/>
              <a:t>Header:</a:t>
            </a:r>
            <a:r>
              <a:rPr lang="ko-KR" altLang="en-US" sz="1200"/>
              <a:t> </a:t>
            </a:r>
            <a:endParaRPr lang="en-US" altLang="ko-KR" sz="1200"/>
          </a:p>
          <a:p>
            <a:pPr>
              <a:lnSpc>
                <a:spcPct val="150000"/>
              </a:lnSpc>
            </a:pPr>
            <a:r>
              <a:rPr lang="ko-KR" altLang="en-US" sz="1200"/>
              <a:t>알고리즘 정보 </a:t>
            </a:r>
            <a:r>
              <a:rPr lang="en-US" altLang="ko-KR" sz="1200"/>
              <a:t>(HS256)</a:t>
            </a:r>
            <a:br>
              <a:rPr lang="en-US" altLang="ko-KR" sz="1200"/>
            </a:br>
            <a:r>
              <a:rPr lang="en-US" altLang="ko-KR" sz="1200" b="1"/>
              <a:t>Payload:</a:t>
            </a:r>
            <a:r>
              <a:rPr lang="ko-KR" altLang="en-US" sz="1200"/>
              <a:t> </a:t>
            </a:r>
            <a:endParaRPr lang="en-US" altLang="ko-KR" sz="1200"/>
          </a:p>
          <a:p>
            <a:pPr>
              <a:lnSpc>
                <a:spcPct val="150000"/>
              </a:lnSpc>
            </a:pPr>
            <a:r>
              <a:rPr lang="en-US" altLang="ko-KR" sz="1200"/>
              <a:t>userId, role, exp (</a:t>
            </a:r>
            <a:r>
              <a:rPr lang="ko-KR" altLang="en-US" sz="1200"/>
              <a:t>만료시간</a:t>
            </a:r>
            <a:r>
              <a:rPr lang="en-US" altLang="ko-KR" sz="1200"/>
              <a:t>)</a:t>
            </a:r>
            <a:br>
              <a:rPr lang="en-US" altLang="ko-KR" sz="1200"/>
            </a:br>
            <a:r>
              <a:rPr lang="en-US" altLang="ko-KR" sz="1200" b="1"/>
              <a:t>Signature:</a:t>
            </a:r>
            <a:r>
              <a:rPr lang="ko-KR" altLang="en-US" sz="1200"/>
              <a:t> </a:t>
            </a:r>
            <a:endParaRPr lang="en-US" altLang="ko-KR" sz="1200"/>
          </a:p>
          <a:p>
            <a:pPr>
              <a:lnSpc>
                <a:spcPct val="150000"/>
              </a:lnSpc>
            </a:pPr>
            <a:r>
              <a:rPr lang="ko-KR" altLang="en-US" sz="1200"/>
              <a:t>서버의 비밀키로 서명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1-3</a:t>
            </a:r>
            <a:r>
              <a:rPr lang="ko-KR" altLang="en-US" sz="1200"/>
              <a:t>단계</a:t>
            </a:r>
            <a:r>
              <a:rPr lang="en-US" altLang="ko-KR" sz="1200"/>
              <a:t>: JWT </a:t>
            </a:r>
            <a:r>
              <a:rPr lang="ko-KR" altLang="en-US" sz="1200"/>
              <a:t>인증 과정 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4-6</a:t>
            </a:r>
            <a:r>
              <a:rPr lang="ko-KR" altLang="en-US" sz="1200"/>
              <a:t>단계</a:t>
            </a:r>
            <a:r>
              <a:rPr lang="en-US" altLang="ko-KR" sz="1200"/>
              <a:t>: </a:t>
            </a:r>
            <a:r>
              <a:rPr lang="ko-KR" altLang="en-US" sz="1200"/>
              <a:t>트랜잭션 시작 및 재고 확인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7-10</a:t>
            </a:r>
            <a:r>
              <a:rPr lang="ko-KR" altLang="en-US" sz="1200"/>
              <a:t>단계</a:t>
            </a:r>
            <a:r>
              <a:rPr lang="en-US" altLang="ko-KR" sz="1200"/>
              <a:t>: </a:t>
            </a:r>
            <a:r>
              <a:rPr lang="ko-KR" altLang="en-US" sz="1200"/>
              <a:t>성공 시 처리 </a:t>
            </a:r>
            <a:r>
              <a:rPr lang="en-US" altLang="ko-KR" sz="1200"/>
              <a:t>(</a:t>
            </a:r>
            <a:r>
              <a:rPr lang="ko-KR" altLang="en-US" sz="1200"/>
              <a:t>재고 차감 → 주문 생성</a:t>
            </a:r>
            <a:r>
              <a:rPr lang="en-US" altLang="ko-KR" sz="1200"/>
              <a:t>)</a:t>
            </a:r>
          </a:p>
          <a:p>
            <a:endParaRPr lang="en-US" altLang="ko-KR" sz="1200"/>
          </a:p>
          <a:p>
            <a:r>
              <a:rPr lang="ko-KR" altLang="en-US" sz="1200"/>
              <a:t>예외 처리</a:t>
            </a:r>
            <a:r>
              <a:rPr lang="en-US" altLang="ko-KR" sz="1200"/>
              <a:t>: </a:t>
            </a:r>
            <a:r>
              <a:rPr lang="ko-KR" altLang="en-US" sz="1200"/>
              <a:t>재고 부족 시 롤백</a:t>
            </a:r>
          </a:p>
        </p:txBody>
      </p:sp>
    </p:spTree>
    <p:extLst>
      <p:ext uri="{BB962C8B-B14F-4D97-AF65-F5344CB8AC3E}">
        <p14:creationId xmlns:p14="http://schemas.microsoft.com/office/powerpoint/2010/main" val="1085345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62FAE9-FD42-A643-37F3-E45422D9A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E41726-7A23-052D-CF71-CF43CFC14EA7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9E888-8D2E-DE1E-FE1E-AC516ADC4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개발단계 일정🥊😆</a:t>
            </a:r>
            <a:r>
              <a:rPr lang="en-US" altLang="ko-KR"/>
              <a:t>-</a:t>
            </a:r>
            <a:r>
              <a:rPr lang="ko-KR" altLang="en-US"/>
              <a:t>이슈기록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EFF5DC7-C59D-1C8F-4C90-DA205EFEF766}"/>
              </a:ext>
            </a:extLst>
          </p:cNvPr>
          <p:cNvSpPr txBox="1">
            <a:spLocks/>
          </p:cNvSpPr>
          <p:nvPr/>
        </p:nvSpPr>
        <p:spPr>
          <a:xfrm>
            <a:off x="1005677" y="1919541"/>
            <a:ext cx="10112897" cy="36684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dirty="0"/>
              <a:t>20251219 </a:t>
            </a:r>
            <a:r>
              <a:rPr lang="ko-KR" altLang="en-US" sz="1600" dirty="0"/>
              <a:t>기획</a:t>
            </a:r>
            <a:r>
              <a:rPr lang="en-US" altLang="ko-KR" sz="1600" dirty="0"/>
              <a:t>:</a:t>
            </a:r>
            <a:r>
              <a:rPr lang="ko-KR" altLang="en-US" sz="1600" dirty="0"/>
              <a:t>설계도 구성 </a:t>
            </a:r>
            <a:endParaRPr lang="en-US" altLang="ko-KR" sz="1600" dirty="0"/>
          </a:p>
          <a:p>
            <a:r>
              <a:rPr lang="en-US" altLang="ko-KR" sz="1600" dirty="0"/>
              <a:t>20251230 </a:t>
            </a:r>
            <a:r>
              <a:rPr lang="ko-KR" altLang="en-US" sz="1600" dirty="0"/>
              <a:t>기획</a:t>
            </a:r>
            <a:r>
              <a:rPr lang="en-US" altLang="ko-KR" sz="1600" dirty="0"/>
              <a:t>:</a:t>
            </a:r>
            <a:r>
              <a:rPr lang="ko-KR" altLang="en-US" sz="1600" dirty="0" err="1"/>
              <a:t>컨셉확정</a:t>
            </a:r>
            <a:endParaRPr lang="en-US" altLang="ko-KR" sz="1600" dirty="0"/>
          </a:p>
          <a:p>
            <a:r>
              <a:rPr lang="en-US" altLang="ko-KR" sz="1600" dirty="0"/>
              <a:t>20251231 </a:t>
            </a:r>
            <a:r>
              <a:rPr lang="ko-KR" altLang="en-US" sz="1600" dirty="0"/>
              <a:t>기획</a:t>
            </a:r>
            <a:r>
              <a:rPr lang="en-US" altLang="ko-KR" sz="1600" dirty="0"/>
              <a:t>:</a:t>
            </a:r>
            <a:r>
              <a:rPr lang="ko-KR" altLang="en-US" sz="1600" dirty="0"/>
              <a:t>설계완료</a:t>
            </a:r>
            <a:endParaRPr lang="en-US" altLang="ko-KR" sz="1600" dirty="0"/>
          </a:p>
          <a:p>
            <a:r>
              <a:rPr lang="en-US" altLang="ko-KR" sz="1600" dirty="0"/>
              <a:t>20260105 </a:t>
            </a:r>
            <a:r>
              <a:rPr lang="ko-KR" altLang="en-US" sz="1600" dirty="0"/>
              <a:t>설계</a:t>
            </a:r>
            <a:r>
              <a:rPr lang="en-US" altLang="ko-KR" sz="1600" dirty="0"/>
              <a:t>:</a:t>
            </a:r>
            <a:r>
              <a:rPr lang="ko-KR" altLang="en-US" sz="1600" dirty="0"/>
              <a:t>수정 및 </a:t>
            </a:r>
            <a:r>
              <a:rPr lang="en-US" altLang="ko-KR" sz="1600" dirty="0"/>
              <a:t>DB</a:t>
            </a:r>
            <a:r>
              <a:rPr lang="ko-KR" altLang="en-US" sz="1600" dirty="0"/>
              <a:t>생성</a:t>
            </a:r>
            <a:r>
              <a:rPr lang="en-US" altLang="ko-KR" sz="1600" dirty="0"/>
              <a:t>/</a:t>
            </a:r>
            <a:r>
              <a:rPr lang="ko-KR" altLang="en-US" sz="1600" dirty="0" err="1"/>
              <a:t>리액트</a:t>
            </a:r>
            <a:r>
              <a:rPr lang="ko-KR" altLang="en-US" sz="1600" dirty="0"/>
              <a:t> 연결</a:t>
            </a:r>
            <a:endParaRPr lang="en-US" altLang="ko-KR" sz="1600" dirty="0"/>
          </a:p>
          <a:p>
            <a:r>
              <a:rPr lang="en-US" altLang="ko-KR" sz="1600" dirty="0"/>
              <a:t>20261006 </a:t>
            </a:r>
            <a:r>
              <a:rPr lang="ko-KR" altLang="en-US" sz="1600" dirty="0"/>
              <a:t>설계</a:t>
            </a:r>
            <a:r>
              <a:rPr lang="en-US" altLang="ko-KR" sz="1600" dirty="0"/>
              <a:t>:</a:t>
            </a:r>
            <a:r>
              <a:rPr lang="ko-KR" altLang="en-US" sz="1600" dirty="0"/>
              <a:t>수정</a:t>
            </a:r>
            <a:r>
              <a:rPr lang="en-US" altLang="ko-KR" sz="1600" dirty="0"/>
              <a:t>-</a:t>
            </a:r>
            <a:r>
              <a:rPr lang="ko-KR" altLang="en-US" sz="1600" dirty="0"/>
              <a:t>결제시스템</a:t>
            </a:r>
            <a:r>
              <a:rPr lang="en-US" altLang="ko-KR" sz="1600" dirty="0"/>
              <a:t>/</a:t>
            </a:r>
            <a:r>
              <a:rPr lang="ko-KR" altLang="en-US" sz="1600" dirty="0"/>
              <a:t>배송정보</a:t>
            </a:r>
            <a:r>
              <a:rPr lang="en-US" altLang="ko-KR" sz="1600" dirty="0"/>
              <a:t>/</a:t>
            </a:r>
            <a:r>
              <a:rPr lang="ko-KR" altLang="en-US" sz="1600" dirty="0"/>
              <a:t>구단정보추가 </a:t>
            </a:r>
            <a:r>
              <a:rPr lang="en-US" altLang="ko-KR" sz="1600" dirty="0"/>
              <a:t>: DB</a:t>
            </a:r>
            <a:r>
              <a:rPr lang="ko-KR" altLang="en-US" sz="1600" dirty="0"/>
              <a:t>수정</a:t>
            </a:r>
            <a:r>
              <a:rPr lang="en-US" altLang="ko-KR" sz="1600" dirty="0"/>
              <a:t>-</a:t>
            </a:r>
            <a:r>
              <a:rPr lang="ko-KR" altLang="en-US" sz="1600" dirty="0"/>
              <a:t>갈아엎음💥</a:t>
            </a:r>
            <a:endParaRPr lang="en-US" altLang="ko-KR" sz="1600" dirty="0"/>
          </a:p>
          <a:p>
            <a:r>
              <a:rPr lang="en-US" altLang="ko-KR" sz="1600" dirty="0"/>
              <a:t>20261007 </a:t>
            </a:r>
            <a:r>
              <a:rPr lang="ko-KR" altLang="en-US" sz="1600" dirty="0"/>
              <a:t>설계</a:t>
            </a:r>
            <a:r>
              <a:rPr lang="en-US" altLang="ko-KR" sz="1600" dirty="0"/>
              <a:t>:</a:t>
            </a:r>
            <a:r>
              <a:rPr lang="ko-KR" altLang="en-US" sz="1600" dirty="0"/>
              <a:t>수정</a:t>
            </a:r>
            <a:r>
              <a:rPr lang="en-US" altLang="ko-KR" sz="1600" dirty="0"/>
              <a:t>-</a:t>
            </a:r>
            <a:r>
              <a:rPr lang="ko-KR" altLang="en-US" sz="1600" dirty="0"/>
              <a:t>결제시스템</a:t>
            </a:r>
            <a:r>
              <a:rPr lang="en-US" altLang="ko-KR" sz="1600" dirty="0"/>
              <a:t>/</a:t>
            </a:r>
            <a:r>
              <a:rPr lang="ko-KR" altLang="en-US" sz="1600" dirty="0"/>
              <a:t>배송정보</a:t>
            </a:r>
            <a:r>
              <a:rPr lang="en-US" altLang="ko-KR" sz="1600" dirty="0"/>
              <a:t>/</a:t>
            </a:r>
            <a:r>
              <a:rPr lang="ko-KR" altLang="en-US" sz="1600" dirty="0"/>
              <a:t>구단정보추가 </a:t>
            </a:r>
            <a:r>
              <a:rPr lang="en-US" altLang="ko-KR" sz="1600" dirty="0"/>
              <a:t>: ERD</a:t>
            </a:r>
            <a:r>
              <a:rPr lang="ko-KR" altLang="en-US" sz="1600" dirty="0"/>
              <a:t>수정</a:t>
            </a:r>
            <a:endParaRPr lang="en-US" altLang="ko-KR" sz="1600" dirty="0"/>
          </a:p>
          <a:p>
            <a:r>
              <a:rPr lang="en-US" altLang="ko-KR" sz="1600" dirty="0"/>
              <a:t>20261008 </a:t>
            </a:r>
            <a:r>
              <a:rPr lang="ko-KR" altLang="en-US" sz="1600" dirty="0"/>
              <a:t>설계</a:t>
            </a:r>
            <a:r>
              <a:rPr lang="en-US" altLang="ko-KR" sz="1600" dirty="0"/>
              <a:t>: docker </a:t>
            </a:r>
            <a:r>
              <a:rPr lang="ko-KR" altLang="en-US" sz="1600" dirty="0"/>
              <a:t>설치 및 설정</a:t>
            </a:r>
            <a:endParaRPr lang="en-US" altLang="ko-KR" sz="1600" dirty="0"/>
          </a:p>
          <a:p>
            <a:r>
              <a:rPr lang="en-US" altLang="ko-KR" sz="1600" dirty="0"/>
              <a:t>20261009 </a:t>
            </a:r>
            <a:r>
              <a:rPr lang="ko-KR" altLang="en-US" sz="1600" dirty="0"/>
              <a:t>설계</a:t>
            </a:r>
            <a:r>
              <a:rPr lang="en-US" altLang="ko-KR" sz="1600" dirty="0"/>
              <a:t>: docker </a:t>
            </a:r>
            <a:r>
              <a:rPr lang="ko-KR" altLang="en-US" sz="1600" dirty="0"/>
              <a:t>설치 및 설정</a:t>
            </a:r>
            <a:r>
              <a:rPr lang="en-US" altLang="ko-KR" sz="1600" dirty="0"/>
              <a:t>, </a:t>
            </a:r>
            <a:r>
              <a:rPr lang="ko-KR" altLang="en-US" sz="1600" dirty="0"/>
              <a:t>수정</a:t>
            </a:r>
            <a:endParaRPr lang="en-US" altLang="ko-KR" sz="1600" dirty="0"/>
          </a:p>
          <a:p>
            <a:r>
              <a:rPr lang="en-US" altLang="ko-KR" sz="1600" dirty="0"/>
              <a:t>20261014 </a:t>
            </a:r>
            <a:r>
              <a:rPr lang="ko-KR" altLang="en-US" sz="1600" dirty="0"/>
              <a:t>개발</a:t>
            </a:r>
            <a:r>
              <a:rPr lang="en-US" altLang="ko-KR" sz="1600" dirty="0"/>
              <a:t>:</a:t>
            </a:r>
            <a:r>
              <a:rPr lang="ko-KR" altLang="en-US" sz="1600" dirty="0" err="1"/>
              <a:t>패스워드리스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추가해야된데서</a:t>
            </a:r>
            <a:r>
              <a:rPr lang="ko-KR" altLang="en-US" sz="1600" dirty="0"/>
              <a:t> 갈아엎음😵</a:t>
            </a:r>
            <a:endParaRPr lang="en-US" altLang="ko-KR" sz="1600" dirty="0"/>
          </a:p>
          <a:p>
            <a:r>
              <a:rPr lang="en-US" altLang="ko-KR" sz="1600" dirty="0"/>
              <a:t>20261016 </a:t>
            </a:r>
            <a:r>
              <a:rPr lang="ko-KR" altLang="en-US" sz="1600" dirty="0"/>
              <a:t>개발</a:t>
            </a:r>
            <a:r>
              <a:rPr lang="en-US" altLang="ko-KR" sz="1600" dirty="0"/>
              <a:t>:</a:t>
            </a:r>
            <a:r>
              <a:rPr lang="ko-KR" altLang="en-US" sz="1600" dirty="0" err="1"/>
              <a:t>한번날려먹어서</a:t>
            </a:r>
            <a:r>
              <a:rPr lang="ko-KR" altLang="en-US" sz="1600" dirty="0"/>
              <a:t> 다시 갈아엎음😈</a:t>
            </a:r>
            <a:endParaRPr lang="en-US" altLang="ko-KR" sz="1600" dirty="0"/>
          </a:p>
          <a:p>
            <a:r>
              <a:rPr lang="en-US" altLang="ko-KR" sz="1600" dirty="0"/>
              <a:t>20261021 </a:t>
            </a:r>
            <a:r>
              <a:rPr lang="ko-KR" altLang="en-US" sz="1600" dirty="0"/>
              <a:t>개발</a:t>
            </a:r>
            <a:r>
              <a:rPr lang="en-US" altLang="ko-KR" sz="1600" dirty="0"/>
              <a:t>:DB</a:t>
            </a:r>
            <a:r>
              <a:rPr lang="ko-KR" altLang="en-US" sz="1600" dirty="0" err="1"/>
              <a:t>비번왜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안맞을까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싹밀어버리고</a:t>
            </a:r>
            <a:r>
              <a:rPr lang="ko-KR" altLang="en-US" sz="1600" dirty="0"/>
              <a:t> 다시 시작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31943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58531-3E25-94F7-E389-C6DCED6E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03DD367-26F0-1CE0-FE5F-7D5C012149C8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38121-DCED-F612-8682-0C3360F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트러블슈팅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9CD81B-C013-3DC3-945C-53EAB743C777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개발 과정 중 유사 라이브러리 자동 임포트로 인한 엔티티 매핑 오류 발생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B466D2-8E46-88F6-936E-2D6CFDCA6F9C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580753-B4C8-2B71-7F2D-3AEE16128845}"/>
              </a:ext>
            </a:extLst>
          </p:cNvPr>
          <p:cNvSpPr txBox="1"/>
          <p:nvPr/>
        </p:nvSpPr>
        <p:spPr>
          <a:xfrm>
            <a:off x="7259944" y="2102506"/>
            <a:ext cx="38377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Error log </a:t>
            </a:r>
          </a:p>
          <a:p>
            <a:endParaRPr lang="en-US" altLang="ko-KR" sz="1400"/>
          </a:p>
          <a:p>
            <a:r>
              <a:rPr lang="en-US" altLang="ko-KR" sz="1400"/>
              <a:t>Caused by: org.hibernate.AnnotationException: Property 'com.example.LikeKBO.entity.User.role' is annotated '@Enumerated' but its type 'javax.management.relation.Role' is not an enum</a:t>
            </a:r>
          </a:p>
          <a:p>
            <a:endParaRPr lang="ko-KR" altLang="en-US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82E9250-8DF7-53BC-DC9B-18F071E197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949"/>
          <a:stretch>
            <a:fillRect/>
          </a:stretch>
        </p:blipFill>
        <p:spPr>
          <a:xfrm>
            <a:off x="1296133" y="2118791"/>
            <a:ext cx="5524500" cy="12573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385C8CA-210D-7164-953B-A0A237F50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132" y="3475191"/>
            <a:ext cx="5524500" cy="227647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D3E5CF-17DC-DB1B-5DF7-637C1145E62D}"/>
              </a:ext>
            </a:extLst>
          </p:cNvPr>
          <p:cNvSpPr/>
          <p:nvPr/>
        </p:nvSpPr>
        <p:spPr>
          <a:xfrm>
            <a:off x="1334621" y="4095040"/>
            <a:ext cx="3051847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C31B8E-591B-18D0-4D98-53EB458780B5}"/>
              </a:ext>
            </a:extLst>
          </p:cNvPr>
          <p:cNvSpPr txBox="1"/>
          <p:nvPr/>
        </p:nvSpPr>
        <p:spPr>
          <a:xfrm>
            <a:off x="4349788" y="4109570"/>
            <a:ext cx="956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rgbClr val="F2F2F2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38042126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20A0E-D214-A0E8-8734-3FE36C345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9918EE-3D5E-D31E-9650-FC526E5BCA8A}"/>
              </a:ext>
            </a:extLst>
          </p:cNvPr>
          <p:cNvSpPr/>
          <p:nvPr/>
        </p:nvSpPr>
        <p:spPr>
          <a:xfrm>
            <a:off x="8657847" y="1602463"/>
            <a:ext cx="2824349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0FB2094-FD1B-D4D0-E567-D109D32D3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트러블슈팅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86C9DF-CC5D-14AE-C8E6-4B565AFC8EEB}"/>
              </a:ext>
            </a:extLst>
          </p:cNvPr>
          <p:cNvSpPr txBox="1"/>
          <p:nvPr/>
        </p:nvSpPr>
        <p:spPr>
          <a:xfrm>
            <a:off x="896256" y="1293298"/>
            <a:ext cx="8246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수정후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1C35E-E577-5689-3C0F-C6166D9C7F42}"/>
              </a:ext>
            </a:extLst>
          </p:cNvPr>
          <p:cNvSpPr txBox="1"/>
          <p:nvPr/>
        </p:nvSpPr>
        <p:spPr>
          <a:xfrm>
            <a:off x="8858250" y="1718274"/>
            <a:ext cx="249555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/>
              <a:t>DB ERD </a:t>
            </a:r>
            <a:r>
              <a:rPr lang="ko-KR" altLang="en-US" sz="1100" b="1"/>
              <a:t>다이어그램 수정 후</a:t>
            </a:r>
            <a:endParaRPr lang="en-US" altLang="ko-KR" sz="1100" b="1"/>
          </a:p>
          <a:p>
            <a:endParaRPr lang="en-US" altLang="ko-KR" sz="1100"/>
          </a:p>
          <a:p>
            <a:pPr algn="just"/>
            <a:r>
              <a:rPr lang="ko-KR" altLang="en-US" sz="1100"/>
              <a:t>분류 추가</a:t>
            </a:r>
            <a:r>
              <a:rPr lang="en-US" altLang="ko-KR" sz="1100"/>
              <a:t>: </a:t>
            </a:r>
            <a:r>
              <a:rPr lang="ko-KR" altLang="en-US" sz="1100"/>
              <a:t>사용자와 관리자를 나누어 권한부여</a:t>
            </a:r>
            <a:endParaRPr lang="en-US" altLang="ko-KR" sz="1100"/>
          </a:p>
          <a:p>
            <a:pPr algn="just"/>
            <a:endParaRPr lang="en-US" altLang="ko-KR" sz="1100"/>
          </a:p>
          <a:p>
            <a:pPr algn="just"/>
            <a:r>
              <a:rPr lang="ko-KR" altLang="en-US" sz="1100"/>
              <a:t>장바구니 </a:t>
            </a:r>
            <a:r>
              <a:rPr lang="en-US" altLang="ko-KR" sz="1100"/>
              <a:t>:</a:t>
            </a:r>
          </a:p>
          <a:p>
            <a:pPr algn="just"/>
            <a:r>
              <a:rPr lang="en-US" altLang="ko-KR" sz="1100"/>
              <a:t>cart-cart_item</a:t>
            </a:r>
            <a:r>
              <a:rPr lang="ko-KR" altLang="en-US" sz="1100"/>
              <a:t>분리이유</a:t>
            </a:r>
            <a:endParaRPr lang="en-US" altLang="ko-KR" sz="1100"/>
          </a:p>
          <a:p>
            <a:pPr algn="just"/>
            <a:r>
              <a:rPr lang="ko-KR" altLang="en-US" sz="1100"/>
              <a:t>장바구니에서 수량 변경 및 삭제기능을 버그없이 구현하기 위함 </a:t>
            </a:r>
            <a:endParaRPr lang="en-US" altLang="ko-KR" sz="1100"/>
          </a:p>
          <a:p>
            <a:pPr algn="just"/>
            <a:r>
              <a:rPr lang="ko-KR" altLang="en-US" sz="1100"/>
              <a:t>사용자마다 바구니 하나를 정해두고</a:t>
            </a:r>
            <a:r>
              <a:rPr lang="en-US" altLang="ko-KR" sz="1100"/>
              <a:t>, </a:t>
            </a:r>
            <a:r>
              <a:rPr lang="ko-KR" altLang="en-US" sz="1100"/>
              <a:t>그 안에 담긴 여러 상품들만 따로 관리해야 데이터가 꼬이지 않기 때문에</a:t>
            </a:r>
            <a:r>
              <a:rPr lang="en-US" altLang="ko-KR" sz="1100"/>
              <a:t>, </a:t>
            </a:r>
            <a:r>
              <a:rPr lang="ko-KR" altLang="en-US" sz="1100"/>
              <a:t>바구니는 유저 꺼로 딱 고정해두고</a:t>
            </a:r>
            <a:r>
              <a:rPr lang="en-US" altLang="ko-KR" sz="1100"/>
              <a:t>, </a:t>
            </a:r>
            <a:r>
              <a:rPr lang="ko-KR" altLang="en-US" sz="1100"/>
              <a:t>물건만 추가</a:t>
            </a:r>
            <a:r>
              <a:rPr lang="en-US" altLang="ko-KR" sz="1100"/>
              <a:t>, </a:t>
            </a:r>
            <a:r>
              <a:rPr lang="ko-KR" altLang="en-US" sz="1100"/>
              <a:t>삭제</a:t>
            </a:r>
            <a:r>
              <a:rPr lang="en-US" altLang="ko-KR" sz="1100"/>
              <a:t>, </a:t>
            </a:r>
            <a:r>
              <a:rPr lang="ko-KR" altLang="en-US" sz="1100"/>
              <a:t>수량 변경을 관리하는 게 관리가쉽다</a:t>
            </a:r>
            <a:endParaRPr lang="en-US" altLang="ko-KR" sz="1100"/>
          </a:p>
          <a:p>
            <a:pPr algn="just"/>
            <a:r>
              <a:rPr lang="en-US" altLang="ko-KR" sz="1100"/>
              <a:t>:cart-cart_item </a:t>
            </a:r>
            <a:r>
              <a:rPr lang="ko-KR" altLang="en-US" sz="1100"/>
              <a:t>합쳤을 때의 문제</a:t>
            </a:r>
            <a:r>
              <a:rPr lang="en-US" altLang="ko-KR" sz="1100"/>
              <a:t>: </a:t>
            </a:r>
            <a:r>
              <a:rPr lang="ko-KR" altLang="en-US" sz="1100"/>
              <a:t>장바구니랑 물건이 붙어 있으면</a:t>
            </a:r>
            <a:r>
              <a:rPr lang="en-US" altLang="ko-KR" sz="1100"/>
              <a:t>, </a:t>
            </a:r>
            <a:r>
              <a:rPr lang="ko-KR" altLang="en-US" sz="1100"/>
              <a:t>물건 하나를 바꿀 때마다 바구니 전체를 새로 만들어야 해서 복잡해짐</a:t>
            </a:r>
            <a:endParaRPr lang="en-US" altLang="ko-KR" sz="1100"/>
          </a:p>
          <a:p>
            <a:pPr algn="just"/>
            <a:endParaRPr lang="en-US" altLang="ko-KR" sz="1100"/>
          </a:p>
          <a:p>
            <a:pPr algn="just"/>
            <a:r>
              <a:rPr lang="ko-KR" altLang="en-US" sz="1100"/>
              <a:t>결제</a:t>
            </a:r>
            <a:r>
              <a:rPr lang="en-US" altLang="ko-KR" sz="1100"/>
              <a:t>/</a:t>
            </a:r>
            <a:r>
              <a:rPr lang="ko-KR" altLang="en-US" sz="1100"/>
              <a:t>배송 연결</a:t>
            </a:r>
            <a:r>
              <a:rPr lang="en-US" altLang="ko-KR" sz="1100"/>
              <a:t>: </a:t>
            </a:r>
            <a:r>
              <a:rPr lang="ko-KR" altLang="en-US" sz="1100"/>
              <a:t>주문 시 결제 검증과 배송지 저장이 동시에 일어나는 흐름을 포함했습니다</a:t>
            </a:r>
            <a:r>
              <a:rPr lang="en-US" altLang="ko-KR" sz="1100"/>
              <a:t>.</a:t>
            </a:r>
            <a:r>
              <a:rPr lang="ko-KR" altLang="en-US" sz="1100"/>
              <a:t> </a:t>
            </a:r>
            <a:endParaRPr lang="en-US" altLang="ko-KR" sz="1100"/>
          </a:p>
          <a:p>
            <a:pPr algn="just"/>
            <a:endParaRPr lang="ko-KR" altLang="en-US" sz="11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417A7C5-6438-F925-8B68-A366BB512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55" y="1690688"/>
            <a:ext cx="7973639" cy="460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792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381705-A451-AB75-4DFD-9708385C9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82BE4B0-1FCE-2B41-A1F3-295EBC7D841B}"/>
              </a:ext>
            </a:extLst>
          </p:cNvPr>
          <p:cNvSpPr/>
          <p:nvPr/>
        </p:nvSpPr>
        <p:spPr>
          <a:xfrm>
            <a:off x="6095999" y="1602463"/>
            <a:ext cx="5429061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083B4E-E13B-58A2-E928-9ABDD36C2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DB-MySQL-</a:t>
            </a:r>
            <a:r>
              <a:rPr lang="ko-KR" altLang="en-US"/>
              <a:t>트러블슈팅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55568F1-412A-B311-DBD8-BFBC1E52C893}"/>
              </a:ext>
            </a:extLst>
          </p:cNvPr>
          <p:cNvSpPr txBox="1">
            <a:spLocks/>
          </p:cNvSpPr>
          <p:nvPr/>
        </p:nvSpPr>
        <p:spPr>
          <a:xfrm>
            <a:off x="6654113" y="2067786"/>
            <a:ext cx="4534587" cy="35964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400"/>
              <a:t>Cmd</a:t>
            </a:r>
            <a:r>
              <a:rPr lang="ko-KR" altLang="en-US" sz="1400"/>
              <a:t>관리자 모드로 </a:t>
            </a:r>
            <a:r>
              <a:rPr lang="en-US" altLang="ko-KR" sz="1400"/>
              <a:t>2</a:t>
            </a:r>
            <a:r>
              <a:rPr lang="ko-KR" altLang="en-US" sz="1400"/>
              <a:t>개를 켠다</a:t>
            </a:r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1.</a:t>
            </a:r>
            <a:r>
              <a:rPr lang="ko-KR" altLang="en-US" sz="1400"/>
              <a:t>첫번째 </a:t>
            </a:r>
            <a:r>
              <a:rPr lang="en-US" altLang="ko-KR" sz="1400"/>
              <a:t>cmd:</a:t>
            </a:r>
          </a:p>
          <a:p>
            <a:r>
              <a:rPr lang="en-US" altLang="ko-KR" sz="1400"/>
              <a:t>mysqld --defaults-file="C:\Program Files\MariaDB 10.6\data\my.ini" --skip-grant-tables</a:t>
            </a:r>
          </a:p>
          <a:p>
            <a:endParaRPr lang="en-US" altLang="ko-KR" sz="1400"/>
          </a:p>
          <a:p>
            <a:r>
              <a:rPr lang="en-US" altLang="ko-KR" sz="1400"/>
              <a:t>1.</a:t>
            </a:r>
            <a:r>
              <a:rPr lang="ko-KR" altLang="en-US" sz="1400"/>
              <a:t>두번째 </a:t>
            </a:r>
            <a:r>
              <a:rPr lang="en-US" altLang="ko-KR" sz="1400"/>
              <a:t>cmd:</a:t>
            </a:r>
          </a:p>
          <a:p>
            <a:r>
              <a:rPr lang="en-US" altLang="ko-KR" sz="1400"/>
              <a:t>&gt;&gt;mysql -u root</a:t>
            </a:r>
          </a:p>
          <a:p>
            <a:r>
              <a:rPr lang="en-US" altLang="ko-KR" sz="1400"/>
              <a:t>&gt;&gt;USE mysql;</a:t>
            </a:r>
          </a:p>
          <a:p>
            <a:r>
              <a:rPr lang="en-US" altLang="ko-KR" sz="1400"/>
              <a:t>-- </a:t>
            </a:r>
            <a:r>
              <a:rPr lang="ko-KR" altLang="en-US" sz="1400"/>
              <a:t>비번 강제</a:t>
            </a:r>
            <a:r>
              <a:rPr lang="en-US" altLang="ko-KR" sz="1400"/>
              <a:t>1234</a:t>
            </a:r>
            <a:r>
              <a:rPr lang="ko-KR" altLang="en-US" sz="1400"/>
              <a:t>적용</a:t>
            </a:r>
            <a:endParaRPr lang="en-US" altLang="ko-KR" sz="1400"/>
          </a:p>
          <a:p>
            <a:r>
              <a:rPr lang="en-US" altLang="ko-KR" sz="1400"/>
              <a:t>&gt;&gt;UPDATE user SET password=PASSWORD('1234') WHERE User='root’;</a:t>
            </a:r>
          </a:p>
          <a:p>
            <a:r>
              <a:rPr lang="en-US" altLang="ko-KR" sz="1400"/>
              <a:t>-- </a:t>
            </a:r>
            <a:r>
              <a:rPr lang="ko-KR" altLang="en-US" sz="1400"/>
              <a:t>권한 적용</a:t>
            </a:r>
            <a:endParaRPr lang="en-US" altLang="ko-KR" sz="1400"/>
          </a:p>
          <a:p>
            <a:r>
              <a:rPr lang="en-US" altLang="ko-KR" sz="1400"/>
              <a:t>&gt;&gt;FLUSH PRIVILEGES;</a:t>
            </a:r>
          </a:p>
          <a:p>
            <a:r>
              <a:rPr lang="en-US" altLang="ko-KR" sz="1400"/>
              <a:t>&gt;&gt; exit</a:t>
            </a:r>
            <a:endParaRPr lang="ko-KR" altLang="en-US" sz="140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B85345F0-56DA-AEAB-9BB7-52FDB8CEDCB4}"/>
              </a:ext>
            </a:extLst>
          </p:cNvPr>
          <p:cNvSpPr txBox="1">
            <a:spLocks/>
          </p:cNvSpPr>
          <p:nvPr/>
        </p:nvSpPr>
        <p:spPr>
          <a:xfrm>
            <a:off x="838200" y="1225365"/>
            <a:ext cx="4467569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400"/>
              <a:t>DB</a:t>
            </a:r>
            <a:r>
              <a:rPr lang="ko-KR" altLang="en-US" sz="1400"/>
              <a:t>강제 비번 변경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D43B370-B3E7-3BCD-EAA9-D6065E32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690" y="1690688"/>
            <a:ext cx="4986010" cy="469875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4DA31-5AE0-49EC-313E-08E86281B507}"/>
              </a:ext>
            </a:extLst>
          </p:cNvPr>
          <p:cNvSpPr/>
          <p:nvPr/>
        </p:nvSpPr>
        <p:spPr>
          <a:xfrm>
            <a:off x="838200" y="2266011"/>
            <a:ext cx="4467569" cy="19524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346375D-D4C1-D1D5-7DDF-3DCE22E93C5D}"/>
              </a:ext>
            </a:extLst>
          </p:cNvPr>
          <p:cNvSpPr/>
          <p:nvPr/>
        </p:nvSpPr>
        <p:spPr>
          <a:xfrm>
            <a:off x="838200" y="5348804"/>
            <a:ext cx="4467569" cy="25335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4684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6E5C11-945D-6701-3819-5B4056121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1A35C94-7E1E-0D43-BF7E-ED660CFFAC7E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3DE720-D299-CD1F-EE76-D9FF2D6E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Product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29CDD4-4F5B-C520-FE17-BCEE12C9CF62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KBO 10</a:t>
            </a:r>
            <a:r>
              <a:rPr lang="ko-KR" altLang="en-US" sz="1200"/>
              <a:t>개 구단 데이터를 안전하게 관리하기 위한 </a:t>
            </a:r>
            <a:r>
              <a:rPr lang="en-US" altLang="ko-KR" sz="1200"/>
              <a:t>Enum </a:t>
            </a:r>
            <a:r>
              <a:rPr lang="ko-KR" altLang="en-US" sz="1200"/>
              <a:t>타입 도입 및 도메인 모델 설계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B56F0-1C6A-2DD1-438E-9B6CFFBE1E36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C53596-EEA2-045C-DC9F-5830EA10B3F1}"/>
              </a:ext>
            </a:extLst>
          </p:cNvPr>
          <p:cNvSpPr txBox="1"/>
          <p:nvPr/>
        </p:nvSpPr>
        <p:spPr>
          <a:xfrm>
            <a:off x="4349788" y="4109570"/>
            <a:ext cx="956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rgbClr val="F2F2F2"/>
                </a:solidFill>
              </a:rPr>
              <a:t>삭제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AFFAA5C-2D18-1496-1EC4-77145CAF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47" y="1845157"/>
            <a:ext cx="2180579" cy="42375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4C9A531-BC7B-A4EB-001B-9C5B9EFD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948" y="1845157"/>
            <a:ext cx="3860701" cy="423759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646D164-46E9-A0DC-07FB-4B6BF2266507}"/>
              </a:ext>
            </a:extLst>
          </p:cNvPr>
          <p:cNvSpPr/>
          <p:nvPr/>
        </p:nvSpPr>
        <p:spPr>
          <a:xfrm>
            <a:off x="5037460" y="5711398"/>
            <a:ext cx="2553077" cy="31430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5B17D40-9868-6351-A1FA-616AE5410DF9}"/>
              </a:ext>
            </a:extLst>
          </p:cNvPr>
          <p:cNvSpPr/>
          <p:nvPr/>
        </p:nvSpPr>
        <p:spPr>
          <a:xfrm>
            <a:off x="1982709" y="4414662"/>
            <a:ext cx="1231271" cy="40178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60D0F967-60D2-EA59-E49F-E1236B8717D5}"/>
              </a:ext>
            </a:extLst>
          </p:cNvPr>
          <p:cNvCxnSpPr>
            <a:cxnSpLocks/>
          </p:cNvCxnSpPr>
          <p:nvPr/>
        </p:nvCxnSpPr>
        <p:spPr>
          <a:xfrm>
            <a:off x="3300716" y="4609793"/>
            <a:ext cx="1687777" cy="1258759"/>
          </a:xfrm>
          <a:prstGeom prst="bentConnector3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648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7AE0A-3C2C-C06E-B6BC-4C9CD505F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AD4D65F-DDED-9DAB-D041-14EA1CA3B698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739C7AA-D4A0-8F22-49F6-4D9D4EF49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SecurityConfig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120605-65A2-D783-4317-4852CF63E715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개발 편의 및 프론트엔드 연동을 위해 </a:t>
            </a:r>
            <a:r>
              <a:rPr lang="en-US" altLang="ko-KR" sz="1200"/>
              <a:t>SecurityFilterChain</a:t>
            </a:r>
            <a:r>
              <a:rPr lang="ko-KR" altLang="en-US" sz="1200"/>
              <a:t>을 커스터마이징하여 </a:t>
            </a:r>
            <a:r>
              <a:rPr lang="en-US" altLang="ko-KR" sz="1200"/>
              <a:t>API </a:t>
            </a:r>
            <a:r>
              <a:rPr lang="ko-KR" altLang="en-US" sz="1200"/>
              <a:t>경로</a:t>
            </a:r>
            <a:r>
              <a:rPr lang="en-US" altLang="ko-KR" sz="1200"/>
              <a:t>(PermitAll) </a:t>
            </a:r>
            <a:r>
              <a:rPr lang="ko-KR" altLang="en-US" sz="1200"/>
              <a:t>개방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4B5279-F827-E0EA-4EEC-022FC61B2FC1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2019A9-3969-0537-0242-1EC08CC30BCE}"/>
              </a:ext>
            </a:extLst>
          </p:cNvPr>
          <p:cNvSpPr txBox="1"/>
          <p:nvPr/>
        </p:nvSpPr>
        <p:spPr>
          <a:xfrm>
            <a:off x="4349788" y="4109570"/>
            <a:ext cx="956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rgbClr val="F2F2F2"/>
                </a:solidFill>
              </a:rPr>
              <a:t>삭제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9AFE6FA-5A2A-27F4-75F7-4FEC32D717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832"/>
          <a:stretch>
            <a:fillRect/>
          </a:stretch>
        </p:blipFill>
        <p:spPr>
          <a:xfrm>
            <a:off x="1058500" y="1976437"/>
            <a:ext cx="4925124" cy="290512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CA42FE1-9898-822C-CC44-AF3B11272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20818"/>
          <a:stretch>
            <a:fillRect/>
          </a:stretch>
        </p:blipFill>
        <p:spPr>
          <a:xfrm>
            <a:off x="6679096" y="1976437"/>
            <a:ext cx="4484714" cy="38723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893122-50F9-77A9-C926-BD42E437305B}"/>
              </a:ext>
            </a:extLst>
          </p:cNvPr>
          <p:cNvSpPr txBox="1"/>
          <p:nvPr/>
        </p:nvSpPr>
        <p:spPr>
          <a:xfrm>
            <a:off x="1581338" y="5167311"/>
            <a:ext cx="3764712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200"/>
          </a:p>
          <a:p>
            <a:pPr algn="ctr"/>
            <a:r>
              <a:rPr lang="en-US" altLang="ko-KR" sz="1200"/>
              <a:t>Spring Security </a:t>
            </a:r>
            <a:r>
              <a:rPr lang="ko-KR" altLang="en-US" sz="1200"/>
              <a:t>의존성 추가 시 기본 보안 필터가 </a:t>
            </a:r>
            <a:endParaRPr lang="en-US" altLang="ko-KR" sz="1200"/>
          </a:p>
          <a:p>
            <a:pPr algn="ctr"/>
            <a:r>
              <a:rPr lang="ko-KR" altLang="en-US" sz="1200"/>
              <a:t>자동 적용되어 </a:t>
            </a:r>
            <a:r>
              <a:rPr lang="en-US" altLang="ko-KR" sz="1200"/>
              <a:t>API </a:t>
            </a:r>
            <a:r>
              <a:rPr lang="ko-KR" altLang="en-US" sz="1200"/>
              <a:t>접근 시 인증</a:t>
            </a:r>
            <a:r>
              <a:rPr lang="en-US" altLang="ko-KR" sz="1200"/>
              <a:t>(Login) </a:t>
            </a:r>
            <a:r>
              <a:rPr lang="ko-KR" altLang="en-US" sz="1200"/>
              <a:t>요구 확인</a:t>
            </a:r>
            <a:endParaRPr lang="en-US" altLang="ko-KR" sz="1200"/>
          </a:p>
          <a:p>
            <a:pPr algn="ctr"/>
            <a:endParaRPr lang="ko-KR" altLang="en-US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4260EB-EF31-16BB-1B62-6513B17E2BAF}"/>
              </a:ext>
            </a:extLst>
          </p:cNvPr>
          <p:cNvSpPr txBox="1"/>
          <p:nvPr/>
        </p:nvSpPr>
        <p:spPr>
          <a:xfrm>
            <a:off x="6983897" y="5167311"/>
            <a:ext cx="3882886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200"/>
          </a:p>
          <a:p>
            <a:pPr algn="ctr"/>
            <a:r>
              <a:rPr lang="ko-KR" altLang="en-US" sz="1200"/>
              <a:t>보안 설정 적용 과정에서 경로 매핑 오류 발생 </a:t>
            </a:r>
            <a:endParaRPr lang="en-US" altLang="ko-KR" sz="1200"/>
          </a:p>
          <a:p>
            <a:pPr algn="ctr"/>
            <a:r>
              <a:rPr lang="ko-KR" altLang="en-US" sz="1200"/>
              <a:t>확인</a:t>
            </a:r>
            <a:r>
              <a:rPr lang="en-US" altLang="ko-KR" sz="1200"/>
              <a:t> </a:t>
            </a:r>
            <a:r>
              <a:rPr lang="ko-KR" altLang="en-US" sz="1200"/>
              <a:t>및 디버깅 로그 분석</a:t>
            </a:r>
            <a:endParaRPr lang="en-US" altLang="ko-KR" sz="1200"/>
          </a:p>
          <a:p>
            <a:pPr algn="ctr"/>
            <a:endParaRPr lang="ko-KR" altLang="en-US" sz="120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9D9F8BAB-7350-BFEA-08C0-F6A4F004B16C}"/>
              </a:ext>
            </a:extLst>
          </p:cNvPr>
          <p:cNvSpPr/>
          <p:nvPr/>
        </p:nvSpPr>
        <p:spPr>
          <a:xfrm>
            <a:off x="6206651" y="3385265"/>
            <a:ext cx="308478" cy="257822"/>
          </a:xfrm>
          <a:prstGeom prst="rightArrow">
            <a:avLst/>
          </a:prstGeom>
          <a:solidFill>
            <a:srgbClr val="BABA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486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14CD8-5B1D-03B1-D230-2492C1FEB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FC1E34B-6B3E-A689-E160-23CDA32087E5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D9B19E-16A6-A0FA-53A9-651E976D7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SecurityConfig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7C716E-61DD-AA21-A1E1-4834300D6D2E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커스텀 보안 설정을 통해 모든 </a:t>
            </a:r>
            <a:r>
              <a:rPr lang="en-US" altLang="ko-KR" sz="1200"/>
              <a:t>API </a:t>
            </a:r>
            <a:r>
              <a:rPr lang="ko-KR" altLang="en-US" sz="1200"/>
              <a:t>경로에 대한 접근 권한을 허용하여 프론트엔드와의 통신 환경 구축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79B535-1E00-2B5C-5F69-A64FB2D67ED0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3820E7-DCE3-CE79-0083-E0E75C4B79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78" r="20224"/>
          <a:stretch>
            <a:fillRect/>
          </a:stretch>
        </p:blipFill>
        <p:spPr>
          <a:xfrm>
            <a:off x="1058499" y="1924894"/>
            <a:ext cx="5985097" cy="408891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3BFC4E-044C-BFAE-45CD-2072E4EA12CB}"/>
              </a:ext>
            </a:extLst>
          </p:cNvPr>
          <p:cNvSpPr/>
          <p:nvPr/>
        </p:nvSpPr>
        <p:spPr>
          <a:xfrm>
            <a:off x="2405720" y="4611988"/>
            <a:ext cx="3328819" cy="2506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4FA6D5-F64E-9B02-F318-0380CB4E14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603"/>
          <a:stretch>
            <a:fillRect/>
          </a:stretch>
        </p:blipFill>
        <p:spPr>
          <a:xfrm>
            <a:off x="8650487" y="1924894"/>
            <a:ext cx="2643587" cy="408892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E87C752-A01C-EB38-1C2B-9856BBE53D6A}"/>
              </a:ext>
            </a:extLst>
          </p:cNvPr>
          <p:cNvSpPr/>
          <p:nvPr/>
        </p:nvSpPr>
        <p:spPr>
          <a:xfrm>
            <a:off x="8809022" y="2165716"/>
            <a:ext cx="1575304" cy="2506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D22A46-8067-065B-4B55-81F49AC5A1F2}"/>
              </a:ext>
            </a:extLst>
          </p:cNvPr>
          <p:cNvSpPr/>
          <p:nvPr/>
        </p:nvSpPr>
        <p:spPr>
          <a:xfrm>
            <a:off x="8809022" y="3220689"/>
            <a:ext cx="1575304" cy="2506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39ABD4-F44A-2659-1104-FDE385263135}"/>
              </a:ext>
            </a:extLst>
          </p:cNvPr>
          <p:cNvSpPr/>
          <p:nvPr/>
        </p:nvSpPr>
        <p:spPr>
          <a:xfrm>
            <a:off x="8809022" y="4257556"/>
            <a:ext cx="1575304" cy="2506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5884BAC-AFE7-F7C0-A594-F7B1817FA38D}"/>
              </a:ext>
            </a:extLst>
          </p:cNvPr>
          <p:cNvSpPr/>
          <p:nvPr/>
        </p:nvSpPr>
        <p:spPr>
          <a:xfrm>
            <a:off x="8809022" y="5276317"/>
            <a:ext cx="1575304" cy="2506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2C856D-ADAA-7F75-706A-2212EFF0F49C}"/>
              </a:ext>
            </a:extLst>
          </p:cNvPr>
          <p:cNvSpPr txBox="1"/>
          <p:nvPr/>
        </p:nvSpPr>
        <p:spPr>
          <a:xfrm>
            <a:off x="6124669" y="4566970"/>
            <a:ext cx="3000626" cy="10156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ko-KR" sz="1200"/>
          </a:p>
          <a:p>
            <a:pPr algn="ctr"/>
            <a:r>
              <a:rPr lang="ko-KR" altLang="en-US" sz="1200"/>
              <a:t>보안 필터 수정 후 </a:t>
            </a:r>
            <a:r>
              <a:rPr lang="en-US" altLang="ko-KR" sz="1200"/>
              <a:t>API </a:t>
            </a:r>
            <a:r>
              <a:rPr lang="ko-KR" altLang="en-US" sz="1200"/>
              <a:t>호출 성공 </a:t>
            </a:r>
            <a:endParaRPr lang="en-US" altLang="ko-KR" sz="1200"/>
          </a:p>
          <a:p>
            <a:pPr algn="ctr"/>
            <a:r>
              <a:rPr lang="ko-KR" altLang="en-US" sz="1200"/>
              <a:t>및 </a:t>
            </a:r>
            <a:r>
              <a:rPr lang="en-US" altLang="ko-KR" sz="1200"/>
              <a:t>DB </a:t>
            </a:r>
            <a:r>
              <a:rPr lang="ko-KR" altLang="en-US" sz="1200"/>
              <a:t>데이터</a:t>
            </a:r>
            <a:r>
              <a:rPr lang="en-US" altLang="ko-KR" sz="1200"/>
              <a:t>(JSON) </a:t>
            </a:r>
            <a:r>
              <a:rPr lang="ko-KR" altLang="en-US" sz="1200"/>
              <a:t>수신 확인</a:t>
            </a:r>
            <a:r>
              <a:rPr lang="en-US" altLang="ko-KR" sz="1200"/>
              <a:t>.</a:t>
            </a:r>
          </a:p>
          <a:p>
            <a:pPr algn="ctr"/>
            <a:r>
              <a:rPr lang="en-US" altLang="ko-KR" sz="1200" b="1"/>
              <a:t>URL:</a:t>
            </a:r>
            <a:r>
              <a:rPr lang="en-US" altLang="ko-KR" sz="1200"/>
              <a:t> http://localhost:8080/api/products</a:t>
            </a:r>
          </a:p>
          <a:p>
            <a:pPr algn="ctr"/>
            <a:endParaRPr lang="ko-KR" altLang="en-US" sz="1200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F001AC3F-8FD4-27F9-F444-87FBDC078738}"/>
              </a:ext>
            </a:extLst>
          </p:cNvPr>
          <p:cNvSpPr/>
          <p:nvPr/>
        </p:nvSpPr>
        <p:spPr>
          <a:xfrm>
            <a:off x="7692802" y="3385265"/>
            <a:ext cx="308478" cy="257822"/>
          </a:xfrm>
          <a:prstGeom prst="rightArrow">
            <a:avLst/>
          </a:prstGeom>
          <a:solidFill>
            <a:srgbClr val="BABA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2092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6F348-EB51-3D9B-ABF0-B7F650B05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02915FC-6E51-867B-6724-F00A49904CD3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F1DBE31-EF10-36C9-01E4-153F9FF233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747"/>
          <a:stretch>
            <a:fillRect/>
          </a:stretch>
        </p:blipFill>
        <p:spPr>
          <a:xfrm>
            <a:off x="1135775" y="1840037"/>
            <a:ext cx="4409649" cy="263036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7E7F9A4-EA3D-E00F-AF17-59F863A0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Signup </a:t>
            </a:r>
            <a:r>
              <a:rPr lang="ko-KR" altLang="en-US"/>
              <a:t>트러블슈팅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3B4FDE-98C1-9F2B-AFF0-10F34A57BA40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회원가입시</a:t>
            </a:r>
            <a:r>
              <a:rPr lang="en-US" altLang="ko-KR" sz="1200"/>
              <a:t> </a:t>
            </a:r>
            <a:r>
              <a:rPr lang="ko-KR" altLang="en-US" sz="1200"/>
              <a:t>발생하는 </a:t>
            </a:r>
            <a:r>
              <a:rPr lang="en-US" altLang="ko-KR" sz="1200"/>
              <a:t>403</a:t>
            </a:r>
            <a:r>
              <a:rPr lang="ko-KR" altLang="en-US" sz="1200"/>
              <a:t>에러상황을 포트번호 통일로 해결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DB810-3AEA-832E-95A0-4BE455B48304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1561AE-019D-22A1-7753-136B680353D7}"/>
              </a:ext>
            </a:extLst>
          </p:cNvPr>
          <p:cNvSpPr txBox="1"/>
          <p:nvPr/>
        </p:nvSpPr>
        <p:spPr>
          <a:xfrm>
            <a:off x="3105377" y="4059011"/>
            <a:ext cx="14350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2F2F2"/>
                </a:solidFill>
              </a:rPr>
              <a:t>기종 간 통신 해결</a:t>
            </a:r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28E1C047-109F-30C5-5C94-98DA5858639F}"/>
              </a:ext>
            </a:extLst>
          </p:cNvPr>
          <p:cNvSpPr/>
          <p:nvPr/>
        </p:nvSpPr>
        <p:spPr>
          <a:xfrm>
            <a:off x="5876088" y="3590376"/>
            <a:ext cx="308478" cy="257822"/>
          </a:xfrm>
          <a:prstGeom prst="rightArrow">
            <a:avLst/>
          </a:prstGeom>
          <a:solidFill>
            <a:srgbClr val="BABA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9DC1FD-4502-2150-9230-BD21AA7E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257" t="372" r="-478" b="6596"/>
          <a:stretch>
            <a:fillRect/>
          </a:stretch>
        </p:blipFill>
        <p:spPr>
          <a:xfrm>
            <a:off x="6422109" y="1763969"/>
            <a:ext cx="4807283" cy="418316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E4E8A5-338B-3FAF-DE34-22D8A5B3E051}"/>
              </a:ext>
            </a:extLst>
          </p:cNvPr>
          <p:cNvSpPr/>
          <p:nvPr/>
        </p:nvSpPr>
        <p:spPr>
          <a:xfrm>
            <a:off x="8928100" y="4886205"/>
            <a:ext cx="1557624" cy="23189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23691A-F55D-6D00-F808-D04B76475ADE}"/>
              </a:ext>
            </a:extLst>
          </p:cNvPr>
          <p:cNvSpPr txBox="1"/>
          <p:nvPr/>
        </p:nvSpPr>
        <p:spPr>
          <a:xfrm>
            <a:off x="7852348" y="4246961"/>
            <a:ext cx="2633376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"http://localhost:5173"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4C08072-08DA-3D31-D15E-DD4BB3B533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5341"/>
          <a:stretch>
            <a:fillRect/>
          </a:stretch>
        </p:blipFill>
        <p:spPr>
          <a:xfrm>
            <a:off x="1135775" y="4689574"/>
            <a:ext cx="4409649" cy="98107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6B225F-C8AC-86D7-D886-FA15DA60FCAA}"/>
              </a:ext>
            </a:extLst>
          </p:cNvPr>
          <p:cNvSpPr/>
          <p:nvPr/>
        </p:nvSpPr>
        <p:spPr>
          <a:xfrm>
            <a:off x="3429000" y="4538962"/>
            <a:ext cx="1257300" cy="62794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3A7A2CFB-0AC5-4D9F-99DA-B6C56FB25E6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463628" y="3462956"/>
            <a:ext cx="1766111" cy="387561"/>
          </a:xfrm>
          <a:prstGeom prst="bentConnector3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57F9A6-38EB-ED06-50C4-794E26FCF071}"/>
              </a:ext>
            </a:extLst>
          </p:cNvPr>
          <p:cNvSpPr/>
          <p:nvPr/>
        </p:nvSpPr>
        <p:spPr>
          <a:xfrm>
            <a:off x="2424113" y="2100262"/>
            <a:ext cx="1828799" cy="67341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D502518A-00FA-90C6-131A-08E7E6EDBD8E}"/>
              </a:ext>
            </a:extLst>
          </p:cNvPr>
          <p:cNvCxnSpPr>
            <a:cxnSpLocks/>
          </p:cNvCxnSpPr>
          <p:nvPr/>
        </p:nvCxnSpPr>
        <p:spPr>
          <a:xfrm>
            <a:off x="4686300" y="4772425"/>
            <a:ext cx="4241800" cy="265163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7A5BFDE1-4EEB-34A7-F4DD-9E09DC51EDC8}"/>
              </a:ext>
            </a:extLst>
          </p:cNvPr>
          <p:cNvGrpSpPr/>
          <p:nvPr/>
        </p:nvGrpSpPr>
        <p:grpSpPr>
          <a:xfrm>
            <a:off x="6230617" y="2859067"/>
            <a:ext cx="5123183" cy="1176936"/>
            <a:chOff x="6498727" y="-334444"/>
            <a:chExt cx="5123183" cy="1033267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C8032AF-64A4-AA84-ADA4-D41AA353823F}"/>
                </a:ext>
              </a:extLst>
            </p:cNvPr>
            <p:cNvSpPr/>
            <p:nvPr/>
          </p:nvSpPr>
          <p:spPr>
            <a:xfrm>
              <a:off x="6498727" y="-334444"/>
              <a:ext cx="5123183" cy="1033267"/>
            </a:xfrm>
            <a:prstGeom prst="roundRect">
              <a:avLst>
                <a:gd name="adj" fmla="val 5603"/>
              </a:avLst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4AB323-3D98-2E4F-B2A7-80D1CB1AD2D1}"/>
                </a:ext>
              </a:extLst>
            </p:cNvPr>
            <p:cNvSpPr txBox="1"/>
            <p:nvPr/>
          </p:nvSpPr>
          <p:spPr>
            <a:xfrm>
              <a:off x="6614639" y="-190428"/>
              <a:ext cx="4882864" cy="729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>
                  <a:solidFill>
                    <a:schemeClr val="bg1"/>
                  </a:solidFill>
                </a:rPr>
                <a:t>403 </a:t>
              </a:r>
              <a:r>
                <a:rPr lang="ko-KR" altLang="en-US" sz="1200">
                  <a:solidFill>
                    <a:schemeClr val="bg1"/>
                  </a:solidFill>
                </a:rPr>
                <a:t>오류가 발생했는데</a:t>
              </a:r>
              <a:r>
                <a:rPr lang="en-US" altLang="ko-KR" sz="1200">
                  <a:solidFill>
                    <a:schemeClr val="bg1"/>
                  </a:solidFill>
                </a:rPr>
                <a:t>,</a:t>
              </a:r>
              <a:br>
                <a:rPr lang="en-US" altLang="ko-KR" sz="1200">
                  <a:solidFill>
                    <a:schemeClr val="bg1"/>
                  </a:solidFill>
                </a:rPr>
              </a:br>
              <a:r>
                <a:rPr lang="ko-KR" altLang="en-US" sz="1200">
                  <a:solidFill>
                    <a:schemeClr val="bg1"/>
                  </a:solidFill>
                </a:rPr>
                <a:t>포트 문제라기보다는 프론트엔드와 백엔드 서버가 분리된 환경에서</a:t>
              </a:r>
              <a:br>
                <a:rPr lang="ko-KR" altLang="en-US" sz="1200">
                  <a:solidFill>
                    <a:schemeClr val="bg1"/>
                  </a:solidFill>
                </a:rPr>
              </a:br>
              <a:r>
                <a:rPr lang="en-US" altLang="ko-KR" sz="1200">
                  <a:solidFill>
                    <a:schemeClr val="bg1"/>
                  </a:solidFill>
                </a:rPr>
                <a:t>CORS </a:t>
              </a:r>
              <a:r>
                <a:rPr lang="ko-KR" altLang="en-US" sz="1200">
                  <a:solidFill>
                    <a:schemeClr val="bg1"/>
                  </a:solidFill>
                </a:rPr>
                <a:t>설정이 되지 않아 요청이 차단된 것이 원인이었습니다</a:t>
              </a:r>
              <a:r>
                <a:rPr lang="en-US" altLang="ko-KR" sz="1200">
                  <a:solidFill>
                    <a:schemeClr val="bg1"/>
                  </a:solidFill>
                </a:rPr>
                <a:t>.</a:t>
              </a:r>
              <a:br>
                <a:rPr lang="en-US" altLang="ko-KR" sz="1200">
                  <a:solidFill>
                    <a:schemeClr val="bg1"/>
                  </a:solidFill>
                </a:rPr>
              </a:br>
              <a:r>
                <a:rPr lang="en-US" altLang="ko-KR" sz="1200">
                  <a:solidFill>
                    <a:schemeClr val="bg1"/>
                  </a:solidFill>
                </a:rPr>
                <a:t>Spring Security</a:t>
              </a:r>
              <a:r>
                <a:rPr lang="ko-KR" altLang="en-US" sz="1200">
                  <a:solidFill>
                    <a:schemeClr val="bg1"/>
                  </a:solidFill>
                </a:rPr>
                <a:t>에서 프론트엔드 주소를 허용해 문제를 해결했습니다</a:t>
              </a:r>
              <a:r>
                <a:rPr lang="en-US" altLang="ko-KR" sz="1200">
                  <a:solidFill>
                    <a:schemeClr val="bg1"/>
                  </a:solidFill>
                </a:rPr>
                <a:t>.</a:t>
              </a:r>
              <a:endParaRPr lang="ko-KR" altLang="en-US" sz="12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9002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BC2433-F075-BF9A-8254-FAEAB1C4A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A80CF22-F024-C5F9-D90D-F3E73823E523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5DDA7F0-07C2-EAB4-CC4B-1276462F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login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23316F-8EB5-356B-0321-73A70093F0C4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정상로그인 확인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35835-75CF-FAF1-0DC5-8E5E8492A04A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A14677-F2EF-7FF6-7071-44F44398B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39063"/>
            <a:ext cx="4595118" cy="37731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EC158E-6476-99DD-702D-CAF56B79C095}"/>
              </a:ext>
            </a:extLst>
          </p:cNvPr>
          <p:cNvSpPr txBox="1"/>
          <p:nvPr/>
        </p:nvSpPr>
        <p:spPr>
          <a:xfrm>
            <a:off x="1883348" y="3289994"/>
            <a:ext cx="2633376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rkfnsk10@naver.com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D6612CD-FD36-0E6B-47A6-238F4469BF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811" t="47379" r="703" b="30462"/>
          <a:stretch>
            <a:fillRect/>
          </a:stretch>
        </p:blipFill>
        <p:spPr>
          <a:xfrm>
            <a:off x="6396793" y="4209730"/>
            <a:ext cx="4006283" cy="1602463"/>
          </a:xfrm>
          <a:prstGeom prst="rect">
            <a:avLst/>
          </a:prstGeom>
        </p:spPr>
      </p:pic>
      <p:sp>
        <p:nvSpPr>
          <p:cNvPr id="19" name="제목 1">
            <a:extLst>
              <a:ext uri="{FF2B5EF4-FFF2-40B4-BE49-F238E27FC236}">
                <a16:creationId xmlns:a16="http://schemas.microsoft.com/office/drawing/2014/main" id="{50C3D79B-E0E4-B9BF-C5BA-224033FE1DF5}"/>
              </a:ext>
            </a:extLst>
          </p:cNvPr>
          <p:cNvSpPr txBox="1">
            <a:spLocks/>
          </p:cNvSpPr>
          <p:nvPr/>
        </p:nvSpPr>
        <p:spPr>
          <a:xfrm>
            <a:off x="6339585" y="2146300"/>
            <a:ext cx="4315716" cy="19655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400" b="1"/>
              <a:t>Login-passwordless</a:t>
            </a:r>
          </a:p>
          <a:p>
            <a:endParaRPr lang="en-US" altLang="ko-KR" sz="1400" b="1"/>
          </a:p>
          <a:p>
            <a:r>
              <a:rPr lang="ko-KR" altLang="en-US" sz="1400"/>
              <a:t>정상로그인 </a:t>
            </a:r>
            <a:r>
              <a:rPr lang="en-US" altLang="ko-KR" sz="1400"/>
              <a:t>200</a:t>
            </a:r>
            <a:r>
              <a:rPr lang="ko-KR" altLang="en-US" sz="1400"/>
              <a:t>호출확인</a:t>
            </a:r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패스워드리스로 </a:t>
            </a:r>
            <a:endParaRPr lang="en-US" altLang="ko-KR" sz="1400"/>
          </a:p>
          <a:p>
            <a:r>
              <a:rPr lang="ko-KR" altLang="en-US" sz="1400"/>
              <a:t>회원가입시 입력한 이메일로 </a:t>
            </a:r>
            <a:r>
              <a:rPr lang="en-US" altLang="ko-KR" sz="1400">
                <a:hlinkClick r:id="rId3"/>
              </a:rPr>
              <a:t>rkfnsk10@naver.com</a:t>
            </a:r>
            <a:endParaRPr lang="en-US" altLang="ko-KR" sz="1400"/>
          </a:p>
          <a:p>
            <a:r>
              <a:rPr lang="ko-KR" altLang="en-US" sz="1400"/>
              <a:t>본인폰으로 인증 후 로그</a:t>
            </a:r>
            <a:endParaRPr lang="en-US" altLang="ko-KR" sz="140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EDFF88F-261C-9496-EC54-27903F8CEA5D}"/>
              </a:ext>
            </a:extLst>
          </p:cNvPr>
          <p:cNvSpPr/>
          <p:nvPr/>
        </p:nvSpPr>
        <p:spPr>
          <a:xfrm>
            <a:off x="3619500" y="4274312"/>
            <a:ext cx="1409700" cy="513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6534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E3348-8AD9-4559-16DA-29AD68E0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EC95BCC-F68F-98E3-5D86-602E0BAE8ECB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D7AC03-8EAE-7828-87DB-75495BFA5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Login-email</a:t>
            </a:r>
            <a:r>
              <a:rPr lang="ko-KR" altLang="en-US"/>
              <a:t>인증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0BF8DEE-AF1C-F478-1454-1917B1DAC126}"/>
              </a:ext>
            </a:extLst>
          </p:cNvPr>
          <p:cNvSpPr txBox="1">
            <a:spLocks/>
          </p:cNvSpPr>
          <p:nvPr/>
        </p:nvSpPr>
        <p:spPr>
          <a:xfrm>
            <a:off x="5204330" y="803914"/>
            <a:ext cx="4467569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200"/>
              <a:t>인증번호입력</a:t>
            </a: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E524F74-3004-10B1-004D-C5C3C0C5AA3A}"/>
              </a:ext>
            </a:extLst>
          </p:cNvPr>
          <p:cNvSpPr/>
          <p:nvPr/>
        </p:nvSpPr>
        <p:spPr>
          <a:xfrm>
            <a:off x="6898658" y="3995949"/>
            <a:ext cx="308478" cy="257822"/>
          </a:xfrm>
          <a:prstGeom prst="rightArrow">
            <a:avLst/>
          </a:prstGeom>
          <a:solidFill>
            <a:srgbClr val="BABA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8A8DA48-A9E9-3DE6-98EE-4ABE7FAA6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9156" y="1825984"/>
            <a:ext cx="2903459" cy="425170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F67C5EF-92B8-4C5E-000F-BC0267D23C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3686"/>
          <a:stretch>
            <a:fillRect/>
          </a:stretch>
        </p:blipFill>
        <p:spPr>
          <a:xfrm>
            <a:off x="1456656" y="2506575"/>
            <a:ext cx="5163087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693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0393B-B5A5-B831-4E4A-6BE137F8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45C2458-C255-6552-74F2-936AC1DD12A4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B280A5-F0E1-3F90-1550-1FA951963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ADMIN-login</a:t>
            </a:r>
            <a:r>
              <a:rPr lang="ko-KR" altLang="en-US"/>
              <a:t>관리자페이지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7DEB81-9D86-E38A-3373-B9E3F299648B}"/>
              </a:ext>
            </a:extLst>
          </p:cNvPr>
          <p:cNvSpPr txBox="1"/>
          <p:nvPr/>
        </p:nvSpPr>
        <p:spPr>
          <a:xfrm>
            <a:off x="915367" y="1315765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관리자아디로 로그인 </a:t>
            </a:r>
            <a:r>
              <a:rPr lang="en-US" altLang="ko-KR" sz="1200"/>
              <a:t>200</a:t>
            </a:r>
            <a:r>
              <a:rPr lang="ko-KR" altLang="en-US" sz="1200"/>
              <a:t>호출 확인 후 관리자페이지에서 </a:t>
            </a:r>
            <a:r>
              <a:rPr lang="en-US" altLang="ko-KR" sz="1200"/>
              <a:t>DB</a:t>
            </a:r>
            <a:r>
              <a:rPr lang="ko-KR" altLang="en-US" sz="1200"/>
              <a:t>에 넣은 더미데이터 확인</a:t>
            </a:r>
            <a:r>
              <a:rPr lang="en-US" altLang="ko-KR" sz="1200"/>
              <a:t> </a:t>
            </a:r>
            <a:endParaRPr lang="ko-KR" alt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F01619-6AAF-B784-C637-BCAF1E66C83F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0E2C94C-84D0-3A08-FEC0-16999ADF32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648" r="15151"/>
          <a:stretch>
            <a:fillRect/>
          </a:stretch>
        </p:blipFill>
        <p:spPr>
          <a:xfrm>
            <a:off x="1054100" y="1833743"/>
            <a:ext cx="5291424" cy="407261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D4DCB40-3FDC-3CDF-3581-302D37653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347" y="1842758"/>
            <a:ext cx="4609261" cy="4063602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256888A0-0359-1982-5699-01C85F7F6200}"/>
              </a:ext>
            </a:extLst>
          </p:cNvPr>
          <p:cNvGrpSpPr/>
          <p:nvPr/>
        </p:nvGrpSpPr>
        <p:grpSpPr>
          <a:xfrm>
            <a:off x="8939951" y="3331770"/>
            <a:ext cx="2064660" cy="672366"/>
            <a:chOff x="6750957" y="4796806"/>
            <a:chExt cx="2817280" cy="91746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1E04EFCC-9518-5DEF-3777-86B1BCCFBE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50957" y="4796807"/>
              <a:ext cx="2793152" cy="917459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3CD6444C-6EF1-D665-5025-87DA4F9E8526}"/>
                </a:ext>
              </a:extLst>
            </p:cNvPr>
            <p:cNvSpPr/>
            <p:nvPr/>
          </p:nvSpPr>
          <p:spPr>
            <a:xfrm>
              <a:off x="6775085" y="4796806"/>
              <a:ext cx="2793152" cy="91745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5AE3991-BC1C-AFA1-A0EC-498411C3DABC}"/>
              </a:ext>
            </a:extLst>
          </p:cNvPr>
          <p:cNvSpPr/>
          <p:nvPr/>
        </p:nvSpPr>
        <p:spPr>
          <a:xfrm>
            <a:off x="1468199" y="2810520"/>
            <a:ext cx="1797513" cy="148933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543CB3-50F9-C2A4-3EC5-6D5837AC3F31}"/>
              </a:ext>
            </a:extLst>
          </p:cNvPr>
          <p:cNvSpPr txBox="1"/>
          <p:nvPr/>
        </p:nvSpPr>
        <p:spPr>
          <a:xfrm>
            <a:off x="3388012" y="3061146"/>
            <a:ext cx="2237342" cy="2769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/>
              <a:t>관리자</a:t>
            </a:r>
            <a:r>
              <a:rPr lang="en-US" altLang="ko-KR" sz="1200"/>
              <a:t>idrkfnsk10@naver.com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9B25BE3-BD1C-61BC-C801-78B56D4CC734}"/>
              </a:ext>
            </a:extLst>
          </p:cNvPr>
          <p:cNvSpPr/>
          <p:nvPr/>
        </p:nvSpPr>
        <p:spPr>
          <a:xfrm>
            <a:off x="5015652" y="4354841"/>
            <a:ext cx="1419241" cy="43768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0848ADA0-372E-6664-3EBB-6CABF75481E1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>
            <a:off x="3265712" y="3555188"/>
            <a:ext cx="1749940" cy="1018496"/>
          </a:xfrm>
          <a:prstGeom prst="bentConnector3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9E4FBDAA-BAFE-0DA1-AB19-7A2DE22846DD}"/>
              </a:ext>
            </a:extLst>
          </p:cNvPr>
          <p:cNvCxnSpPr>
            <a:cxnSpLocks/>
          </p:cNvCxnSpPr>
          <p:nvPr/>
        </p:nvCxnSpPr>
        <p:spPr>
          <a:xfrm flipV="1">
            <a:off x="6434893" y="3667952"/>
            <a:ext cx="2505058" cy="834571"/>
          </a:xfrm>
          <a:prstGeom prst="bentConnector3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594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2393C-531C-6A1B-C836-F0F09655E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AF75910-7DAC-7252-AE12-6FDD14ACE3C0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62952B-FC4D-E85C-39A7-890AF8CCE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React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6E96BD-90B7-EA4B-38F0-83F9AEC035AE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2666B0-5F95-7DB5-58CB-B9BD8A05F0E6}"/>
              </a:ext>
            </a:extLst>
          </p:cNvPr>
          <p:cNvSpPr txBox="1"/>
          <p:nvPr/>
        </p:nvSpPr>
        <p:spPr>
          <a:xfrm>
            <a:off x="7259944" y="2102506"/>
            <a:ext cx="38377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cmd</a:t>
            </a:r>
          </a:p>
          <a:p>
            <a:endParaRPr lang="en-US" altLang="ko-KR" sz="1400"/>
          </a:p>
          <a:p>
            <a:r>
              <a:rPr lang="en-US" altLang="ko-KR" sz="1400"/>
              <a:t>npm create vite@latest router</a:t>
            </a:r>
            <a:endParaRPr lang="ko-KR" altLang="en-US" sz="14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29E2D62-88D2-919E-32FA-7E0C0B1A1B6C}"/>
              </a:ext>
            </a:extLst>
          </p:cNvPr>
          <p:cNvSpPr/>
          <p:nvPr/>
        </p:nvSpPr>
        <p:spPr>
          <a:xfrm>
            <a:off x="1334621" y="4095040"/>
            <a:ext cx="3051847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C4B018-41B9-7EB7-D66B-A6E7EB7A7EA9}"/>
              </a:ext>
            </a:extLst>
          </p:cNvPr>
          <p:cNvSpPr txBox="1"/>
          <p:nvPr/>
        </p:nvSpPr>
        <p:spPr>
          <a:xfrm>
            <a:off x="4349788" y="4109570"/>
            <a:ext cx="956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rgbClr val="F2F2F2"/>
                </a:solidFill>
              </a:rPr>
              <a:t>삭제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4B0F54-2290-7664-C460-0DB6519A52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07" b="12428"/>
          <a:stretch>
            <a:fillRect/>
          </a:stretch>
        </p:blipFill>
        <p:spPr>
          <a:xfrm>
            <a:off x="1296132" y="2066368"/>
            <a:ext cx="4799868" cy="364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2819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5C4CD-5EA6-182E-66F6-A4B4AD052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557EE14-C922-4A50-C48D-02F267F136B7}"/>
              </a:ext>
            </a:extLst>
          </p:cNvPr>
          <p:cNvSpPr/>
          <p:nvPr/>
        </p:nvSpPr>
        <p:spPr>
          <a:xfrm>
            <a:off x="966597" y="1602463"/>
            <a:ext cx="10515600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4EA103C-63D4-58BC-1043-360379F07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user-member</a:t>
            </a:r>
            <a:r>
              <a:rPr lang="ko-KR" altLang="en-US"/>
              <a:t>분리</a:t>
            </a:r>
            <a:r>
              <a:rPr lang="en-US" altLang="ko-KR" sz="3000"/>
              <a:t>-passwordless</a:t>
            </a:r>
            <a:r>
              <a:rPr lang="ko-KR" altLang="en-US" sz="2500"/>
              <a:t>적용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AAB1D9-B7E9-8920-279A-C57E9398ECF7}"/>
              </a:ext>
            </a:extLst>
          </p:cNvPr>
          <p:cNvSpPr txBox="1"/>
          <p:nvPr/>
        </p:nvSpPr>
        <p:spPr>
          <a:xfrm>
            <a:off x="1123950" y="1833563"/>
            <a:ext cx="1022985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/>
              <a:t>Member </a:t>
            </a:r>
            <a:r>
              <a:rPr lang="ko-KR" altLang="en-US" sz="1000" b="1"/>
              <a:t>테이블</a:t>
            </a:r>
            <a:r>
              <a:rPr lang="en-US" altLang="ko-KR" sz="1000"/>
              <a:t>: "</a:t>
            </a:r>
            <a:r>
              <a:rPr lang="ko-KR" altLang="en-US" sz="1000"/>
              <a:t>아이디</a:t>
            </a:r>
            <a:r>
              <a:rPr lang="en-US" altLang="ko-KR" sz="1000"/>
              <a:t>/</a:t>
            </a:r>
            <a:r>
              <a:rPr lang="ko-KR" altLang="en-US" sz="1000"/>
              <a:t>비밀번호</a:t>
            </a:r>
            <a:r>
              <a:rPr lang="en-US" altLang="ko-KR" sz="1000"/>
              <a:t>"</a:t>
            </a:r>
            <a:r>
              <a:rPr lang="ko-KR" altLang="en-US" sz="1000"/>
              <a:t>라는 전통적인 열쇠를 선택한 사람들만을 위한 별도의 공간입니다</a:t>
            </a:r>
            <a:r>
              <a:rPr lang="en-US" altLang="ko-KR" sz="1000"/>
              <a:t>.</a:t>
            </a:r>
          </a:p>
          <a:p>
            <a:r>
              <a:rPr lang="ko-KR" altLang="en-US" sz="1000"/>
              <a:t>만약 이 둘을 합쳐버리면</a:t>
            </a:r>
            <a:r>
              <a:rPr lang="en-US" altLang="ko-KR" sz="1000"/>
              <a:t>, </a:t>
            </a:r>
            <a:r>
              <a:rPr lang="ko-KR" altLang="en-US" sz="1000"/>
              <a:t>비밀번호 없이 들어오는 소셜 로그인 사용자들의 데이터에 </a:t>
            </a:r>
            <a:r>
              <a:rPr lang="en-US" altLang="ko-KR" sz="1000"/>
              <a:t>password </a:t>
            </a:r>
            <a:r>
              <a:rPr lang="ko-KR" altLang="en-US" sz="1000"/>
              <a:t>컬럼이 비어있게</a:t>
            </a:r>
            <a:r>
              <a:rPr lang="en-US" altLang="ko-KR" sz="1000"/>
              <a:t>(null) </a:t>
            </a:r>
            <a:r>
              <a:rPr lang="ko-KR" altLang="en-US" sz="1000"/>
              <a:t>되어 데이터 구조가 지저분해집니다</a:t>
            </a:r>
            <a:r>
              <a:rPr lang="en-US" altLang="ko-KR" sz="1000"/>
              <a:t>. </a:t>
            </a:r>
          </a:p>
          <a:p>
            <a:r>
              <a:rPr lang="ko-KR" altLang="en-US" sz="1000"/>
              <a:t>이걸 방지하려고</a:t>
            </a:r>
            <a:r>
              <a:rPr lang="en-US" altLang="ko-KR" sz="1000"/>
              <a:t>user/member </a:t>
            </a:r>
            <a:r>
              <a:rPr lang="ko-KR" altLang="en-US" sz="1000"/>
              <a:t>따로 설계했습니다</a:t>
            </a:r>
            <a:r>
              <a:rPr lang="en-US" altLang="ko-KR" sz="1000"/>
              <a:t>.</a:t>
            </a:r>
          </a:p>
          <a:p>
            <a:endParaRPr lang="en-US" altLang="ko-KR" sz="1000"/>
          </a:p>
          <a:p>
            <a:r>
              <a:rPr lang="en-US" altLang="ko-KR" sz="1000" b="1"/>
              <a:t>[</a:t>
            </a:r>
            <a:r>
              <a:rPr lang="ko-KR" altLang="en-US" sz="1000" b="1"/>
              <a:t>인증의 독립성</a:t>
            </a:r>
            <a:r>
              <a:rPr lang="en-US" altLang="ko-KR" sz="1000" b="1"/>
              <a:t>] "</a:t>
            </a:r>
            <a:r>
              <a:rPr lang="ko-KR" altLang="en-US" sz="1000" b="1"/>
              <a:t>로그인 수단</a:t>
            </a:r>
            <a:r>
              <a:rPr lang="en-US" altLang="ko-KR" sz="1000" b="1"/>
              <a:t>"</a:t>
            </a:r>
            <a:r>
              <a:rPr lang="ko-KR" altLang="en-US" sz="1000" b="1"/>
              <a:t>과 </a:t>
            </a:r>
            <a:r>
              <a:rPr lang="en-US" altLang="ko-KR" sz="1000" b="1"/>
              <a:t>"</a:t>
            </a:r>
            <a:r>
              <a:rPr lang="ko-KR" altLang="en-US" sz="1000" b="1"/>
              <a:t>사용자</a:t>
            </a:r>
            <a:r>
              <a:rPr lang="en-US" altLang="ko-KR" sz="1000" b="1"/>
              <a:t>"</a:t>
            </a:r>
            <a:r>
              <a:rPr lang="ko-KR" altLang="en-US" sz="1000" b="1"/>
              <a:t>를 분리하기 위해</a:t>
            </a:r>
          </a:p>
          <a:p>
            <a:r>
              <a:rPr lang="en-US" altLang="ko-KR" sz="1000"/>
              <a:t>User: </a:t>
            </a:r>
            <a:r>
              <a:rPr lang="ko-KR" altLang="en-US" sz="1000"/>
              <a:t>우리 서비스의 </a:t>
            </a:r>
            <a:r>
              <a:rPr lang="en-US" altLang="ko-KR" sz="1000"/>
              <a:t>'</a:t>
            </a:r>
            <a:r>
              <a:rPr lang="ko-KR" altLang="en-US" sz="1000"/>
              <a:t>고객</a:t>
            </a:r>
            <a:r>
              <a:rPr lang="en-US" altLang="ko-KR" sz="1000"/>
              <a:t>' </a:t>
            </a:r>
            <a:r>
              <a:rPr lang="ko-KR" altLang="en-US" sz="1000"/>
              <a:t>그 자체입니다</a:t>
            </a:r>
            <a:r>
              <a:rPr lang="en-US" altLang="ko-KR" sz="1000"/>
              <a:t>. (</a:t>
            </a:r>
            <a:r>
              <a:rPr lang="ko-KR" altLang="en-US" sz="1000"/>
              <a:t>누가 샀는지</a:t>
            </a:r>
            <a:r>
              <a:rPr lang="en-US" altLang="ko-KR" sz="1000"/>
              <a:t>, </a:t>
            </a:r>
            <a:r>
              <a:rPr lang="ko-KR" altLang="en-US" sz="1000"/>
              <a:t>누군지</a:t>
            </a:r>
            <a:r>
              <a:rPr lang="en-US" altLang="ko-KR" sz="1000"/>
              <a:t>) Member: </a:t>
            </a:r>
            <a:r>
              <a:rPr lang="ko-KR" altLang="en-US" sz="1000"/>
              <a:t>그 고객이 </a:t>
            </a:r>
            <a:r>
              <a:rPr lang="en-US" altLang="ko-KR" sz="1000"/>
              <a:t>'</a:t>
            </a:r>
            <a:r>
              <a:rPr lang="ko-KR" altLang="en-US" sz="1000"/>
              <a:t>로그인하는 방법</a:t>
            </a:r>
            <a:r>
              <a:rPr lang="en-US" altLang="ko-KR" sz="1000"/>
              <a:t>'</a:t>
            </a:r>
            <a:r>
              <a:rPr lang="ko-KR" altLang="en-US" sz="1000"/>
              <a:t>입니다</a:t>
            </a:r>
            <a:r>
              <a:rPr lang="en-US" altLang="ko-KR" sz="1000"/>
              <a:t>. (</a:t>
            </a:r>
            <a:r>
              <a:rPr lang="ko-KR" altLang="en-US" sz="1000"/>
              <a:t>아이디</a:t>
            </a:r>
            <a:r>
              <a:rPr lang="en-US" altLang="ko-KR" sz="1000"/>
              <a:t>/</a:t>
            </a:r>
            <a:r>
              <a:rPr lang="ko-KR" altLang="en-US" sz="1000"/>
              <a:t>비밀번호</a:t>
            </a:r>
            <a:r>
              <a:rPr lang="en-US" altLang="ko-KR" sz="1000"/>
              <a:t>)</a:t>
            </a:r>
          </a:p>
          <a:p>
            <a:r>
              <a:rPr lang="ko-KR" altLang="en-US" sz="1000"/>
              <a:t>이유</a:t>
            </a:r>
            <a:r>
              <a:rPr lang="en-US" altLang="ko-KR" sz="1000"/>
              <a:t>: </a:t>
            </a:r>
            <a:r>
              <a:rPr lang="ko-KR" altLang="en-US" sz="1000"/>
              <a:t>만약 나중에 카카오</a:t>
            </a:r>
            <a:r>
              <a:rPr lang="en-US" altLang="ko-KR" sz="1000"/>
              <a:t>/</a:t>
            </a:r>
            <a:r>
              <a:rPr lang="ko-KR" altLang="en-US" sz="1000"/>
              <a:t>구글 로그인을 붙인다면</a:t>
            </a:r>
            <a:r>
              <a:rPr lang="en-US" altLang="ko-KR" sz="1000"/>
              <a:t>, Member </a:t>
            </a:r>
            <a:r>
              <a:rPr lang="ko-KR" altLang="en-US" sz="1000"/>
              <a:t>정보</a:t>
            </a:r>
            <a:r>
              <a:rPr lang="en-US" altLang="ko-KR" sz="1000"/>
              <a:t>(</a:t>
            </a:r>
            <a:r>
              <a:rPr lang="ko-KR" altLang="en-US" sz="1000"/>
              <a:t>비밀번호</a:t>
            </a:r>
            <a:r>
              <a:rPr lang="en-US" altLang="ko-KR" sz="1000"/>
              <a:t>)</a:t>
            </a:r>
            <a:r>
              <a:rPr lang="ko-KR" altLang="en-US" sz="1000"/>
              <a:t>가 없는 사람도 우리 서비스의 </a:t>
            </a:r>
            <a:r>
              <a:rPr lang="en-US" altLang="ko-KR" sz="1000"/>
              <a:t>User</a:t>
            </a:r>
            <a:r>
              <a:rPr lang="ko-KR" altLang="en-US" sz="1000"/>
              <a:t>는 될 수 있어야 합니다</a:t>
            </a:r>
            <a:r>
              <a:rPr lang="en-US" altLang="ko-KR" sz="1000"/>
              <a:t>. </a:t>
            </a:r>
            <a:r>
              <a:rPr lang="ko-KR" altLang="en-US" sz="1000"/>
              <a:t>즉</a:t>
            </a:r>
            <a:r>
              <a:rPr lang="en-US" altLang="ko-KR" sz="1000"/>
              <a:t>, </a:t>
            </a:r>
            <a:r>
              <a:rPr lang="ko-KR" altLang="en-US" sz="1000"/>
              <a:t>다양한 로그인 방식을 수용하기 위해 </a:t>
            </a:r>
            <a:r>
              <a:rPr lang="en-US" altLang="ko-KR" sz="1000"/>
              <a:t>Member</a:t>
            </a:r>
            <a:r>
              <a:rPr lang="ko-KR" altLang="en-US" sz="1000"/>
              <a:t>를 따로 떼어놓은 것입니다</a:t>
            </a:r>
            <a:r>
              <a:rPr lang="en-US" altLang="ko-KR" sz="1000"/>
              <a:t>.</a:t>
            </a:r>
          </a:p>
          <a:p>
            <a:endParaRPr lang="en-US" altLang="ko-KR" sz="1000"/>
          </a:p>
          <a:p>
            <a:r>
              <a:rPr lang="en-US" altLang="ko-KR" sz="1000" b="1"/>
              <a:t>[</a:t>
            </a:r>
            <a:r>
              <a:rPr lang="ko-KR" altLang="en-US" sz="1000" b="1"/>
              <a:t>데이터 보안 계층화</a:t>
            </a:r>
            <a:r>
              <a:rPr lang="en-US" altLang="ko-KR" sz="1000" b="1"/>
              <a:t>] "</a:t>
            </a:r>
            <a:r>
              <a:rPr lang="ko-KR" altLang="en-US" sz="1000" b="1"/>
              <a:t>민감 정보</a:t>
            </a:r>
            <a:r>
              <a:rPr lang="en-US" altLang="ko-KR" sz="1000" b="1"/>
              <a:t>" </a:t>
            </a:r>
            <a:r>
              <a:rPr lang="ko-KR" altLang="en-US" sz="1000" b="1"/>
              <a:t>격리</a:t>
            </a:r>
          </a:p>
          <a:p>
            <a:r>
              <a:rPr lang="en-US" altLang="ko-KR" sz="1000"/>
              <a:t>User </a:t>
            </a:r>
            <a:r>
              <a:rPr lang="ko-KR" altLang="en-US" sz="1000"/>
              <a:t>테이블은 이름</a:t>
            </a:r>
            <a:r>
              <a:rPr lang="en-US" altLang="ko-KR" sz="1000"/>
              <a:t>, </a:t>
            </a:r>
            <a:r>
              <a:rPr lang="ko-KR" altLang="en-US" sz="1000"/>
              <a:t>이메일 등 서비스 곳곳</a:t>
            </a:r>
            <a:r>
              <a:rPr lang="en-US" altLang="ko-KR" sz="1000"/>
              <a:t>(</a:t>
            </a:r>
            <a:r>
              <a:rPr lang="ko-KR" altLang="en-US" sz="1000"/>
              <a:t>게시판</a:t>
            </a:r>
            <a:r>
              <a:rPr lang="en-US" altLang="ko-KR" sz="1000"/>
              <a:t>, </a:t>
            </a:r>
            <a:r>
              <a:rPr lang="ko-KR" altLang="en-US" sz="1000"/>
              <a:t>주문</a:t>
            </a:r>
            <a:r>
              <a:rPr lang="en-US" altLang="ko-KR" sz="1000"/>
              <a:t>)</a:t>
            </a:r>
            <a:r>
              <a:rPr lang="ko-KR" altLang="en-US" sz="1000"/>
              <a:t>에서 자주 조회됩니다</a:t>
            </a:r>
            <a:r>
              <a:rPr lang="en-US" altLang="ko-KR" sz="1000"/>
              <a:t>. </a:t>
            </a:r>
            <a:r>
              <a:rPr lang="ko-KR" altLang="en-US" sz="1000"/>
              <a:t>반면 </a:t>
            </a:r>
            <a:r>
              <a:rPr lang="en-US" altLang="ko-KR" sz="1000"/>
              <a:t>Member </a:t>
            </a:r>
            <a:r>
              <a:rPr lang="ko-KR" altLang="en-US" sz="1000"/>
              <a:t>테이블에는 비밀번호 같은 치명적인 정보가 담깁니다</a:t>
            </a:r>
            <a:r>
              <a:rPr lang="en-US" altLang="ko-KR" sz="1000"/>
              <a:t>.</a:t>
            </a:r>
          </a:p>
          <a:p>
            <a:r>
              <a:rPr lang="ko-KR" altLang="en-US" sz="1000"/>
              <a:t>이유</a:t>
            </a:r>
            <a:r>
              <a:rPr lang="en-US" altLang="ko-KR" sz="1000"/>
              <a:t>: </a:t>
            </a:r>
            <a:r>
              <a:rPr lang="ko-KR" altLang="en-US" sz="1000"/>
              <a:t>보안 사고가 나더라도 서비스용 데이터</a:t>
            </a:r>
            <a:r>
              <a:rPr lang="en-US" altLang="ko-KR" sz="1000"/>
              <a:t>(User)</a:t>
            </a:r>
            <a:r>
              <a:rPr lang="ko-KR" altLang="en-US" sz="1000"/>
              <a:t>와 인증용 데이터</a:t>
            </a:r>
            <a:r>
              <a:rPr lang="en-US" altLang="ko-KR" sz="1000"/>
              <a:t>(Member)</a:t>
            </a:r>
            <a:r>
              <a:rPr lang="ko-KR" altLang="en-US" sz="1000"/>
              <a:t>를 분리해두면</a:t>
            </a:r>
            <a:r>
              <a:rPr lang="en-US" altLang="ko-KR" sz="1000"/>
              <a:t>, </a:t>
            </a:r>
            <a:r>
              <a:rPr lang="ko-KR" altLang="en-US" sz="1000"/>
              <a:t>해커가 고객 명부는 봐도 비밀번호까지는 털어가기 힘들게 층을 나눠놓은 것입니다</a:t>
            </a:r>
            <a:r>
              <a:rPr lang="en-US" altLang="ko-KR" sz="1000"/>
              <a:t>.</a:t>
            </a:r>
          </a:p>
          <a:p>
            <a:endParaRPr lang="en-US" altLang="ko-KR" sz="1000"/>
          </a:p>
          <a:p>
            <a:r>
              <a:rPr lang="ko-KR" altLang="en-US" sz="1000" b="1"/>
              <a:t>트러블슈팅</a:t>
            </a:r>
          </a:p>
          <a:p>
            <a:r>
              <a:rPr lang="ko-KR" altLang="en-US" sz="1000"/>
              <a:t>현재 </a:t>
            </a:r>
            <a:r>
              <a:rPr lang="en-US" altLang="ko-KR" sz="1000"/>
              <a:t>"</a:t>
            </a:r>
            <a:r>
              <a:rPr lang="ko-KR" altLang="en-US" sz="1000"/>
              <a:t>가입 오류</a:t>
            </a:r>
            <a:r>
              <a:rPr lang="en-US" altLang="ko-KR" sz="1000"/>
              <a:t>"</a:t>
            </a:r>
            <a:r>
              <a:rPr lang="ko-KR" altLang="en-US" sz="1000"/>
              <a:t>의 기술적 원인 </a:t>
            </a:r>
            <a:r>
              <a:rPr lang="en-US" altLang="ko-KR" sz="1000"/>
              <a:t>(</a:t>
            </a:r>
            <a:r>
              <a:rPr lang="ko-KR" altLang="en-US" sz="1000"/>
              <a:t>추측</a:t>
            </a:r>
            <a:r>
              <a:rPr lang="en-US" altLang="ko-KR" sz="1000"/>
              <a:t>)</a:t>
            </a:r>
          </a:p>
          <a:p>
            <a:r>
              <a:rPr lang="ko-KR" altLang="en-US" sz="1000"/>
              <a:t>지금 리액트에서 가입을 누르면 </a:t>
            </a:r>
            <a:r>
              <a:rPr lang="en-US" altLang="ko-KR" sz="1000"/>
              <a:t>Member </a:t>
            </a:r>
            <a:r>
              <a:rPr lang="ko-KR" altLang="en-US" sz="1000"/>
              <a:t>정보만 들어오고 있는데</a:t>
            </a:r>
            <a:r>
              <a:rPr lang="en-US" altLang="ko-KR" sz="1000"/>
              <a:t>, DB </a:t>
            </a:r>
            <a:r>
              <a:rPr lang="ko-KR" altLang="en-US" sz="1000"/>
              <a:t>설계상 </a:t>
            </a:r>
            <a:r>
              <a:rPr lang="en-US" altLang="ko-KR" sz="1000"/>
              <a:t>User </a:t>
            </a:r>
            <a:r>
              <a:rPr lang="ko-KR" altLang="en-US" sz="1000"/>
              <a:t>테이블이 주인</a:t>
            </a:r>
            <a:r>
              <a:rPr lang="en-US" altLang="ko-KR" sz="1000"/>
              <a:t>(Parent)</a:t>
            </a:r>
            <a:r>
              <a:rPr lang="ko-KR" altLang="en-US" sz="1000"/>
              <a:t>이고 </a:t>
            </a:r>
            <a:r>
              <a:rPr lang="en-US" altLang="ko-KR" sz="1000"/>
              <a:t>Member</a:t>
            </a:r>
            <a:r>
              <a:rPr lang="ko-KR" altLang="en-US" sz="1000"/>
              <a:t>가 종</a:t>
            </a:r>
            <a:r>
              <a:rPr lang="en-US" altLang="ko-KR" sz="1000"/>
              <a:t>(Child)</a:t>
            </a:r>
            <a:r>
              <a:rPr lang="ko-KR" altLang="en-US" sz="1000"/>
              <a:t>으로 묶여 있다면 오류가 납니다</a:t>
            </a:r>
            <a:r>
              <a:rPr lang="en-US" altLang="ko-KR" sz="1000"/>
              <a:t>.</a:t>
            </a:r>
          </a:p>
          <a:p>
            <a:r>
              <a:rPr lang="ko-KR" altLang="en-US" sz="1000"/>
              <a:t>상황</a:t>
            </a:r>
            <a:r>
              <a:rPr lang="en-US" altLang="ko-KR" sz="1000"/>
              <a:t>: "</a:t>
            </a:r>
            <a:r>
              <a:rPr lang="ko-KR" altLang="en-US" sz="1000"/>
              <a:t>회원</a:t>
            </a:r>
            <a:r>
              <a:rPr lang="en-US" altLang="ko-KR" sz="1000"/>
              <a:t>(Member)</a:t>
            </a:r>
            <a:r>
              <a:rPr lang="ko-KR" altLang="en-US" sz="1000"/>
              <a:t>은 있는데</a:t>
            </a:r>
            <a:r>
              <a:rPr lang="en-US" altLang="ko-KR" sz="1000"/>
              <a:t>, </a:t>
            </a:r>
            <a:r>
              <a:rPr lang="ko-KR" altLang="en-US" sz="1000"/>
              <a:t>이 회원이 연결될 고객</a:t>
            </a:r>
            <a:r>
              <a:rPr lang="en-US" altLang="ko-KR" sz="1000"/>
              <a:t>(User) </a:t>
            </a:r>
            <a:r>
              <a:rPr lang="ko-KR" altLang="en-US" sz="1000"/>
              <a:t>정보가 없다</a:t>
            </a:r>
            <a:r>
              <a:rPr lang="en-US" altLang="ko-KR" sz="1000"/>
              <a:t>!"</a:t>
            </a:r>
            <a:r>
              <a:rPr lang="ko-KR" altLang="en-US" sz="1000"/>
              <a:t>며 </a:t>
            </a:r>
            <a:r>
              <a:rPr lang="en-US" altLang="ko-KR" sz="1000"/>
              <a:t>DB</a:t>
            </a:r>
            <a:r>
              <a:rPr lang="ko-KR" altLang="en-US" sz="1000"/>
              <a:t>가 입력을 거부하는 상태일 수 있습니다</a:t>
            </a:r>
            <a:r>
              <a:rPr lang="en-US" altLang="ko-KR" sz="1000"/>
              <a:t>.</a:t>
            </a:r>
          </a:p>
          <a:p>
            <a:r>
              <a:rPr lang="ko-KR" altLang="en-US" sz="1000"/>
              <a:t>해결</a:t>
            </a:r>
            <a:r>
              <a:rPr lang="en-US" altLang="ko-KR" sz="1000"/>
              <a:t>: Member </a:t>
            </a:r>
            <a:r>
              <a:rPr lang="ko-KR" altLang="en-US" sz="1000"/>
              <a:t>가입 시</a:t>
            </a:r>
            <a:r>
              <a:rPr lang="en-US" altLang="ko-KR" sz="1000"/>
              <a:t>, User </a:t>
            </a:r>
            <a:r>
              <a:rPr lang="ko-KR" altLang="en-US" sz="1000"/>
              <a:t>테이블에도 행을 하나 만들어줘서 </a:t>
            </a:r>
            <a:r>
              <a:rPr lang="en-US" altLang="ko-KR" sz="1000"/>
              <a:t>"</a:t>
            </a:r>
            <a:r>
              <a:rPr lang="ko-KR" altLang="en-US" sz="1000"/>
              <a:t>이 열쇠</a:t>
            </a:r>
            <a:r>
              <a:rPr lang="en-US" altLang="ko-KR" sz="1000"/>
              <a:t>(Member)</a:t>
            </a:r>
            <a:r>
              <a:rPr lang="ko-KR" altLang="en-US" sz="1000"/>
              <a:t>는 이 고객</a:t>
            </a:r>
            <a:r>
              <a:rPr lang="en-US" altLang="ko-KR" sz="1000"/>
              <a:t>(User)</a:t>
            </a:r>
            <a:r>
              <a:rPr lang="ko-KR" altLang="en-US" sz="1000"/>
              <a:t>의 것이다</a:t>
            </a:r>
            <a:r>
              <a:rPr lang="en-US" altLang="ko-KR" sz="1000"/>
              <a:t>"</a:t>
            </a:r>
            <a:r>
              <a:rPr lang="ko-KR" altLang="en-US" sz="1000"/>
              <a:t>라고 연결해줘야 합니다</a:t>
            </a:r>
            <a:r>
              <a:rPr lang="en-US" altLang="ko-KR" sz="1000"/>
              <a:t>.</a:t>
            </a:r>
          </a:p>
          <a:p>
            <a:endParaRPr lang="en-US" altLang="ko-KR" sz="1000"/>
          </a:p>
          <a:p>
            <a:r>
              <a:rPr lang="ko-KR" altLang="en-US" sz="1200" b="1"/>
              <a:t>“초기 설계에서는 인증 수단을 분리했으나</a:t>
            </a:r>
            <a:r>
              <a:rPr lang="en-US" altLang="ko-KR" sz="1200" b="1"/>
              <a:t>, </a:t>
            </a:r>
            <a:r>
              <a:rPr lang="ko-KR" altLang="en-US" sz="1200" b="1"/>
              <a:t>단일 패스워드리스 구조에서는 과설계라 판단하여 </a:t>
            </a:r>
            <a:r>
              <a:rPr lang="en-US" altLang="ko-KR" sz="1200" b="1"/>
              <a:t>User </a:t>
            </a:r>
            <a:r>
              <a:rPr lang="ko-KR" altLang="en-US" sz="1200" b="1"/>
              <a:t>단일 테이블로 리팩토링했습니다</a:t>
            </a:r>
            <a:r>
              <a:rPr lang="en-US" altLang="ko-KR" sz="1200" b="1"/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1220408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290A39-C4B6-E31B-1812-DFAFA0DD5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80C86B9-64C9-1E47-4A7F-2D90E0B61C04}"/>
              </a:ext>
            </a:extLst>
          </p:cNvPr>
          <p:cNvSpPr/>
          <p:nvPr/>
        </p:nvSpPr>
        <p:spPr>
          <a:xfrm>
            <a:off x="966597" y="1602463"/>
            <a:ext cx="10515600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47F2EE-CA11-3322-FB38-7198A6A64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user-users</a:t>
            </a:r>
            <a:r>
              <a:rPr lang="ko-KR" altLang="en-US"/>
              <a:t>분리</a:t>
            </a:r>
            <a:r>
              <a:rPr lang="en-US" altLang="ko-KR" sz="3000"/>
              <a:t>-passwordless</a:t>
            </a:r>
            <a:r>
              <a:rPr lang="ko-KR" altLang="en-US" sz="2500"/>
              <a:t>적용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B754D-8955-57ED-CD0D-27BFAB904E74}"/>
              </a:ext>
            </a:extLst>
          </p:cNvPr>
          <p:cNvSpPr txBox="1"/>
          <p:nvPr/>
        </p:nvSpPr>
        <p:spPr>
          <a:xfrm>
            <a:off x="1247584" y="2407098"/>
            <a:ext cx="9953625" cy="30634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/>
              <a:t>1. DB </a:t>
            </a:r>
            <a:r>
              <a:rPr lang="ko-KR" altLang="en-US" sz="1000" b="1"/>
              <a:t>예약어 충돌 방지</a:t>
            </a:r>
            <a:endParaRPr lang="en-US" altLang="ko-KR" sz="1000" b="1"/>
          </a:p>
          <a:p>
            <a:pPr>
              <a:lnSpc>
                <a:spcPct val="150000"/>
              </a:lnSpc>
            </a:pPr>
            <a:r>
              <a:rPr lang="en-US" altLang="ko-KR" sz="1000"/>
              <a:t>MariaDB</a:t>
            </a:r>
            <a:r>
              <a:rPr lang="ko-KR" altLang="en-US" sz="1000"/>
              <a:t>나 </a:t>
            </a:r>
            <a:r>
              <a:rPr lang="en-US" altLang="ko-KR" sz="1000"/>
              <a:t>MySQL</a:t>
            </a:r>
            <a:r>
              <a:rPr lang="ko-KR" altLang="en-US" sz="1000"/>
              <a:t>에서 </a:t>
            </a:r>
            <a:r>
              <a:rPr lang="en-US" altLang="ko-KR" sz="1000"/>
              <a:t>USER</a:t>
            </a:r>
            <a:r>
              <a:rPr lang="ko-KR" altLang="en-US" sz="1000"/>
              <a:t>는 시스템이 이미 쓰고 있는 예약어입니다</a:t>
            </a:r>
            <a:r>
              <a:rPr lang="en-US" altLang="ko-KR" sz="1000"/>
              <a:t>. </a:t>
            </a:r>
            <a:r>
              <a:rPr lang="ko-KR" altLang="en-US" sz="1000"/>
              <a:t>테이블 이름을 </a:t>
            </a:r>
            <a:r>
              <a:rPr lang="en-US" altLang="ko-KR" sz="1000"/>
              <a:t>user</a:t>
            </a:r>
            <a:r>
              <a:rPr lang="ko-KR" altLang="en-US" sz="1000"/>
              <a:t>라고 지으면 쿼리를 날릴 때 </a:t>
            </a:r>
            <a:r>
              <a:rPr lang="en-US" altLang="ko-KR" sz="1000"/>
              <a:t>DB</a:t>
            </a:r>
            <a:r>
              <a:rPr lang="ko-KR" altLang="en-US" sz="1000"/>
              <a:t>가 혼동해서 에러가 날 수 있습니다</a:t>
            </a:r>
            <a:r>
              <a:rPr lang="en-US" altLang="ko-KR" sz="10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000"/>
              <a:t>그래서 관례에 따라 복수형인 </a:t>
            </a:r>
            <a:r>
              <a:rPr lang="en-US" altLang="ko-KR" sz="1000"/>
              <a:t>users</a:t>
            </a:r>
            <a:r>
              <a:rPr lang="ko-KR" altLang="en-US" sz="1000"/>
              <a:t>를 테이블 명으로 정했습니다</a:t>
            </a:r>
            <a:r>
              <a:rPr lang="en-US" altLang="ko-KR" sz="1000"/>
              <a:t>.</a:t>
            </a:r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r>
              <a:rPr lang="en-US" altLang="ko-KR" sz="1000" b="1"/>
              <a:t>2. </a:t>
            </a:r>
            <a:r>
              <a:rPr lang="ko-KR" altLang="en-US" sz="1000" b="1"/>
              <a:t>자바 객체와 </a:t>
            </a:r>
            <a:r>
              <a:rPr lang="en-US" altLang="ko-KR" sz="1000" b="1"/>
              <a:t>DB </a:t>
            </a:r>
            <a:r>
              <a:rPr lang="ko-KR" altLang="en-US" sz="1000" b="1"/>
              <a:t>테이블의 역할 구분</a:t>
            </a:r>
          </a:p>
          <a:p>
            <a:pPr>
              <a:lnSpc>
                <a:spcPct val="150000"/>
              </a:lnSpc>
            </a:pPr>
            <a:r>
              <a:rPr lang="ko-KR" altLang="en-US" sz="1000"/>
              <a:t>자바 코드</a:t>
            </a:r>
            <a:r>
              <a:rPr lang="en-US" altLang="ko-KR" sz="1000"/>
              <a:t>(Entity)</a:t>
            </a:r>
            <a:r>
              <a:rPr lang="ko-KR" altLang="en-US" sz="1000"/>
              <a:t>에서는 한 명의 사용자 정보를 다루므로 단수형인 </a:t>
            </a:r>
            <a:r>
              <a:rPr lang="en-US" altLang="ko-KR" sz="1000"/>
              <a:t>User</a:t>
            </a:r>
            <a:r>
              <a:rPr lang="ko-KR" altLang="en-US" sz="1000"/>
              <a:t>가 직관적이고</a:t>
            </a:r>
            <a:r>
              <a:rPr lang="en-US" altLang="ko-KR" sz="1000"/>
              <a:t>, DB</a:t>
            </a:r>
            <a:r>
              <a:rPr lang="ko-KR" altLang="en-US" sz="1000"/>
              <a:t>는 여러 명의 데이터가 모인 집합이므로 </a:t>
            </a:r>
            <a:r>
              <a:rPr lang="en-US" altLang="ko-KR" sz="1000"/>
              <a:t>users</a:t>
            </a:r>
            <a:r>
              <a:rPr lang="ko-KR" altLang="en-US" sz="1000"/>
              <a:t>라고 부르는 것이 데이터베이스 설계 표준</a:t>
            </a:r>
            <a:r>
              <a:rPr lang="en-US" altLang="ko-KR" sz="1000"/>
              <a:t>(Naming Convention)</a:t>
            </a:r>
            <a:r>
              <a:rPr lang="ko-KR" altLang="en-US" sz="1000"/>
              <a:t>에 더 적합하다고 판단했습니다</a:t>
            </a:r>
            <a:r>
              <a:rPr lang="en-US" altLang="ko-KR" sz="1000"/>
              <a:t>.</a:t>
            </a:r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r>
              <a:rPr lang="en-US" altLang="ko-KR" sz="1000" b="1"/>
              <a:t>3. Passwordless </a:t>
            </a:r>
            <a:r>
              <a:rPr lang="ko-KR" altLang="en-US" sz="1000" b="1"/>
              <a:t>인증 구조의 확장성</a:t>
            </a:r>
            <a:endParaRPr lang="ko-KR" altLang="en-US" sz="1000"/>
          </a:p>
          <a:p>
            <a:pPr>
              <a:lnSpc>
                <a:spcPct val="150000"/>
              </a:lnSpc>
            </a:pPr>
            <a:r>
              <a:rPr lang="ko-KR" altLang="en-US" sz="1000"/>
              <a:t>비밀번호가 없는 </a:t>
            </a:r>
            <a:r>
              <a:rPr lang="en-US" altLang="ko-KR" sz="1000"/>
              <a:t>Passwordless </a:t>
            </a:r>
            <a:r>
              <a:rPr lang="ko-KR" altLang="en-US" sz="1000"/>
              <a:t>방식입니다</a:t>
            </a:r>
            <a:r>
              <a:rPr lang="en-US" altLang="ko-KR" sz="1000"/>
              <a:t>. </a:t>
            </a:r>
            <a:r>
              <a:rPr lang="ko-KR" altLang="en-US" sz="1000"/>
              <a:t>단순히 </a:t>
            </a:r>
            <a:r>
              <a:rPr lang="en-US" altLang="ko-KR" sz="1000"/>
              <a:t>user </a:t>
            </a:r>
            <a:r>
              <a:rPr lang="ko-KR" altLang="en-US" sz="1000"/>
              <a:t>한 곳에 모든 걸 넣기보다</a:t>
            </a:r>
            <a:r>
              <a:rPr lang="en-US" altLang="ko-KR" sz="1000"/>
              <a:t>, </a:t>
            </a:r>
            <a:r>
              <a:rPr lang="ko-KR" altLang="en-US" sz="1000"/>
              <a:t>사용자 기본 정보</a:t>
            </a:r>
            <a:r>
              <a:rPr lang="en-US" altLang="ko-KR" sz="1000"/>
              <a:t>(users)</a:t>
            </a:r>
            <a:r>
              <a:rPr lang="ko-KR" altLang="en-US" sz="1000"/>
              <a:t>와 인증 상태 정보</a:t>
            </a:r>
            <a:r>
              <a:rPr lang="en-US" altLang="ko-KR" sz="1000"/>
              <a:t>(authenticator)</a:t>
            </a:r>
            <a:r>
              <a:rPr lang="ko-KR" altLang="en-US" sz="1000"/>
              <a:t>를 분리해서 설계했습니다</a:t>
            </a:r>
            <a:r>
              <a:rPr lang="en-US" altLang="ko-KR" sz="100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000"/>
              <a:t>이렇게 하면 나중에 인증 방식이 추가되어도</a:t>
            </a:r>
            <a:r>
              <a:rPr lang="en-US" altLang="ko-KR" sz="1000"/>
              <a:t>(</a:t>
            </a:r>
            <a:r>
              <a:rPr lang="ko-KR" altLang="en-US" sz="1000"/>
              <a:t>생체 인증 등</a:t>
            </a:r>
            <a:r>
              <a:rPr lang="en-US" altLang="ko-KR" sz="1000"/>
              <a:t>) </a:t>
            </a:r>
            <a:r>
              <a:rPr lang="ko-KR" altLang="en-US" sz="1000"/>
              <a:t>사용자 정보 테이블을 건드리지 않고 유연하게 확장할 수 있기 때문입니다</a:t>
            </a:r>
            <a:r>
              <a:rPr lang="en-US" altLang="ko-KR" sz="10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54777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25658E-C5B9-6B3D-BD93-F01D7D2F7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4C4831-45B5-F121-9776-5D3E63CCB525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D362EE5-30BE-DF7F-C4E1-1AFA4106F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passwordless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D378D2-7E94-D57A-95A7-7FF2B992B0A9}"/>
              </a:ext>
            </a:extLst>
          </p:cNvPr>
          <p:cNvSpPr txBox="1"/>
          <p:nvPr/>
        </p:nvSpPr>
        <p:spPr>
          <a:xfrm>
            <a:off x="487195" y="7900518"/>
            <a:ext cx="905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프론트엔드</a:t>
            </a:r>
            <a:r>
              <a:rPr lang="en-US" altLang="ko-KR" sz="1200"/>
              <a:t>(React)**</a:t>
            </a:r>
            <a:r>
              <a:rPr lang="ko-KR" altLang="en-US" sz="1200"/>
              <a:t>와 **백엔드</a:t>
            </a:r>
            <a:r>
              <a:rPr lang="en-US" altLang="ko-KR" sz="1200"/>
              <a:t>(Spring Boot)**</a:t>
            </a:r>
            <a:r>
              <a:rPr lang="ko-KR" altLang="en-US" sz="1200"/>
              <a:t>를 연결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D8092-9145-284B-C1E7-45CABFC84740}"/>
              </a:ext>
            </a:extLst>
          </p:cNvPr>
          <p:cNvSpPr txBox="1"/>
          <p:nvPr/>
        </p:nvSpPr>
        <p:spPr>
          <a:xfrm>
            <a:off x="5706400" y="2090172"/>
            <a:ext cx="56474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서비스 아이디 </a:t>
            </a:r>
            <a:r>
              <a:rPr lang="en-US" altLang="ko-KR" sz="1400"/>
              <a:t>: 03a63f2df8c9435182bc504df9a89b7b</a:t>
            </a:r>
          </a:p>
          <a:p>
            <a:r>
              <a:rPr lang="ko-KR" altLang="en-US" sz="1400"/>
              <a:t>서버 키 </a:t>
            </a:r>
            <a:r>
              <a:rPr lang="en-US" altLang="ko-KR" sz="1400"/>
              <a:t>: c41f590d66bd542b</a:t>
            </a:r>
          </a:p>
          <a:p>
            <a:r>
              <a:rPr lang="ko-KR" altLang="en-US" sz="1400"/>
              <a:t>내</a:t>
            </a:r>
            <a:r>
              <a:rPr lang="en-US" altLang="ko-KR" sz="1400"/>
              <a:t>PC IP : 192.168.200.97  (cmd ipconfig)</a:t>
            </a:r>
          </a:p>
          <a:p>
            <a:r>
              <a:rPr lang="ko-KR" altLang="en-US" sz="1400"/>
              <a:t>인증서버 </a:t>
            </a:r>
            <a:r>
              <a:rPr lang="en-US" altLang="ko-KR" sz="1400"/>
              <a:t>IP : 192.168.200.96 (linux)</a:t>
            </a:r>
          </a:p>
          <a:p>
            <a:r>
              <a:rPr lang="ko-KR" altLang="en-US" sz="1400"/>
              <a:t>공인</a:t>
            </a:r>
            <a:r>
              <a:rPr lang="en-US" altLang="ko-KR" sz="1400"/>
              <a:t>IP : (whatismyip.com) : 1.220.101.170   (</a:t>
            </a:r>
            <a:r>
              <a:rPr lang="ko-KR" altLang="en-US" sz="1400"/>
              <a:t>네이버</a:t>
            </a:r>
            <a:r>
              <a:rPr lang="en-US" altLang="ko-KR" sz="1400"/>
              <a:t>:</a:t>
            </a:r>
            <a:r>
              <a:rPr lang="ko-KR" altLang="en-US" sz="1400"/>
              <a:t>내아이피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7CD877-3434-5D1E-0EA0-C8A164DDFF5E}"/>
              </a:ext>
            </a:extLst>
          </p:cNvPr>
          <p:cNvSpPr/>
          <p:nvPr/>
        </p:nvSpPr>
        <p:spPr>
          <a:xfrm>
            <a:off x="1334621" y="4095040"/>
            <a:ext cx="3051847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380648-AEB8-FE3A-2271-E6CA54CD3081}"/>
              </a:ext>
            </a:extLst>
          </p:cNvPr>
          <p:cNvSpPr txBox="1"/>
          <p:nvPr/>
        </p:nvSpPr>
        <p:spPr>
          <a:xfrm>
            <a:off x="4349788" y="4109570"/>
            <a:ext cx="956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rgbClr val="F2F2F2"/>
                </a:solidFill>
              </a:rPr>
              <a:t>삭제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059DAD1-FF4E-BEA5-F3A1-DCA2C15E96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744"/>
          <a:stretch>
            <a:fillRect/>
          </a:stretch>
        </p:blipFill>
        <p:spPr>
          <a:xfrm>
            <a:off x="1094347" y="2018102"/>
            <a:ext cx="4400550" cy="37464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53638DB-9050-9416-9F2E-48B8CE1BEA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27"/>
          <a:stretch>
            <a:fillRect/>
          </a:stretch>
        </p:blipFill>
        <p:spPr>
          <a:xfrm>
            <a:off x="5735171" y="3659208"/>
            <a:ext cx="4756869" cy="220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210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911F8-6E57-ED7D-E618-7976A1223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3B28BEA-8A61-E275-8E94-C48AAE46F307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682723-79BF-84D3-EB10-6F5C421CA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</a:t>
            </a:r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57E49D-132D-34D4-1F3A-320F3E0D71F8}"/>
              </a:ext>
            </a:extLst>
          </p:cNvPr>
          <p:cNvSpPr txBox="1">
            <a:spLocks/>
          </p:cNvSpPr>
          <p:nvPr/>
        </p:nvSpPr>
        <p:spPr>
          <a:xfrm>
            <a:off x="3491441" y="2462703"/>
            <a:ext cx="4467569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/>
              <a:t>게시판은 사용자와 </a:t>
            </a:r>
            <a:r>
              <a:rPr lang="en-US" altLang="ko-KR" sz="1400"/>
              <a:t>1:N </a:t>
            </a:r>
            <a:r>
              <a:rPr lang="ko-KR" altLang="en-US" sz="1400"/>
              <a:t>관계이며</a:t>
            </a:r>
            <a:r>
              <a:rPr lang="en-US" altLang="ko-KR" sz="1400"/>
              <a:t>,</a:t>
            </a:r>
            <a:br>
              <a:rPr lang="en-US" altLang="ko-KR" sz="1400"/>
            </a:br>
            <a:r>
              <a:rPr lang="ko-KR" altLang="en-US" sz="1400"/>
              <a:t>작성자 정보를 </a:t>
            </a:r>
            <a:r>
              <a:rPr lang="en-US" altLang="ko-KR" sz="1400"/>
              <a:t>user_id</a:t>
            </a:r>
            <a:r>
              <a:rPr lang="ko-KR" altLang="en-US" sz="1400"/>
              <a:t>로 참조하도록 설계했습니다</a:t>
            </a:r>
            <a:r>
              <a:rPr lang="en-US" altLang="ko-KR" sz="1400"/>
              <a:t>.</a:t>
            </a:r>
            <a:endParaRPr lang="ko-KR" altLang="en-US" sz="140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9A80A6EA-8554-DF01-716F-692913B77A6D}"/>
              </a:ext>
            </a:extLst>
          </p:cNvPr>
          <p:cNvSpPr txBox="1">
            <a:spLocks/>
          </p:cNvSpPr>
          <p:nvPr/>
        </p:nvSpPr>
        <p:spPr>
          <a:xfrm>
            <a:off x="3491440" y="3191983"/>
            <a:ext cx="4467569" cy="25133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 b="1"/>
              <a:t>댓글의 삭제 수정 기능을 제거</a:t>
            </a:r>
            <a:endParaRPr lang="en-US" altLang="ko-KR" sz="1400" b="1"/>
          </a:p>
          <a:p>
            <a:r>
              <a:rPr lang="en-US" altLang="ko-KR" sz="1400"/>
              <a:t>"</a:t>
            </a:r>
            <a:r>
              <a:rPr lang="ko-KR" altLang="en-US" sz="1400"/>
              <a:t>말에 책임을 지는 시스템</a:t>
            </a:r>
            <a:r>
              <a:rPr lang="en-US" altLang="ko-KR" sz="1400"/>
              <a:t>"</a:t>
            </a:r>
            <a:r>
              <a:rPr lang="ko-KR" altLang="en-US" sz="1400"/>
              <a:t>은 사용자들에게 신중함을 요구하고</a:t>
            </a:r>
            <a:r>
              <a:rPr lang="en-US" altLang="ko-KR" sz="1400"/>
              <a:t>, </a:t>
            </a:r>
            <a:r>
              <a:rPr lang="ko-KR" altLang="en-US" sz="1400"/>
              <a:t>결과적으로 커뮤니티의 질을 높여주죠</a:t>
            </a:r>
            <a:r>
              <a:rPr lang="en-US" altLang="ko-KR" sz="1400"/>
              <a:t>. </a:t>
            </a:r>
            <a:r>
              <a:rPr lang="ko-KR" altLang="en-US" sz="1400"/>
              <a:t>특히 </a:t>
            </a:r>
            <a:r>
              <a:rPr lang="en-US" altLang="ko-KR" sz="1400"/>
              <a:t>KIA, Lotte, Samsung </a:t>
            </a:r>
            <a:r>
              <a:rPr lang="ko-KR" altLang="en-US" sz="1400"/>
              <a:t>같은 열정적인 팬들이 모이는 곳에서 댓글 수정 불가 정책은 불필요한 논쟁을 방지하는 아주 영리한 전략입니다</a:t>
            </a:r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// </a:t>
            </a:r>
            <a:r>
              <a:rPr lang="ko-KR" altLang="en-US" sz="1400"/>
              <a:t>기존 필드 유지</a:t>
            </a:r>
          </a:p>
          <a:p>
            <a:r>
              <a:rPr lang="en-US" altLang="ko-KR" sz="1400"/>
              <a:t>@Column</a:t>
            </a:r>
          </a:p>
          <a:p>
            <a:r>
              <a:rPr lang="en-US" altLang="ko-KR" sz="1400"/>
              <a:t>private Long parentId; // null</a:t>
            </a:r>
            <a:r>
              <a:rPr lang="ko-KR" altLang="en-US" sz="1400"/>
              <a:t>이면 원글</a:t>
            </a:r>
            <a:r>
              <a:rPr lang="en-US" altLang="ko-KR" sz="1400"/>
              <a:t>, </a:t>
            </a:r>
            <a:r>
              <a:rPr lang="ko-KR" altLang="en-US" sz="1400"/>
              <a:t>값이 있으면 해당 </a:t>
            </a:r>
            <a:r>
              <a:rPr lang="en-US" altLang="ko-KR" sz="1400"/>
              <a:t>id</a:t>
            </a:r>
            <a:r>
              <a:rPr lang="ko-KR" altLang="en-US" sz="1400"/>
              <a:t>의 댓글</a:t>
            </a:r>
            <a:r>
              <a:rPr lang="en-US" altLang="ko-KR" sz="1400"/>
              <a:t>/</a:t>
            </a:r>
            <a:r>
              <a:rPr lang="ko-KR" altLang="en-US" sz="1400"/>
              <a:t>대댓글</a:t>
            </a:r>
          </a:p>
        </p:txBody>
      </p:sp>
    </p:spTree>
    <p:extLst>
      <p:ext uri="{BB962C8B-B14F-4D97-AF65-F5344CB8AC3E}">
        <p14:creationId xmlns:p14="http://schemas.microsoft.com/office/powerpoint/2010/main" val="36528229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67208C-363F-6618-578D-692FAB6B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4B97F42-806B-4131-7310-4E0D5FBCDC2E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8A9C5C-62C3-4300-98F2-A31B44B50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team</a:t>
            </a:r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513BFC-B9C6-9A67-E2E1-29406F9D3EBD}"/>
              </a:ext>
            </a:extLst>
          </p:cNvPr>
          <p:cNvSpPr txBox="1">
            <a:spLocks/>
          </p:cNvSpPr>
          <p:nvPr/>
        </p:nvSpPr>
        <p:spPr>
          <a:xfrm>
            <a:off x="3542956" y="3719175"/>
            <a:ext cx="4467569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200"/>
              <a:t>팀은 고정된 코드 도메인이라</a:t>
            </a:r>
            <a:br>
              <a:rPr lang="ko-KR" altLang="en-US" sz="1200"/>
            </a:br>
            <a:r>
              <a:rPr lang="ko-KR" altLang="en-US" sz="1200"/>
              <a:t>별도 테이블 대신 </a:t>
            </a:r>
            <a:r>
              <a:rPr lang="en-US" altLang="ko-KR" sz="1200"/>
              <a:t>CHAR(2)</a:t>
            </a:r>
            <a:r>
              <a:rPr lang="ko-KR" altLang="en-US" sz="1200"/>
              <a:t> 코드로 관리했고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en-US" altLang="ko-KR" sz="1200"/>
              <a:t>CHECK </a:t>
            </a:r>
            <a:r>
              <a:rPr lang="ko-KR" altLang="en-US" sz="1200"/>
              <a:t>제약으로 무결성을 확보했습니다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56610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889ABF-7A58-6FEF-0DFB-5E677AE67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693F894-C605-4EE1-82A0-D843DE86EE1E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5C8069-ED92-D5F3-9A30-5595BC743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admin</a:t>
            </a:r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C3DE92-2E8C-A3F7-8B7B-830369510A32}"/>
              </a:ext>
            </a:extLst>
          </p:cNvPr>
          <p:cNvSpPr txBox="1">
            <a:spLocks/>
          </p:cNvSpPr>
          <p:nvPr/>
        </p:nvSpPr>
        <p:spPr>
          <a:xfrm>
            <a:off x="8630111" y="2462703"/>
            <a:ext cx="2136627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200"/>
              <a:t>관리자모드 로그인 상품등록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D43749-3CAA-7093-6875-AA435B9807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1" t="8731" r="25845"/>
          <a:stretch>
            <a:fillRect/>
          </a:stretch>
        </p:blipFill>
        <p:spPr>
          <a:xfrm>
            <a:off x="1425262" y="1798963"/>
            <a:ext cx="4705718" cy="430574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12A210E-72A8-2D65-99C3-7B40567C2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120" y="4445912"/>
            <a:ext cx="4495800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6070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9B2BE-B003-0FB6-65C1-95E6B852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DF155F8-E40A-FE4E-749C-E691606AC7E3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E8AAE68-54CF-90F7-C67C-5B48435D3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admin</a:t>
            </a:r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5D7355-16C5-83F2-0751-FD73217D00B8}"/>
              </a:ext>
            </a:extLst>
          </p:cNvPr>
          <p:cNvSpPr txBox="1">
            <a:spLocks/>
          </p:cNvSpPr>
          <p:nvPr/>
        </p:nvSpPr>
        <p:spPr>
          <a:xfrm>
            <a:off x="8630111" y="2462703"/>
            <a:ext cx="2136627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200"/>
              <a:t>관리자모드 로그인 상품등록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57E338-913E-32CA-8320-6F1D4DC4B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1632"/>
            <a:ext cx="12192000" cy="587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238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B14A3-B970-A796-D83E-A978F1A7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2B7E1EF-5457-497C-E864-A7BA0227CD7A}"/>
              </a:ext>
            </a:extLst>
          </p:cNvPr>
          <p:cNvSpPr/>
          <p:nvPr/>
        </p:nvSpPr>
        <p:spPr>
          <a:xfrm>
            <a:off x="724277" y="1602463"/>
            <a:ext cx="10800784" cy="4698749"/>
          </a:xfrm>
          <a:prstGeom prst="roundRect">
            <a:avLst>
              <a:gd name="adj" fmla="val 374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41398A-3761-ED1B-09BE-AB842899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UI/UX </a:t>
            </a:r>
            <a:r>
              <a:rPr lang="ko-KR" altLang="en-US"/>
              <a:t>와이어프레임 또는 스크린샷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417B0C-4259-63BB-A98B-7835517FE046}"/>
              </a:ext>
            </a:extLst>
          </p:cNvPr>
          <p:cNvSpPr txBox="1">
            <a:spLocks/>
          </p:cNvSpPr>
          <p:nvPr/>
        </p:nvSpPr>
        <p:spPr>
          <a:xfrm>
            <a:off x="3542956" y="3719175"/>
            <a:ext cx="4467569" cy="4653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000"/>
              <a:t>작업하면서 추가 될 예정</a:t>
            </a:r>
          </a:p>
        </p:txBody>
      </p:sp>
    </p:spTree>
    <p:extLst>
      <p:ext uri="{BB962C8B-B14F-4D97-AF65-F5344CB8AC3E}">
        <p14:creationId xmlns:p14="http://schemas.microsoft.com/office/powerpoint/2010/main" val="33118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5515</TotalTime>
  <Words>3622</Words>
  <Application>Microsoft Office PowerPoint</Application>
  <PresentationFormat>와이드스크린</PresentationFormat>
  <Paragraphs>476</Paragraphs>
  <Slides>38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Google Sans Text</vt:lpstr>
      <vt:lpstr>맑은 고딕</vt:lpstr>
      <vt:lpstr>Arial</vt:lpstr>
      <vt:lpstr>Courier New</vt:lpstr>
      <vt:lpstr>Office 테마</vt:lpstr>
      <vt:lpstr>전자상거래 미니프로젝트</vt:lpstr>
      <vt:lpstr>전자상거래 프로젝트 컨셉</vt:lpstr>
      <vt:lpstr>기술스택설명(삭제예정)</vt:lpstr>
      <vt:lpstr>프레임워크</vt:lpstr>
      <vt:lpstr>개발환경</vt:lpstr>
      <vt:lpstr>개발 단계 분리표</vt:lpstr>
      <vt:lpstr>시스템 아키텍쳐</vt:lpstr>
      <vt:lpstr>사이트맵(Site Map)-전체 페이지 구조도</vt:lpstr>
      <vt:lpstr>DB ERD 다이어그램</vt:lpstr>
      <vt:lpstr>DB ERD 다이어그램</vt:lpstr>
      <vt:lpstr>DB ERD 다이어그램</vt:lpstr>
      <vt:lpstr>[DB 설계] 관계 및 상세 구조</vt:lpstr>
      <vt:lpstr>API 명세서</vt:lpstr>
      <vt:lpstr>테이블 관계 요약</vt:lpstr>
      <vt:lpstr>핵심 로직 시퀀스 다이어그램</vt:lpstr>
      <vt:lpstr>핵심 로직 시퀀스 다이어그램</vt:lpstr>
      <vt:lpstr>핵심 로직 시퀀스 다이어그램</vt:lpstr>
      <vt:lpstr>핵심 로직 시퀀스 다이어그램</vt:lpstr>
      <vt:lpstr>개발단계 일정🥊😆-이슈기록</vt:lpstr>
      <vt:lpstr>트러블슈팅</vt:lpstr>
      <vt:lpstr>트러블슈팅</vt:lpstr>
      <vt:lpstr>DB-MySQL-트러블슈팅</vt:lpstr>
      <vt:lpstr>Product</vt:lpstr>
      <vt:lpstr>SecurityConfig</vt:lpstr>
      <vt:lpstr>SecurityConfig</vt:lpstr>
      <vt:lpstr>Signup 트러블슈팅</vt:lpstr>
      <vt:lpstr>login</vt:lpstr>
      <vt:lpstr>Login-email인증</vt:lpstr>
      <vt:lpstr>ADMIN-login관리자페이지</vt:lpstr>
      <vt:lpstr>React</vt:lpstr>
      <vt:lpstr>user-member분리-passwordless적용</vt:lpstr>
      <vt:lpstr>user-users분리-passwordless적용</vt:lpstr>
      <vt:lpstr>passwordless</vt:lpstr>
      <vt:lpstr>board</vt:lpstr>
      <vt:lpstr>team</vt:lpstr>
      <vt:lpstr>admin</vt:lpstr>
      <vt:lpstr>admin</vt:lpstr>
      <vt:lpstr>UI/UX 와이어프레임 또는 스크린샷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316</cp:revision>
  <dcterms:created xsi:type="dcterms:W3CDTF">2025-12-15T08:26:50Z</dcterms:created>
  <dcterms:modified xsi:type="dcterms:W3CDTF">2026-03-16T08:52:10Z</dcterms:modified>
</cp:coreProperties>
</file>