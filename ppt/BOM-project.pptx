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3" r:id="rId4"/>
    <p:sldId id="263" r:id="rId5"/>
    <p:sldId id="291" r:id="rId6"/>
    <p:sldId id="278" r:id="rId7"/>
    <p:sldId id="258" r:id="rId8"/>
    <p:sldId id="259" r:id="rId9"/>
    <p:sldId id="260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03CA0-77E8-DE24-5EA9-CB6C2924C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411DE5-D4AB-4507-237C-D3375184C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F7B39-6AEF-C924-2DA6-A2E5A0D7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3577F-27B5-4A5E-2B20-F63E5581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A7C77-91C9-850F-7901-FF8EC0B6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4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31512-6882-9ED1-8F3B-FC84D306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5C09F-7DAB-D3AC-F9DC-4A5CE73DB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6D585-F039-1AAF-6C0F-32DAFD1E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6B1BCB-BDA1-1B07-5CB7-FB15732C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5DBE9-BF36-0273-04FA-5F0B6D78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73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4BA73-E913-2F38-7D53-34D05AB6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CF7B5-F370-86F5-9E46-F4F6C0462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248D5-24A3-DAE3-6955-29EF31D8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6AAB5-8631-0574-F73E-295A970D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EF71D-C608-686D-85A9-170DDDA7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4FDF3-2775-561A-FE71-2CA560EA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99964-F2C8-3EDB-A2C8-6E936F1B1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61E5F-1526-18D3-8078-7B9468F68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A8F9FF-0BF3-B13E-07B9-01822FE2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96D33F-A1E0-A380-0744-62C41742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BBABEB-3E1E-3C12-0D10-A4B0B0F1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4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E8E5C-2F48-39EE-A5FB-F1D34E20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AF86F-F8ED-6FE7-C0BF-D634A024E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9E28F4-075F-922E-4F71-B0B861004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E6906-9B1F-C261-5C1B-4FFF2B159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7380A5-F05A-2C4F-885C-DFAA12237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D356A2-1FD7-0994-42EE-9197764E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70538D-F083-E045-FDB0-16C518B3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67862-CE27-4EA6-CE2F-B233A64D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870E2-F244-6788-D51C-A44109A2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99E3A8-30EB-C287-71E2-850EF783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196EA1-3159-1C1F-E42A-07D45444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B7CAE2-2B9A-8343-6912-2D2D5401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15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EF5FB9-B96B-AABB-6D91-36E42242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96D021-603A-1FBA-BA58-EFF416B1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2823B-0AC4-C0E6-B922-87F8E148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9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E15A9-AAFB-F26D-1786-77EC2D7D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B79A7-0194-2D99-BB8F-A126973B6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3542D-E395-CABE-6CA9-0D03EEEC2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8F6103-0C64-875B-7072-AA43E536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09D7A9-D1FF-755D-4BFD-ADB98F3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3A233A-0912-BC40-29B4-E7C84BC3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8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ADA0E-1178-00A4-CE35-5678EF7E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A39607-94C4-EC8E-F12A-FB6424B39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85D329-1D4F-BE78-B543-2344CAABC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19E9CB-B747-C951-5CB7-EA64FAEB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D149DA-EB32-06A2-706A-E68F9683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1E845A-698A-3C8B-B954-0BDEB776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31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7B0A7-8E12-BB68-2BA6-A34623F9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42351B-23F1-621F-E7C6-2CB880BAB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C59C5-F8D2-F95E-7F76-EA670E7B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8EDF24-DE16-A65C-20C0-389D87B7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CA1E5-CBB8-9F46-A5AD-6A44619D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61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584629-94E9-5CA2-EC53-2BC9EE850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ED661A-4241-87C4-CF7C-333831A57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4DC64-1F74-F255-8EEA-F5199D3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D49F5D-5C48-37D5-20A9-DCFDDAAC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B863F-8745-A01A-D77A-686B948D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58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117-7114-3A6F-F519-7697537F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82595-D7D0-E0CE-0DF5-22341F6D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3805D5-E2D0-8783-2499-C955F56B0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69ADA-60C8-4777-AF18-1586591406E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8093E-D76E-457B-CD0B-3B0FE954B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27BED8-B48B-89B7-F8A5-85E7BE0D1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4A619-87E0-49E3-98E9-02AABE39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35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doo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569A6-6E15-BBB7-B6D6-E788AEB1D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BOM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CE182-D4DD-A015-627E-1EE35A4D2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9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9418CB-2802-67B1-C3E5-3C331665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85" y="1735810"/>
            <a:ext cx="10952414" cy="42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6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7D833B-4AD2-8310-83C2-8D4DED461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322803"/>
            <a:ext cx="8547100" cy="601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7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F281-6B52-C825-8E4B-94C0373A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27E0A5-73EC-0A67-B208-A15CA8FE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 fontScale="47500" lnSpcReduction="20000"/>
          </a:bodyPr>
          <a:lstStyle/>
          <a:p>
            <a:r>
              <a:rPr lang="en-US" altLang="ko-KR"/>
              <a:t>[Web UI (React/Vue/Angular)]</a:t>
            </a:r>
          </a:p>
          <a:p>
            <a:r>
              <a:rPr lang="en-US" altLang="ko-KR"/>
              <a:t>           ↑ REST / GraphQL / WebSocket</a:t>
            </a:r>
          </a:p>
          <a:p>
            <a:r>
              <a:rPr lang="en-US" altLang="ko-KR"/>
              <a:t>[API Gateway / Load Balancer]</a:t>
            </a:r>
          </a:p>
          <a:p>
            <a:r>
              <a:rPr lang="en-US" altLang="ko-KR"/>
              <a:t>           ↓</a:t>
            </a:r>
          </a:p>
          <a:p>
            <a:r>
              <a:rPr lang="en-US" altLang="ko-KR"/>
              <a:t>[Backend Services]</a:t>
            </a:r>
          </a:p>
          <a:p>
            <a:r>
              <a:rPr lang="en-US" altLang="ko-KR"/>
              <a:t> - BOM Service (</a:t>
            </a:r>
            <a:r>
              <a:rPr lang="ko-KR" altLang="en-US"/>
              <a:t>도메인 모델</a:t>
            </a:r>
            <a:r>
              <a:rPr lang="en-US" altLang="ko-KR"/>
              <a:t>: Part, Assembly, BOMTree, Revision)</a:t>
            </a:r>
          </a:p>
          <a:p>
            <a:r>
              <a:rPr lang="en-US" altLang="ko-KR"/>
              <a:t> - Auth Service (OAuth2 / SSO)</a:t>
            </a:r>
          </a:p>
          <a:p>
            <a:r>
              <a:rPr lang="en-US" altLang="ko-KR"/>
              <a:t> - Workflow Service (ECO </a:t>
            </a:r>
            <a:r>
              <a:rPr lang="ko-KR" altLang="en-US"/>
              <a:t>승인 흐름</a:t>
            </a:r>
            <a:r>
              <a:rPr lang="en-US" altLang="ko-KR"/>
              <a:t>)</a:t>
            </a:r>
          </a:p>
          <a:p>
            <a:r>
              <a:rPr lang="en-US" altLang="ko-KR"/>
              <a:t> - Integration Service (ERP/MES </a:t>
            </a:r>
            <a:r>
              <a:rPr lang="ko-KR" altLang="en-US"/>
              <a:t>연동</a:t>
            </a:r>
            <a:r>
              <a:rPr lang="en-US" altLang="ko-KR"/>
              <a:t>)</a:t>
            </a:r>
          </a:p>
          <a:p>
            <a:r>
              <a:rPr lang="en-US" altLang="ko-KR"/>
              <a:t> - Notification Service / Audit Service</a:t>
            </a:r>
          </a:p>
          <a:p>
            <a:r>
              <a:rPr lang="en-US" altLang="ko-KR"/>
              <a:t>           ↓</a:t>
            </a:r>
          </a:p>
          <a:p>
            <a:r>
              <a:rPr lang="en-US" altLang="ko-KR"/>
              <a:t>[Message Broker] &lt;-- </a:t>
            </a:r>
            <a:r>
              <a:rPr lang="ko-KR" altLang="en-US"/>
              <a:t>비동기 이벤트</a:t>
            </a:r>
            <a:r>
              <a:rPr lang="en-US" altLang="ko-KR"/>
              <a:t>(Kafka / RabbitMQ)</a:t>
            </a:r>
          </a:p>
          <a:p>
            <a:r>
              <a:rPr lang="en-US" altLang="ko-KR"/>
              <a:t>           ↓</a:t>
            </a:r>
          </a:p>
          <a:p>
            <a:r>
              <a:rPr lang="en-US" altLang="ko-KR"/>
              <a:t>[Databases]</a:t>
            </a:r>
          </a:p>
          <a:p>
            <a:r>
              <a:rPr lang="en-US" altLang="ko-KR"/>
              <a:t> - RDBMS (Postgres / MySQL / Oracle) : </a:t>
            </a:r>
            <a:r>
              <a:rPr lang="ko-KR" altLang="en-US"/>
              <a:t>핵심 마스터</a:t>
            </a:r>
            <a:r>
              <a:rPr lang="en-US" altLang="ko-KR"/>
              <a:t>/</a:t>
            </a:r>
            <a:r>
              <a:rPr lang="ko-KR" altLang="en-US"/>
              <a:t>트랜잭션</a:t>
            </a:r>
          </a:p>
          <a:p>
            <a:r>
              <a:rPr lang="ko-KR" altLang="en-US"/>
              <a:t> </a:t>
            </a:r>
            <a:r>
              <a:rPr lang="en-US" altLang="ko-KR"/>
              <a:t>- Search (Elasticsearch) : </a:t>
            </a:r>
            <a:r>
              <a:rPr lang="ko-KR" altLang="en-US"/>
              <a:t>빠른 부품 검색</a:t>
            </a:r>
          </a:p>
          <a:p>
            <a:r>
              <a:rPr lang="ko-KR" altLang="en-US"/>
              <a:t> </a:t>
            </a:r>
            <a:r>
              <a:rPr lang="en-US" altLang="ko-KR"/>
              <a:t>- Cache (Redis)</a:t>
            </a:r>
          </a:p>
          <a:p>
            <a:r>
              <a:rPr lang="en-US" altLang="ko-KR"/>
              <a:t>           ↓</a:t>
            </a:r>
          </a:p>
          <a:p>
            <a:r>
              <a:rPr lang="en-US" altLang="ko-KR"/>
              <a:t>[External systems]</a:t>
            </a:r>
          </a:p>
          <a:p>
            <a:r>
              <a:rPr lang="en-US" altLang="ko-KR"/>
              <a:t> - ERP (SAP, Oracle, </a:t>
            </a:r>
            <a:r>
              <a:rPr lang="ko-KR" altLang="en-US"/>
              <a:t>자체</a:t>
            </a:r>
            <a:r>
              <a:rPr lang="en-US" altLang="ko-KR"/>
              <a:t>)</a:t>
            </a:r>
          </a:p>
          <a:p>
            <a:r>
              <a:rPr lang="en-US" altLang="ko-KR"/>
              <a:t> - MES / PLC / OPC-UA</a:t>
            </a:r>
          </a:p>
          <a:p>
            <a:r>
              <a:rPr lang="en-US" altLang="ko-KR"/>
              <a:t> - CAD / PLM (</a:t>
            </a:r>
            <a:r>
              <a:rPr lang="ko-KR" altLang="en-US"/>
              <a:t>도면</a:t>
            </a:r>
            <a:r>
              <a:rPr lang="en-US" altLang="ko-KR"/>
              <a:t>/</a:t>
            </a:r>
            <a:r>
              <a:rPr lang="ko-KR" altLang="en-US"/>
              <a:t>파일</a:t>
            </a:r>
            <a:r>
              <a:rPr lang="en-US" altLang="ko-KR"/>
              <a:t>) </a:t>
            </a:r>
            <a:r>
              <a:rPr lang="ko-KR" altLang="en-US"/>
              <a:t>저장소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B081DB4-6B2D-D372-08CB-237E65F48CA7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시스템 아키텍처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7CD17C19-E975-62D5-0BF3-9E60DEBBB538}"/>
              </a:ext>
            </a:extLst>
          </p:cNvPr>
          <p:cNvSpPr txBox="1">
            <a:spLocks/>
          </p:cNvSpPr>
          <p:nvPr/>
        </p:nvSpPr>
        <p:spPr>
          <a:xfrm>
            <a:off x="962294" y="2066857"/>
            <a:ext cx="4813300" cy="40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500" b="1"/>
              <a:t>src/</a:t>
            </a:r>
          </a:p>
          <a:p>
            <a:r>
              <a:rPr lang="en-US" altLang="ko-KR" sz="1500" b="1"/>
              <a:t> └─ main/</a:t>
            </a:r>
          </a:p>
          <a:p>
            <a:r>
              <a:rPr lang="en-US" altLang="ko-KR" sz="1500" b="1"/>
              <a:t>     └─ java/</a:t>
            </a:r>
          </a:p>
          <a:p>
            <a:r>
              <a:rPr lang="en-US" altLang="ko-KR" sz="1500" b="1"/>
              <a:t>         └─ com.example.project/</a:t>
            </a:r>
          </a:p>
          <a:p>
            <a:r>
              <a:rPr lang="en-US" altLang="ko-KR" sz="1500" b="1"/>
              <a:t>             ├─ controller      (API)</a:t>
            </a:r>
          </a:p>
          <a:p>
            <a:r>
              <a:rPr lang="en-US" altLang="ko-KR" sz="1500" b="1"/>
              <a:t>             ├─ service         (</a:t>
            </a:r>
            <a:r>
              <a:rPr lang="ko-KR" altLang="en-US" sz="1500" b="1"/>
              <a:t>비즈니스 로직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       ├─ repository      (DB </a:t>
            </a:r>
            <a:r>
              <a:rPr lang="ko-KR" altLang="en-US" sz="1500" b="1"/>
              <a:t>접근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       ├─ domain          (</a:t>
            </a:r>
            <a:r>
              <a:rPr lang="ko-KR" altLang="en-US" sz="1500" b="1"/>
              <a:t>엔티티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       ├─ dto             (</a:t>
            </a:r>
            <a:r>
              <a:rPr lang="ko-KR" altLang="en-US" sz="1500" b="1"/>
              <a:t>데이터 전송용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       ├─ config          (</a:t>
            </a:r>
            <a:r>
              <a:rPr lang="ko-KR" altLang="en-US" sz="1500" b="1"/>
              <a:t>환경 설정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       └─ exception       (</a:t>
            </a:r>
            <a:r>
              <a:rPr lang="ko-KR" altLang="en-US" sz="1500" b="1"/>
              <a:t>예외 처리</a:t>
            </a:r>
            <a:r>
              <a:rPr lang="en-US" altLang="ko-KR" sz="15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866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3DBD-D97B-DCC7-0472-57A06483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B1B6EC-564F-5E09-FBA1-E8CA78260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sz="1500" b="1"/>
              <a:t>com.mycompany.bom</a:t>
            </a:r>
          </a:p>
          <a:p>
            <a:r>
              <a:rPr lang="en-US" altLang="ko-KR" sz="1500" b="1"/>
              <a:t>├── config              // Spring config, DB, security, scheduling</a:t>
            </a:r>
          </a:p>
          <a:p>
            <a:r>
              <a:rPr lang="en-US" altLang="ko-KR" sz="1500" b="1"/>
              <a:t>├── web                 // controller / dto / api</a:t>
            </a:r>
          </a:p>
          <a:p>
            <a:r>
              <a:rPr lang="en-US" altLang="ko-KR" sz="1500" b="1"/>
              <a:t>│   ├── controller</a:t>
            </a:r>
          </a:p>
          <a:p>
            <a:r>
              <a:rPr lang="en-US" altLang="ko-KR" sz="1500" b="1"/>
              <a:t>│   └── dto</a:t>
            </a:r>
          </a:p>
          <a:p>
            <a:r>
              <a:rPr lang="en-US" altLang="ko-KR" sz="1500" b="1"/>
              <a:t>├── domain               // JPA entity</a:t>
            </a:r>
          </a:p>
          <a:p>
            <a:r>
              <a:rPr lang="en-US" altLang="ko-KR" sz="1500" b="1"/>
              <a:t>│   ├── product</a:t>
            </a:r>
          </a:p>
          <a:p>
            <a:r>
              <a:rPr lang="en-US" altLang="ko-KR" sz="1500" b="1"/>
              <a:t>│   │   ├── Product.java</a:t>
            </a:r>
          </a:p>
          <a:p>
            <a:r>
              <a:rPr lang="en-US" altLang="ko-KR" sz="1500" b="1"/>
              <a:t>│   │   └── BomItem.java</a:t>
            </a:r>
          </a:p>
          <a:p>
            <a:r>
              <a:rPr lang="en-US" altLang="ko-KR" sz="1500" b="1"/>
              <a:t>│   ├── part</a:t>
            </a:r>
          </a:p>
          <a:p>
            <a:r>
              <a:rPr lang="en-US" altLang="ko-KR" sz="1500" b="1"/>
              <a:t>│   │   └── Part.java</a:t>
            </a:r>
          </a:p>
          <a:p>
            <a:r>
              <a:rPr lang="en-US" altLang="ko-KR" sz="1500" b="1"/>
              <a:t>│   ├── inventory</a:t>
            </a:r>
          </a:p>
          <a:p>
            <a:r>
              <a:rPr lang="en-US" altLang="ko-KR" sz="1500" b="1"/>
              <a:t>│   │   └── Inventory.java</a:t>
            </a:r>
          </a:p>
          <a:p>
            <a:r>
              <a:rPr lang="en-US" altLang="ko-KR" sz="1500" b="1"/>
              <a:t>│   ├── workorder</a:t>
            </a:r>
          </a:p>
          <a:p>
            <a:r>
              <a:rPr lang="en-US" altLang="ko-KR" sz="1500" b="1"/>
              <a:t>│   │   └── WorkOrder.java</a:t>
            </a:r>
          </a:p>
          <a:p>
            <a:r>
              <a:rPr lang="en-US" altLang="ko-KR" sz="1500" b="1"/>
              <a:t>│   └── supplier</a:t>
            </a:r>
          </a:p>
          <a:p>
            <a:r>
              <a:rPr lang="en-US" altLang="ko-KR" sz="1500" b="1"/>
              <a:t>│       └── Supplier.java</a:t>
            </a:r>
          </a:p>
          <a:p>
            <a:r>
              <a:rPr lang="en-US" altLang="ko-KR" sz="1500" b="1"/>
              <a:t>├── repository           // Spring Data JPA repos</a:t>
            </a:r>
          </a:p>
          <a:p>
            <a:r>
              <a:rPr lang="en-US" altLang="ko-KR" sz="1500" b="1"/>
              <a:t>├── service              // business services (transactions)</a:t>
            </a:r>
          </a:p>
          <a:p>
            <a:r>
              <a:rPr lang="en-US" altLang="ko-KR" sz="1500" b="1"/>
              <a:t>│   ├── ProductService.java</a:t>
            </a:r>
          </a:p>
          <a:p>
            <a:r>
              <a:rPr lang="en-US" altLang="ko-KR" sz="1500" b="1"/>
              <a:t>│   ├── InventoryService.java</a:t>
            </a:r>
          </a:p>
          <a:p>
            <a:r>
              <a:rPr lang="en-US" altLang="ko-KR" sz="1500" b="1"/>
              <a:t>│   └── WorkOrderService.java</a:t>
            </a:r>
          </a:p>
          <a:p>
            <a:r>
              <a:rPr lang="en-US" altLang="ko-KR" sz="1500" b="1"/>
              <a:t>├── event                // domain events + handlers</a:t>
            </a:r>
          </a:p>
          <a:p>
            <a:r>
              <a:rPr lang="en-US" altLang="ko-KR" sz="1500" b="1"/>
              <a:t>├── integration          // messaging / external integrations</a:t>
            </a:r>
          </a:p>
          <a:p>
            <a:r>
              <a:rPr lang="en-US" altLang="ko-KR" sz="1500" b="1"/>
              <a:t>├── batch                // batch jobs (if any)</a:t>
            </a:r>
          </a:p>
          <a:p>
            <a:r>
              <a:rPr lang="en-US" altLang="ko-KR" sz="1500" b="1"/>
              <a:t>└── util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851E9E6-5F32-9FD0-AA89-0791B8696697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패키지 구조</a:t>
            </a:r>
            <a:endParaRPr lang="en-US" altLang="ko-KR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ADDEBF17-058A-0B97-1A9E-C34CAE6BFF89}"/>
              </a:ext>
            </a:extLst>
          </p:cNvPr>
          <p:cNvSpPr txBox="1">
            <a:spLocks/>
          </p:cNvSpPr>
          <p:nvPr/>
        </p:nvSpPr>
        <p:spPr>
          <a:xfrm>
            <a:off x="794288" y="1587501"/>
            <a:ext cx="4806412" cy="453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/>
              <a:t>패키지 구조</a:t>
            </a:r>
            <a:endParaRPr lang="en-US" altLang="ko-KR" sz="1500"/>
          </a:p>
          <a:p>
            <a:endParaRPr lang="en-US" altLang="ko-KR" sz="1500"/>
          </a:p>
          <a:p>
            <a:r>
              <a:rPr lang="en-US" altLang="ko-KR" sz="1500"/>
              <a:t>GET /api/products — </a:t>
            </a:r>
            <a:r>
              <a:rPr lang="ko-KR" altLang="en-US" sz="1500"/>
              <a:t>제품 목록</a:t>
            </a:r>
          </a:p>
          <a:p>
            <a:endParaRPr lang="ko-KR" altLang="en-US" sz="1500"/>
          </a:p>
          <a:p>
            <a:r>
              <a:rPr lang="en-US" altLang="ko-KR" sz="1500"/>
              <a:t>POST /api/products — </a:t>
            </a:r>
            <a:r>
              <a:rPr lang="ko-KR" altLang="en-US" sz="1500"/>
              <a:t>제품 생성 </a:t>
            </a:r>
            <a:r>
              <a:rPr lang="en-US" altLang="ko-KR" sz="1500"/>
              <a:t>(+BOM </a:t>
            </a:r>
            <a:r>
              <a:rPr lang="ko-KR" altLang="en-US" sz="1500"/>
              <a:t>등록</a:t>
            </a:r>
            <a:r>
              <a:rPr lang="en-US" altLang="ko-KR" sz="1500"/>
              <a:t>)</a:t>
            </a:r>
          </a:p>
          <a:p>
            <a:endParaRPr lang="en-US" altLang="ko-KR" sz="1500"/>
          </a:p>
          <a:p>
            <a:r>
              <a:rPr lang="en-US" altLang="ko-KR" sz="1500"/>
              <a:t>GET /api/products/{id}/bom — BOM </a:t>
            </a:r>
            <a:r>
              <a:rPr lang="ko-KR" altLang="en-US" sz="1500"/>
              <a:t>전개</a:t>
            </a:r>
          </a:p>
          <a:p>
            <a:endParaRPr lang="ko-KR" altLang="en-US" sz="1500"/>
          </a:p>
          <a:p>
            <a:r>
              <a:rPr lang="en-US" altLang="ko-KR" sz="1500"/>
              <a:t>POST /api/work-orders — </a:t>
            </a:r>
            <a:r>
              <a:rPr lang="ko-KR" altLang="en-US" sz="1500"/>
              <a:t>작업지시 생성</a:t>
            </a:r>
          </a:p>
          <a:p>
            <a:endParaRPr lang="ko-KR" altLang="en-US" sz="1500"/>
          </a:p>
          <a:p>
            <a:r>
              <a:rPr lang="en-US" altLang="ko-KR" sz="1500"/>
              <a:t>POST /api/inventory/adjust — </a:t>
            </a:r>
            <a:r>
              <a:rPr lang="ko-KR" altLang="en-US" sz="1500"/>
              <a:t>재고 조정 </a:t>
            </a:r>
            <a:r>
              <a:rPr lang="en-US" altLang="ko-KR" sz="1500"/>
              <a:t>(</a:t>
            </a:r>
            <a:r>
              <a:rPr lang="ko-KR" altLang="en-US" sz="1500"/>
              <a:t>수불</a:t>
            </a:r>
            <a:r>
              <a:rPr lang="en-US" altLang="ko-KR" sz="1500"/>
              <a:t>)</a:t>
            </a:r>
          </a:p>
          <a:p>
            <a:endParaRPr lang="en-US" altLang="ko-KR" sz="1500"/>
          </a:p>
          <a:p>
            <a:r>
              <a:rPr lang="en-US" altLang="ko-KR" sz="1500"/>
              <a:t>POST /api/purchase-orders — </a:t>
            </a:r>
            <a:r>
              <a:rPr lang="ko-KR" altLang="en-US" sz="1500"/>
              <a:t>발주</a:t>
            </a:r>
            <a:endParaRPr lang="en-US" altLang="ko-KR" sz="1500"/>
          </a:p>
        </p:txBody>
      </p:sp>
    </p:spTree>
    <p:extLst>
      <p:ext uri="{BB962C8B-B14F-4D97-AF65-F5344CB8AC3E}">
        <p14:creationId xmlns:p14="http://schemas.microsoft.com/office/powerpoint/2010/main" val="227224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5E17-1979-44BC-ADE6-B5C329C0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E95CF6-3363-F340-B9F1-1C51C2CF3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part 1 --- N bom (parent_part_id)</a:t>
            </a:r>
          </a:p>
          <a:p>
            <a:pPr marL="0" indent="0">
              <a:buNone/>
            </a:pPr>
            <a:endParaRPr lang="en-US" altLang="ko-KR" sz="1500" b="1"/>
          </a:p>
          <a:p>
            <a:r>
              <a:rPr lang="en-US" altLang="ko-KR" sz="1500" b="1"/>
              <a:t>part 1 --- N bom (child_part_id)</a:t>
            </a:r>
          </a:p>
          <a:p>
            <a:endParaRPr lang="en-US" altLang="ko-KR" sz="1500" b="1"/>
          </a:p>
          <a:p>
            <a:r>
              <a:rPr lang="en-US" altLang="ko-KR" sz="1500" b="1"/>
              <a:t>part 1 --- N inventory</a:t>
            </a:r>
          </a:p>
          <a:p>
            <a:endParaRPr lang="en-US" altLang="ko-KR" sz="1500" b="1"/>
          </a:p>
          <a:p>
            <a:r>
              <a:rPr lang="en-US" altLang="ko-KR" sz="1500" b="1"/>
              <a:t>part 1 --- N purchase_order_line</a:t>
            </a:r>
          </a:p>
          <a:p>
            <a:endParaRPr lang="en-US" altLang="ko-KR" sz="1500" b="1"/>
          </a:p>
          <a:p>
            <a:r>
              <a:rPr lang="en-US" altLang="ko-KR" sz="1500" b="1"/>
              <a:t>supplier 1 --- N purchase_order</a:t>
            </a:r>
          </a:p>
          <a:p>
            <a:endParaRPr lang="en-US" altLang="ko-KR" sz="1500" b="1"/>
          </a:p>
          <a:p>
            <a:r>
              <a:rPr lang="en-US" altLang="ko-KR" sz="1500" b="1"/>
              <a:t>production_order -&gt; product(part)</a:t>
            </a:r>
          </a:p>
          <a:p>
            <a:endParaRPr lang="en-US" altLang="ko-KR" sz="1500" b="1"/>
          </a:p>
          <a:p>
            <a:r>
              <a:rPr lang="en-US" altLang="ko-KR" sz="1500" b="1"/>
              <a:t>production_order 1 --- N production_transaction</a:t>
            </a:r>
          </a:p>
          <a:p>
            <a:endParaRPr lang="en-US" altLang="ko-KR" sz="1500" b="1"/>
          </a:p>
          <a:p>
            <a:r>
              <a:rPr lang="en-US" altLang="ko-KR" sz="1500" b="1"/>
              <a:t>routing 1 --- N operation -&gt; work_center</a:t>
            </a:r>
          </a:p>
          <a:p>
            <a:endParaRPr lang="en-US" altLang="ko-KR" sz="1500" b="1"/>
          </a:p>
          <a:p>
            <a:r>
              <a:rPr lang="en-US" altLang="ko-KR" sz="1500"/>
              <a:t>inventory_txn references purchase_order (receipt) or production_order (issue)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7725A8E-3AC2-8091-D133-0F8DCD955834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3) </a:t>
            </a:r>
            <a:r>
              <a:rPr lang="ko-KR" altLang="en-US"/>
              <a:t>엔티티간 핵심 관계</a:t>
            </a:r>
            <a:r>
              <a:rPr lang="en-US" altLang="ko-KR"/>
              <a:t>(</a:t>
            </a:r>
            <a:r>
              <a:rPr lang="ko-KR" altLang="en-US"/>
              <a:t>관계표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81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8D9CE-2947-CB0A-1BF6-AEFE4C2C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ERP </a:t>
            </a:r>
            <a:r>
              <a:rPr lang="ko-KR" altLang="en-US" b="1"/>
              <a:t>데모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F2CB1-9A37-A896-F2DC-56D0F287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/>
              <a:t>ERP</a:t>
            </a:r>
            <a:r>
              <a:rPr lang="ko-KR" altLang="en-US"/>
              <a:t>는 회사의 모든 정보를 통합 관리해주는 큰 시스템</a:t>
            </a:r>
            <a:br>
              <a:rPr lang="en-US" altLang="ko-KR"/>
            </a:br>
            <a:r>
              <a:rPr lang="ko-KR" altLang="en-US"/>
              <a:t>입고 → 재고 → 출고 → 회계까지 하나의 흐름으로</a:t>
            </a:r>
            <a:endParaRPr lang="en-US" altLang="ko-KR"/>
          </a:p>
          <a:p>
            <a:r>
              <a:rPr lang="ko-KR" altLang="en-US" b="1"/>
              <a:t>✔ 무료로 체험 가능한 </a:t>
            </a:r>
            <a:r>
              <a:rPr lang="en-US" altLang="ko-KR" b="1"/>
              <a:t>ERP</a:t>
            </a:r>
          </a:p>
          <a:p>
            <a:r>
              <a:rPr lang="en-US" altLang="ko-KR" b="1"/>
              <a:t>Odoo Online (</a:t>
            </a:r>
            <a:r>
              <a:rPr lang="ko-KR" altLang="en-US" b="1"/>
              <a:t>완전 무료 데모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en-US" altLang="ko-KR" b="1"/>
              <a:t>ERPNext Cloud Demo</a:t>
            </a:r>
            <a:br>
              <a:rPr lang="ko-KR" altLang="en-US"/>
            </a:br>
            <a:r>
              <a:rPr lang="ko-KR" altLang="en-US"/>
              <a:t>둘 다 웹에서 바로 실행되고 한국어 지원</a:t>
            </a:r>
            <a:endParaRPr lang="en-US" altLang="ko-KR"/>
          </a:p>
          <a:p>
            <a:r>
              <a:rPr lang="ko-KR" altLang="en-US" b="1"/>
              <a:t>➤ </a:t>
            </a:r>
            <a:r>
              <a:rPr lang="en-US" altLang="ko-KR" b="1"/>
              <a:t>Odoo </a:t>
            </a:r>
            <a:r>
              <a:rPr lang="ko-KR" altLang="en-US" b="1"/>
              <a:t>체험 예시</a:t>
            </a:r>
          </a:p>
          <a:p>
            <a:r>
              <a:rPr lang="en-US" altLang="ko-KR">
                <a:hlinkClick r:id="rId2"/>
              </a:rPr>
              <a:t>https://www.odoo.com</a:t>
            </a:r>
            <a:r>
              <a:rPr lang="ko-KR" altLang="en-US"/>
              <a:t> 클릭</a:t>
            </a:r>
          </a:p>
          <a:p>
            <a:r>
              <a:rPr lang="en-US" altLang="ko-KR"/>
              <a:t>"Try it free" → </a:t>
            </a:r>
            <a:r>
              <a:rPr lang="ko-KR" altLang="en-US"/>
              <a:t>이메일 입력 → 바로 데모 생성</a:t>
            </a:r>
          </a:p>
          <a:p>
            <a:r>
              <a:rPr lang="en-US" altLang="ko-KR"/>
              <a:t>"Inventory" </a:t>
            </a:r>
            <a:r>
              <a:rPr lang="ko-KR" altLang="en-US"/>
              <a:t>또는 “</a:t>
            </a:r>
            <a:r>
              <a:rPr lang="en-US" altLang="ko-KR"/>
              <a:t>Manufacturing(</a:t>
            </a:r>
            <a:r>
              <a:rPr lang="ko-KR" altLang="en-US"/>
              <a:t>제조</a:t>
            </a:r>
            <a:r>
              <a:rPr lang="en-US" altLang="ko-KR"/>
              <a:t>)” </a:t>
            </a:r>
            <a:r>
              <a:rPr lang="ko-KR" altLang="en-US"/>
              <a:t>앱 켜기</a:t>
            </a:r>
          </a:p>
          <a:p>
            <a:r>
              <a:rPr lang="ko-KR" altLang="en-US"/>
              <a:t>아까 만든 </a:t>
            </a:r>
            <a:r>
              <a:rPr lang="ko-KR" altLang="en-US" b="1"/>
              <a:t>선풍기 </a:t>
            </a:r>
            <a:r>
              <a:rPr lang="en-US" altLang="ko-KR" b="1"/>
              <a:t>BOM</a:t>
            </a:r>
            <a:r>
              <a:rPr lang="ko-KR" altLang="en-US"/>
              <a:t>을 </a:t>
            </a:r>
            <a:r>
              <a:rPr lang="en-US" altLang="ko-KR"/>
              <a:t>Odoo</a:t>
            </a:r>
            <a:r>
              <a:rPr lang="ko-KR" altLang="en-US"/>
              <a:t>에 그대로 입력</a:t>
            </a:r>
          </a:p>
          <a:p>
            <a:r>
              <a:rPr lang="ko-KR" altLang="en-US"/>
              <a:t>“</a:t>
            </a:r>
            <a:r>
              <a:rPr lang="en-US" altLang="ko-KR"/>
              <a:t>Work Order” </a:t>
            </a:r>
            <a:r>
              <a:rPr lang="ko-KR" altLang="en-US"/>
              <a:t>생성해서 생산 시뮬레이션 돌리기</a:t>
            </a:r>
          </a:p>
          <a:p>
            <a:r>
              <a:rPr lang="ko-KR" altLang="en-US" b="1"/>
              <a:t>➤ 체험 포인트</a:t>
            </a:r>
          </a:p>
          <a:p>
            <a:r>
              <a:rPr lang="ko-KR" altLang="en-US"/>
              <a:t>생산 버튼 누르면 </a:t>
            </a:r>
            <a:r>
              <a:rPr lang="en-US" altLang="ko-KR"/>
              <a:t>"</a:t>
            </a:r>
            <a:r>
              <a:rPr lang="ko-KR" altLang="en-US"/>
              <a:t>배터리 부족</a:t>
            </a:r>
            <a:r>
              <a:rPr lang="en-US" altLang="ko-KR"/>
              <a:t>" </a:t>
            </a:r>
            <a:r>
              <a:rPr lang="ko-KR" altLang="en-US"/>
              <a:t>같은 메시지가 뜨고</a:t>
            </a:r>
          </a:p>
          <a:p>
            <a:r>
              <a:rPr lang="ko-KR" altLang="en-US"/>
              <a:t>자동으로 구매 요청 생성됨</a:t>
            </a:r>
          </a:p>
          <a:p>
            <a:r>
              <a:rPr lang="en-US" altLang="ko-KR"/>
              <a:t>ERP</a:t>
            </a:r>
            <a:r>
              <a:rPr lang="ko-KR" altLang="en-US"/>
              <a:t>가 </a:t>
            </a:r>
            <a:r>
              <a:rPr lang="ko-KR" altLang="en-US" b="1"/>
              <a:t>재고</a:t>
            </a:r>
            <a:r>
              <a:rPr lang="en-US" altLang="ko-KR" b="1"/>
              <a:t>/</a:t>
            </a:r>
            <a:r>
              <a:rPr lang="ko-KR" altLang="en-US" b="1"/>
              <a:t>구매</a:t>
            </a:r>
            <a:r>
              <a:rPr lang="en-US" altLang="ko-KR" b="1"/>
              <a:t>/</a:t>
            </a:r>
            <a:r>
              <a:rPr lang="ko-KR" altLang="en-US" b="1"/>
              <a:t>생산이 연결되는 이유</a:t>
            </a:r>
            <a:r>
              <a:rPr lang="ko-KR" altLang="en-US"/>
              <a:t>가 바로 보임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95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A5F76-FAED-2A7B-9536-08D5278A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생산 현장 시뮬레이션</a:t>
            </a:r>
            <a:br>
              <a:rPr lang="ko-KR" altLang="en-US" b="1"/>
            </a:b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20FDA-9189-AF2D-2F63-1D18B16E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b="1"/>
              <a:t>—</a:t>
            </a:r>
            <a:r>
              <a:rPr lang="en-US" altLang="ko-KR"/>
              <a:t>MES</a:t>
            </a:r>
            <a:r>
              <a:rPr lang="ko-KR" altLang="en-US"/>
              <a:t>는 생산 라인의 </a:t>
            </a:r>
            <a:r>
              <a:rPr lang="ko-KR" altLang="en-US" b="1"/>
              <a:t>실시간 진행 상황</a:t>
            </a:r>
            <a:r>
              <a:rPr lang="ko-KR" altLang="en-US"/>
              <a:t>을 관리하는 시스템이야</a:t>
            </a:r>
            <a:r>
              <a:rPr lang="en-US" altLang="ko-KR"/>
              <a:t>.</a:t>
            </a:r>
          </a:p>
          <a:p>
            <a:r>
              <a:rPr lang="en-US" altLang="ko-KR" b="1"/>
              <a:t>MES Cloud Demo - ERPNext Manufacturing Module</a:t>
            </a:r>
            <a:endParaRPr lang="ko-KR" altLang="en-US"/>
          </a:p>
          <a:p>
            <a:r>
              <a:rPr lang="en-US" altLang="ko-KR" b="1"/>
              <a:t>Katana Manufacturing Demo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시각화 매우 좋음</a:t>
            </a:r>
            <a:r>
              <a:rPr lang="en-US" altLang="ko-KR"/>
              <a:t>)</a:t>
            </a:r>
          </a:p>
          <a:p>
            <a:r>
              <a:rPr lang="ko-KR" altLang="en-US" b="1"/>
              <a:t>➤ </a:t>
            </a:r>
            <a:r>
              <a:rPr lang="en-US" altLang="ko-KR" b="1"/>
              <a:t>MES</a:t>
            </a:r>
            <a:r>
              <a:rPr lang="ko-KR" altLang="en-US" b="1"/>
              <a:t>에서 해볼 수 있는 것</a:t>
            </a:r>
          </a:p>
          <a:p>
            <a:r>
              <a:rPr lang="ko-KR" altLang="en-US"/>
              <a:t>작업 지시서 띄우기</a:t>
            </a:r>
          </a:p>
          <a:p>
            <a:r>
              <a:rPr lang="ko-KR" altLang="en-US"/>
              <a:t>“작업 시작 → 진행 중 → 완료” 클릭</a:t>
            </a:r>
          </a:p>
          <a:p>
            <a:r>
              <a:rPr lang="ko-KR" altLang="en-US"/>
              <a:t>불량품 수량 입력</a:t>
            </a:r>
          </a:p>
          <a:p>
            <a:r>
              <a:rPr lang="ko-KR" altLang="en-US"/>
              <a:t>작업자 할당</a:t>
            </a:r>
          </a:p>
          <a:p>
            <a:r>
              <a:rPr lang="ko-KR" altLang="en-US"/>
              <a:t>설비 가동</a:t>
            </a:r>
            <a:r>
              <a:rPr lang="en-US" altLang="ko-KR"/>
              <a:t>/</a:t>
            </a:r>
            <a:r>
              <a:rPr lang="ko-KR" altLang="en-US"/>
              <a:t>정지 체크</a:t>
            </a:r>
          </a:p>
          <a:p>
            <a:r>
              <a:rPr lang="ko-KR" altLang="en-US"/>
              <a:t>생산 리드타임 자동 기록</a:t>
            </a:r>
          </a:p>
          <a:p>
            <a:r>
              <a:rPr lang="ko-KR" altLang="en-US" b="1"/>
              <a:t>➤ 체험 포인트</a:t>
            </a:r>
          </a:p>
          <a:p>
            <a:r>
              <a:rPr lang="en-US" altLang="ko-KR"/>
              <a:t>MES</a:t>
            </a:r>
            <a:r>
              <a:rPr lang="ko-KR" altLang="en-US"/>
              <a:t>는 </a:t>
            </a:r>
            <a:r>
              <a:rPr lang="en-US" altLang="ko-KR"/>
              <a:t>ERP</a:t>
            </a:r>
            <a:r>
              <a:rPr lang="ko-KR" altLang="en-US"/>
              <a:t>와 달리 </a:t>
            </a:r>
            <a:r>
              <a:rPr lang="ko-KR" altLang="en-US" b="1"/>
              <a:t>현장에서 쓰는 화면</a:t>
            </a:r>
            <a:r>
              <a:rPr lang="ko-KR" altLang="en-US"/>
              <a:t>처럼 큼지막하고 단순함</a:t>
            </a:r>
          </a:p>
          <a:p>
            <a:r>
              <a:rPr lang="ko-KR" altLang="en-US"/>
              <a:t>“작업 중”을 누르는 순간 </a:t>
            </a:r>
            <a:r>
              <a:rPr lang="en-US" altLang="ko-KR"/>
              <a:t>ERP</a:t>
            </a:r>
            <a:r>
              <a:rPr lang="ko-KR" altLang="en-US"/>
              <a:t>에 바로 재고</a:t>
            </a:r>
            <a:r>
              <a:rPr lang="en-US" altLang="ko-KR"/>
              <a:t>/</a:t>
            </a:r>
            <a:r>
              <a:rPr lang="ko-KR" altLang="en-US"/>
              <a:t>원자재 차감됨</a:t>
            </a:r>
          </a:p>
          <a:p>
            <a:r>
              <a:rPr lang="ko-KR" altLang="en-US"/>
              <a:t>그래서 </a:t>
            </a:r>
            <a:r>
              <a:rPr lang="en-US" altLang="ko-KR"/>
              <a:t>MES = </a:t>
            </a:r>
            <a:r>
              <a:rPr lang="ko-KR" altLang="en-US"/>
              <a:t>생산 현장의 눈</a:t>
            </a:r>
            <a:r>
              <a:rPr lang="en-US" altLang="ko-KR"/>
              <a:t>, ERP = </a:t>
            </a:r>
            <a:r>
              <a:rPr lang="ko-KR" altLang="en-US"/>
              <a:t>회사 전체의 두뇌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8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670E1-F328-C02C-E18B-06021A0CC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r>
              <a:rPr lang="en-US" altLang="ko-KR" b="1"/>
              <a:t>BOM</a:t>
            </a:r>
          </a:p>
          <a:p>
            <a:r>
              <a:rPr lang="ko-KR" altLang="en-US"/>
              <a:t>📄 “제품을 구성하는 레시피”</a:t>
            </a:r>
            <a:br>
              <a:rPr lang="ko-KR" altLang="en-US"/>
            </a:br>
            <a:r>
              <a:rPr lang="ko-KR" altLang="en-US"/>
              <a:t>→ </a:t>
            </a:r>
            <a:r>
              <a:rPr lang="en-US" altLang="ko-KR"/>
              <a:t>ERP/MES</a:t>
            </a:r>
            <a:r>
              <a:rPr lang="ko-KR" altLang="en-US"/>
              <a:t>의 모든 생산 정보의 기반</a:t>
            </a:r>
          </a:p>
          <a:p>
            <a:r>
              <a:rPr lang="en-US" altLang="ko-KR" b="1"/>
              <a:t>ERP</a:t>
            </a:r>
          </a:p>
          <a:p>
            <a:r>
              <a:rPr lang="ko-KR" altLang="en-US"/>
              <a:t>🧠 “회사 전체 운영 시스템</a:t>
            </a:r>
            <a:r>
              <a:rPr lang="en-US" altLang="ko-KR"/>
              <a:t>(</a:t>
            </a:r>
            <a:r>
              <a:rPr lang="ko-KR" altLang="en-US"/>
              <a:t>재고</a:t>
            </a:r>
            <a:r>
              <a:rPr lang="en-US" altLang="ko-KR"/>
              <a:t>, </a:t>
            </a:r>
            <a:r>
              <a:rPr lang="ko-KR" altLang="en-US"/>
              <a:t>회계</a:t>
            </a:r>
            <a:r>
              <a:rPr lang="en-US" altLang="ko-KR"/>
              <a:t>, </a:t>
            </a:r>
            <a:r>
              <a:rPr lang="ko-KR" altLang="en-US"/>
              <a:t>구매</a:t>
            </a:r>
            <a:r>
              <a:rPr lang="en-US" altLang="ko-KR"/>
              <a:t>, </a:t>
            </a:r>
            <a:r>
              <a:rPr lang="ko-KR" altLang="en-US"/>
              <a:t>생산까지</a:t>
            </a:r>
            <a:r>
              <a:rPr lang="en-US" altLang="ko-KR"/>
              <a:t>)”</a:t>
            </a:r>
            <a:br>
              <a:rPr lang="en-US" altLang="ko-KR"/>
            </a:br>
            <a:r>
              <a:rPr lang="en-US" altLang="ko-KR"/>
              <a:t>→ </a:t>
            </a:r>
            <a:r>
              <a:rPr lang="ko-KR" altLang="en-US"/>
              <a:t>생산지시</a:t>
            </a:r>
            <a:r>
              <a:rPr lang="en-US" altLang="ko-KR"/>
              <a:t>, </a:t>
            </a:r>
            <a:r>
              <a:rPr lang="ko-KR" altLang="en-US"/>
              <a:t>재고관리</a:t>
            </a:r>
            <a:r>
              <a:rPr lang="en-US" altLang="ko-KR"/>
              <a:t>, </a:t>
            </a:r>
            <a:r>
              <a:rPr lang="ko-KR" altLang="en-US"/>
              <a:t>구매 요청 자동화</a:t>
            </a:r>
          </a:p>
          <a:p>
            <a:r>
              <a:rPr lang="en-US" altLang="ko-KR" b="1"/>
              <a:t>MES</a:t>
            </a:r>
          </a:p>
          <a:p>
            <a:r>
              <a:rPr lang="ko-KR" altLang="en-US"/>
              <a:t>👀 “현장에서 생산 공정 실시간 관리”</a:t>
            </a:r>
            <a:br>
              <a:rPr lang="ko-KR" altLang="en-US"/>
            </a:br>
            <a:r>
              <a:rPr lang="ko-KR" altLang="en-US"/>
              <a:t>→ </a:t>
            </a:r>
            <a:r>
              <a:rPr lang="en-US" altLang="ko-KR"/>
              <a:t>ERP</a:t>
            </a:r>
            <a:r>
              <a:rPr lang="ko-KR" altLang="en-US"/>
              <a:t>와 연결되어 생산 데이터가 실시간 반영됨</a:t>
            </a:r>
            <a:endParaRPr lang="en-US" altLang="ko-KR"/>
          </a:p>
          <a:p>
            <a:r>
              <a:rPr lang="en-US" altLang="ko-KR"/>
              <a:t>(</a:t>
            </a:r>
            <a:r>
              <a:rPr lang="ko-KR" altLang="en-US"/>
              <a:t>쇼핑몰개발기획요구사항 정의서</a:t>
            </a:r>
            <a:r>
              <a:rPr lang="en-US" altLang="ko-KR"/>
              <a:t>)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23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3EB8-4E2F-9C8A-1DE2-B00FEF12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14D94-3F66-55A7-0E2D-C83FE71A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301"/>
            <a:ext cx="10515600" cy="5542243"/>
          </a:xfrm>
        </p:spPr>
        <p:txBody>
          <a:bodyPr>
            <a:normAutofit fontScale="32500" lnSpcReduction="20000"/>
          </a:bodyPr>
          <a:lstStyle/>
          <a:p>
            <a:r>
              <a:rPr lang="ko-KR" altLang="en-US" b="1"/>
              <a:t>백엔드</a:t>
            </a:r>
          </a:p>
          <a:p>
            <a:r>
              <a:rPr lang="ko-KR" altLang="en-US" b="1"/>
              <a:t>언어 </a:t>
            </a:r>
            <a:r>
              <a:rPr lang="en-US" altLang="ko-KR" b="1"/>
              <a:t>/ </a:t>
            </a:r>
            <a:r>
              <a:rPr lang="ko-KR" altLang="en-US" b="1"/>
              <a:t>프레임워크</a:t>
            </a:r>
            <a:endParaRPr lang="ko-KR" altLang="en-US"/>
          </a:p>
          <a:p>
            <a:pPr lvl="1"/>
            <a:r>
              <a:rPr lang="en-US" altLang="ko-KR"/>
              <a:t>Java + </a:t>
            </a:r>
            <a:r>
              <a:rPr lang="en-US" altLang="ko-KR" b="1"/>
              <a:t>Spring Boot</a:t>
            </a:r>
            <a:r>
              <a:rPr lang="ko-KR" altLang="en-US"/>
              <a:t> </a:t>
            </a:r>
            <a:r>
              <a:rPr lang="en-US" altLang="ko-KR"/>
              <a:t>(Spring Data JPA / MyBatis), </a:t>
            </a:r>
            <a:r>
              <a:rPr lang="ko-KR" altLang="en-US"/>
              <a:t>대기업</a:t>
            </a:r>
            <a:r>
              <a:rPr lang="en-US" altLang="ko-KR"/>
              <a:t>/</a:t>
            </a:r>
            <a:r>
              <a:rPr lang="ko-KR" altLang="en-US"/>
              <a:t>제조사 </a:t>
            </a:r>
            <a:r>
              <a:rPr lang="en-US" altLang="ko-KR"/>
              <a:t>SI</a:t>
            </a:r>
            <a:r>
              <a:rPr lang="ko-KR" altLang="en-US"/>
              <a:t>에서 표준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또는 </a:t>
            </a:r>
            <a:r>
              <a:rPr lang="en-US" altLang="ko-KR"/>
              <a:t>Node.js (NestJS), Python (Django/FastAPI) </a:t>
            </a:r>
            <a:r>
              <a:rPr lang="ko-KR" altLang="en-US"/>
              <a:t>도 가능</a:t>
            </a:r>
            <a:r>
              <a:rPr lang="en-US" altLang="ko-KR"/>
              <a:t>.</a:t>
            </a:r>
          </a:p>
          <a:p>
            <a:r>
              <a:rPr lang="ko-KR" altLang="en-US" b="1"/>
              <a:t>데이터베이스</a:t>
            </a:r>
            <a:endParaRPr lang="ko-KR" altLang="en-US"/>
          </a:p>
          <a:p>
            <a:pPr lvl="1"/>
            <a:r>
              <a:rPr lang="ko-KR" altLang="en-US"/>
              <a:t>관계형</a:t>
            </a:r>
            <a:r>
              <a:rPr lang="en-US" altLang="ko-KR"/>
              <a:t>: </a:t>
            </a:r>
            <a:r>
              <a:rPr lang="en-US" altLang="ko-KR" b="1"/>
              <a:t>PostgreSQL</a:t>
            </a:r>
            <a:r>
              <a:rPr lang="ko-KR" altLang="en-US"/>
              <a:t> 또는 </a:t>
            </a:r>
            <a:r>
              <a:rPr lang="en-US" altLang="ko-KR" b="1"/>
              <a:t>MySQL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트랜잭션</a:t>
            </a:r>
            <a:r>
              <a:rPr lang="en-US" altLang="ko-KR"/>
              <a:t>/</a:t>
            </a:r>
            <a:r>
              <a:rPr lang="ko-KR" altLang="en-US"/>
              <a:t>정합성 필요</a:t>
            </a:r>
            <a:r>
              <a:rPr lang="en-US" altLang="ko-KR"/>
              <a:t>)</a:t>
            </a:r>
          </a:p>
          <a:p>
            <a:pPr lvl="1"/>
            <a:r>
              <a:rPr lang="en-US" altLang="ko-KR"/>
              <a:t>Redis (</a:t>
            </a:r>
            <a:r>
              <a:rPr lang="ko-KR" altLang="en-US"/>
              <a:t>캐시</a:t>
            </a:r>
            <a:r>
              <a:rPr lang="en-US" altLang="ko-KR"/>
              <a:t>, </a:t>
            </a:r>
            <a:r>
              <a:rPr lang="ko-KR" altLang="en-US"/>
              <a:t>세션</a:t>
            </a:r>
            <a:r>
              <a:rPr lang="en-US" altLang="ko-KR"/>
              <a:t>, </a:t>
            </a:r>
            <a:r>
              <a:rPr lang="ko-KR" altLang="en-US"/>
              <a:t>분산락</a:t>
            </a:r>
            <a:r>
              <a:rPr lang="en-US" altLang="ko-KR"/>
              <a:t>)</a:t>
            </a:r>
          </a:p>
          <a:p>
            <a:r>
              <a:rPr lang="ko-KR" altLang="en-US" b="1"/>
              <a:t>메시징 </a:t>
            </a:r>
            <a:r>
              <a:rPr lang="en-US" altLang="ko-KR" b="1"/>
              <a:t>/ </a:t>
            </a:r>
            <a:r>
              <a:rPr lang="ko-KR" altLang="en-US" b="1"/>
              <a:t>이벤트</a:t>
            </a:r>
            <a:endParaRPr lang="ko-KR" altLang="en-US"/>
          </a:p>
          <a:p>
            <a:pPr lvl="1"/>
            <a:r>
              <a:rPr lang="en-US" altLang="ko-KR" b="1"/>
              <a:t>Kafka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이벤트 처리</a:t>
            </a:r>
            <a:r>
              <a:rPr lang="en-US" altLang="ko-KR"/>
              <a:t>/</a:t>
            </a:r>
            <a:r>
              <a:rPr lang="ko-KR" altLang="en-US"/>
              <a:t>로그</a:t>
            </a:r>
            <a:r>
              <a:rPr lang="en-US" altLang="ko-KR"/>
              <a:t>), RabbitMQ, </a:t>
            </a:r>
            <a:r>
              <a:rPr lang="ko-KR" altLang="en-US"/>
              <a:t>또는 </a:t>
            </a:r>
            <a:r>
              <a:rPr lang="en-US" altLang="ko-KR"/>
              <a:t>MQTT (</a:t>
            </a:r>
            <a:r>
              <a:rPr lang="ko-KR" altLang="en-US"/>
              <a:t>경량 메시징</a:t>
            </a:r>
            <a:r>
              <a:rPr lang="en-US" altLang="ko-KR"/>
              <a:t>)</a:t>
            </a:r>
          </a:p>
          <a:p>
            <a:r>
              <a:rPr lang="ko-KR" altLang="en-US" b="1"/>
              <a:t>통합 </a:t>
            </a:r>
            <a:r>
              <a:rPr lang="en-US" altLang="ko-KR" b="1"/>
              <a:t>/ </a:t>
            </a:r>
            <a:r>
              <a:rPr lang="ko-KR" altLang="en-US" b="1"/>
              <a:t>연동</a:t>
            </a:r>
            <a:endParaRPr lang="ko-KR" altLang="en-US"/>
          </a:p>
          <a:p>
            <a:pPr lvl="1"/>
            <a:r>
              <a:rPr lang="en-US" altLang="ko-KR"/>
              <a:t>RESTful API, gRPC, SOAP(</a:t>
            </a:r>
            <a:r>
              <a:rPr lang="ko-KR" altLang="en-US"/>
              <a:t>레거시</a:t>
            </a:r>
            <a:r>
              <a:rPr lang="en-US" altLang="ko-KR"/>
              <a:t>)</a:t>
            </a:r>
          </a:p>
          <a:p>
            <a:pPr lvl="1"/>
            <a:r>
              <a:rPr lang="en-US" altLang="ko-KR"/>
              <a:t>OPC-UA / MQTT / Modbus </a:t>
            </a:r>
            <a:r>
              <a:rPr lang="ko-KR" altLang="en-US"/>
              <a:t>등으로 </a:t>
            </a:r>
            <a:r>
              <a:rPr lang="en-US" altLang="ko-KR"/>
              <a:t>PLC/</a:t>
            </a:r>
            <a:r>
              <a:rPr lang="ko-KR" altLang="en-US"/>
              <a:t>현장장비 연동</a:t>
            </a:r>
            <a:r>
              <a:rPr lang="en-US" altLang="ko-KR"/>
              <a:t>(MES </a:t>
            </a:r>
            <a:r>
              <a:rPr lang="ko-KR" altLang="en-US"/>
              <a:t>관련</a:t>
            </a:r>
            <a:r>
              <a:rPr lang="en-US" altLang="ko-KR"/>
              <a:t>)</a:t>
            </a:r>
          </a:p>
          <a:p>
            <a:r>
              <a:rPr lang="ko-KR" altLang="en-US" b="1"/>
              <a:t>인프라 </a:t>
            </a:r>
            <a:r>
              <a:rPr lang="en-US" altLang="ko-KR" b="1"/>
              <a:t>/ </a:t>
            </a:r>
            <a:r>
              <a:rPr lang="ko-KR" altLang="en-US" b="1"/>
              <a:t>운영</a:t>
            </a:r>
            <a:endParaRPr lang="ko-KR" altLang="en-US"/>
          </a:p>
          <a:p>
            <a:pPr lvl="1"/>
            <a:r>
              <a:rPr lang="en-US" altLang="ko-KR"/>
              <a:t>Docker, Kubernetes, CI/CD(GitHub Actions/Jenkins/GitLab CI)</a:t>
            </a:r>
          </a:p>
          <a:p>
            <a:r>
              <a:rPr lang="ko-KR" altLang="en-US" b="1"/>
              <a:t>보안 </a:t>
            </a:r>
            <a:r>
              <a:rPr lang="en-US" altLang="ko-KR" b="1"/>
              <a:t>/ </a:t>
            </a:r>
            <a:r>
              <a:rPr lang="ko-KR" altLang="en-US" b="1"/>
              <a:t>인증</a:t>
            </a:r>
            <a:endParaRPr lang="ko-KR" altLang="en-US"/>
          </a:p>
          <a:p>
            <a:pPr lvl="1"/>
            <a:r>
              <a:rPr lang="en-US" altLang="ko-KR"/>
              <a:t>OAuth2 / JWT, Spring Security</a:t>
            </a:r>
          </a:p>
          <a:p>
            <a:r>
              <a:rPr lang="ko-KR" altLang="en-US" b="1"/>
              <a:t>모니터링</a:t>
            </a:r>
            <a:endParaRPr lang="ko-KR" altLang="en-US"/>
          </a:p>
          <a:p>
            <a:pPr lvl="1"/>
            <a:r>
              <a:rPr lang="en-US" altLang="ko-KR"/>
              <a:t>Prometheus + Grafana, ELK </a:t>
            </a:r>
            <a:r>
              <a:rPr lang="ko-KR" altLang="en-US"/>
              <a:t>스택</a:t>
            </a:r>
            <a:r>
              <a:rPr lang="en-US" altLang="ko-KR"/>
              <a:t>(Elastic)</a:t>
            </a:r>
          </a:p>
          <a:p>
            <a:r>
              <a:rPr lang="ko-KR" altLang="en-US" b="1"/>
              <a:t>버전관리</a:t>
            </a:r>
            <a:r>
              <a:rPr lang="en-US" altLang="ko-KR" b="1"/>
              <a:t>/</a:t>
            </a:r>
            <a:r>
              <a:rPr lang="ko-KR" altLang="en-US" b="1"/>
              <a:t>협업</a:t>
            </a:r>
            <a:endParaRPr lang="ko-KR" altLang="en-US"/>
          </a:p>
          <a:p>
            <a:pPr lvl="1"/>
            <a:r>
              <a:rPr lang="en-US" altLang="ko-KR"/>
              <a:t>Git, Jira, Confluence</a:t>
            </a:r>
          </a:p>
          <a:p>
            <a:r>
              <a:rPr lang="ko-KR" altLang="en-US" b="1"/>
              <a:t>프론트엔드</a:t>
            </a:r>
          </a:p>
          <a:p>
            <a:r>
              <a:rPr lang="en-US" altLang="ko-KR" b="1"/>
              <a:t>React + TypeScript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구현</a:t>
            </a:r>
            <a:r>
              <a:rPr lang="en-US" altLang="ko-KR"/>
              <a:t>/</a:t>
            </a:r>
            <a:r>
              <a:rPr lang="ko-KR" altLang="en-US"/>
              <a:t>유지보수 용이</a:t>
            </a:r>
            <a:r>
              <a:rPr lang="en-US" altLang="ko-KR"/>
              <a:t>)</a:t>
            </a:r>
          </a:p>
          <a:p>
            <a:r>
              <a:rPr lang="en-US" altLang="ko-KR"/>
              <a:t>UI </a:t>
            </a:r>
            <a:r>
              <a:rPr lang="ko-KR" altLang="en-US"/>
              <a:t>라이브러리</a:t>
            </a:r>
            <a:r>
              <a:rPr lang="en-US" altLang="ko-KR"/>
              <a:t>: Ant Design, MUI(</a:t>
            </a:r>
            <a:r>
              <a:rPr lang="ko-KR" altLang="en-US"/>
              <a:t>필요 시</a:t>
            </a:r>
            <a:r>
              <a:rPr lang="en-US" altLang="ko-KR"/>
              <a:t>)</a:t>
            </a:r>
          </a:p>
          <a:p>
            <a:r>
              <a:rPr lang="en-US" altLang="ko-KR"/>
              <a:t>BOM</a:t>
            </a:r>
            <a:r>
              <a:rPr lang="ko-KR" altLang="en-US"/>
              <a:t>은 </a:t>
            </a:r>
            <a:r>
              <a:rPr lang="ko-KR" altLang="en-US" b="1"/>
              <a:t>트리 뷰</a:t>
            </a:r>
            <a:r>
              <a:rPr lang="en-US" altLang="ko-KR" b="1"/>
              <a:t>(</a:t>
            </a:r>
            <a:r>
              <a:rPr lang="ko-KR" altLang="en-US" b="1"/>
              <a:t>계층</a:t>
            </a:r>
            <a:r>
              <a:rPr lang="en-US" altLang="ko-KR" b="1"/>
              <a:t>)</a:t>
            </a:r>
            <a:r>
              <a:rPr lang="ko-KR" altLang="en-US"/>
              <a:t> 가 자주 나와서</a:t>
            </a:r>
            <a:r>
              <a:rPr lang="en-US" altLang="ko-KR"/>
              <a:t>: react-tree, d3.js</a:t>
            </a:r>
            <a:r>
              <a:rPr lang="ko-KR" altLang="en-US"/>
              <a:t>나 </a:t>
            </a:r>
            <a:r>
              <a:rPr lang="en-US" altLang="ko-KR"/>
              <a:t>vis.js</a:t>
            </a:r>
            <a:r>
              <a:rPr lang="ko-KR" altLang="en-US"/>
              <a:t>로 시각화</a:t>
            </a:r>
          </a:p>
          <a:p>
            <a:r>
              <a:rPr lang="ko-KR" altLang="en-US" b="1"/>
              <a:t>추가 </a:t>
            </a:r>
            <a:r>
              <a:rPr lang="en-US" altLang="ko-KR" b="1"/>
              <a:t>/ </a:t>
            </a:r>
            <a:r>
              <a:rPr lang="ko-KR" altLang="en-US" b="1"/>
              <a:t>도구</a:t>
            </a:r>
          </a:p>
          <a:p>
            <a:r>
              <a:rPr lang="en-US" altLang="ko-KR" b="1"/>
              <a:t>ERP </a:t>
            </a:r>
            <a:r>
              <a:rPr lang="ko-KR" altLang="en-US" b="1"/>
              <a:t>패키지 연동 경험</a:t>
            </a:r>
            <a:r>
              <a:rPr lang="en-US" altLang="ko-KR"/>
              <a:t>: SAP, Oracle ERP, Odoo(</a:t>
            </a:r>
            <a:r>
              <a:rPr lang="ko-KR" altLang="en-US"/>
              <a:t>오픈소스</a:t>
            </a:r>
            <a:r>
              <a:rPr lang="en-US" altLang="ko-KR"/>
              <a:t>) </a:t>
            </a:r>
            <a:r>
              <a:rPr lang="ko-KR" altLang="en-US"/>
              <a:t>등 </a:t>
            </a:r>
            <a:r>
              <a:rPr lang="en-US" altLang="ko-KR"/>
              <a:t>API </a:t>
            </a:r>
            <a:r>
              <a:rPr lang="ko-KR" altLang="en-US"/>
              <a:t>연동 지식</a:t>
            </a:r>
          </a:p>
          <a:p>
            <a:r>
              <a:rPr lang="ko-KR" altLang="en-US" b="1"/>
              <a:t>데이터 모델링 능력</a:t>
            </a:r>
            <a:r>
              <a:rPr lang="en-US" altLang="ko-KR"/>
              <a:t>: </a:t>
            </a:r>
            <a:r>
              <a:rPr lang="ko-KR" altLang="en-US"/>
              <a:t>계층형 모델</a:t>
            </a:r>
            <a:r>
              <a:rPr lang="en-US" altLang="ko-KR"/>
              <a:t>(BOM </a:t>
            </a:r>
            <a:r>
              <a:rPr lang="ko-KR" altLang="en-US"/>
              <a:t>트리</a:t>
            </a:r>
            <a:r>
              <a:rPr lang="en-US" altLang="ko-KR"/>
              <a:t>), </a:t>
            </a:r>
            <a:r>
              <a:rPr lang="ko-KR" altLang="en-US"/>
              <a:t>재고</a:t>
            </a:r>
            <a:r>
              <a:rPr lang="en-US" altLang="ko-KR"/>
              <a:t>·</a:t>
            </a:r>
            <a:r>
              <a:rPr lang="ko-KR" altLang="en-US"/>
              <a:t>이력 설계</a:t>
            </a:r>
          </a:p>
          <a:p>
            <a:r>
              <a:rPr lang="ko-KR" altLang="en-US" b="1"/>
              <a:t>도메인 지식</a:t>
            </a:r>
            <a:r>
              <a:rPr lang="en-US" altLang="ko-KR"/>
              <a:t>: MRP, </a:t>
            </a:r>
            <a:r>
              <a:rPr lang="ko-KR" altLang="en-US"/>
              <a:t>생산오더</a:t>
            </a:r>
            <a:r>
              <a:rPr lang="en-US" altLang="ko-KR"/>
              <a:t>, </a:t>
            </a:r>
            <a:r>
              <a:rPr lang="ko-KR" altLang="en-US"/>
              <a:t>라우팅</a:t>
            </a:r>
            <a:r>
              <a:rPr lang="en-US" altLang="ko-KR"/>
              <a:t>, </a:t>
            </a:r>
            <a:r>
              <a:rPr lang="ko-KR" altLang="en-US"/>
              <a:t>자재소요계산</a:t>
            </a:r>
          </a:p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7BC8B4-4C9D-98B8-6FD5-2430B3FD18EF}"/>
              </a:ext>
            </a:extLst>
          </p:cNvPr>
          <p:cNvSpPr txBox="1">
            <a:spLocks/>
          </p:cNvSpPr>
          <p:nvPr/>
        </p:nvSpPr>
        <p:spPr>
          <a:xfrm>
            <a:off x="6648988" y="952499"/>
            <a:ext cx="4247612" cy="495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500"/>
              <a:t>Spring Boot</a:t>
            </a:r>
          </a:p>
          <a:p>
            <a:r>
              <a:rPr lang="ko-KR" altLang="en-US" sz="1500"/>
              <a:t>표준 구조</a:t>
            </a:r>
            <a:endParaRPr lang="en-US" altLang="ko-KR" sz="1500"/>
          </a:p>
          <a:p>
            <a:endParaRPr lang="en-US" altLang="ko-KR" sz="1500"/>
          </a:p>
          <a:p>
            <a:r>
              <a:rPr lang="en-US" altLang="ko-KR" sz="1500"/>
              <a:t>Client(</a:t>
            </a:r>
            <a:r>
              <a:rPr lang="ko-KR" altLang="en-US" sz="1500"/>
              <a:t>웹</a:t>
            </a:r>
            <a:r>
              <a:rPr lang="en-US" altLang="ko-KR" sz="1500"/>
              <a:t>/</a:t>
            </a:r>
            <a:r>
              <a:rPr lang="ko-KR" altLang="en-US" sz="1500"/>
              <a:t>앱</a:t>
            </a:r>
            <a:r>
              <a:rPr lang="en-US" altLang="ko-KR" sz="1500"/>
              <a:t>)</a:t>
            </a:r>
          </a:p>
          <a:p>
            <a:r>
              <a:rPr lang="en-US" altLang="ko-KR" sz="1500"/>
              <a:t>      ↓  REST API </a:t>
            </a:r>
            <a:r>
              <a:rPr lang="ko-KR" altLang="en-US" sz="1500"/>
              <a:t>호출</a:t>
            </a:r>
          </a:p>
          <a:p>
            <a:r>
              <a:rPr lang="en-US" altLang="ko-KR" sz="1500"/>
              <a:t>[ Controller ]</a:t>
            </a:r>
          </a:p>
          <a:p>
            <a:r>
              <a:rPr lang="en-US" altLang="ko-KR" sz="1500"/>
              <a:t>      ↓  </a:t>
            </a:r>
            <a:r>
              <a:rPr lang="ko-KR" altLang="en-US" sz="1500"/>
              <a:t>업무 명령 전달</a:t>
            </a:r>
          </a:p>
          <a:p>
            <a:r>
              <a:rPr lang="en-US" altLang="ko-KR" sz="1500"/>
              <a:t>[ Service ]</a:t>
            </a:r>
          </a:p>
          <a:p>
            <a:r>
              <a:rPr lang="en-US" altLang="ko-KR" sz="1500"/>
              <a:t>      ↓  </a:t>
            </a:r>
            <a:r>
              <a:rPr lang="ko-KR" altLang="en-US" sz="1500"/>
              <a:t>비즈니스 로직 처리</a:t>
            </a:r>
          </a:p>
          <a:p>
            <a:r>
              <a:rPr lang="en-US" altLang="ko-KR" sz="1500"/>
              <a:t>[ Repository ]</a:t>
            </a:r>
          </a:p>
          <a:p>
            <a:r>
              <a:rPr lang="en-US" altLang="ko-KR" sz="1500"/>
              <a:t>      ↓  </a:t>
            </a:r>
            <a:r>
              <a:rPr lang="ko-KR" altLang="en-US" sz="1500"/>
              <a:t>데이터 접근</a:t>
            </a:r>
          </a:p>
          <a:p>
            <a:r>
              <a:rPr lang="en-US" altLang="ko-KR" sz="1500"/>
              <a:t>[ Entity ]</a:t>
            </a:r>
          </a:p>
          <a:p>
            <a:r>
              <a:rPr lang="en-US" altLang="ko-KR" sz="1500"/>
              <a:t>      ↓</a:t>
            </a:r>
          </a:p>
          <a:p>
            <a:r>
              <a:rPr lang="en-US" altLang="ko-KR" sz="1500"/>
              <a:t>Database (MariaDB / MySQL)</a:t>
            </a:r>
          </a:p>
          <a:p>
            <a:endParaRPr lang="en-US" altLang="ko-KR" sz="1500"/>
          </a:p>
        </p:txBody>
      </p:sp>
    </p:spTree>
    <p:extLst>
      <p:ext uri="{BB962C8B-B14F-4D97-AF65-F5344CB8AC3E}">
        <p14:creationId xmlns:p14="http://schemas.microsoft.com/office/powerpoint/2010/main" val="373148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F367A-988A-9911-4497-75956CF0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33AFE0-0E41-E658-9EE5-DB2F14D56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part (</a:t>
            </a:r>
            <a:r>
              <a:rPr lang="ko-KR" altLang="en-US" b="1"/>
              <a:t>부품</a:t>
            </a:r>
            <a:r>
              <a:rPr lang="en-US" altLang="ko-KR" b="1"/>
              <a:t>/</a:t>
            </a:r>
            <a:r>
              <a:rPr lang="ko-KR" altLang="en-US" b="1"/>
              <a:t>품목 마스터</a:t>
            </a:r>
            <a:r>
              <a:rPr lang="en-US" altLang="ko-KR" b="1"/>
              <a:t>)</a:t>
            </a:r>
          </a:p>
          <a:p>
            <a:r>
              <a:rPr lang="en-US" altLang="ko-KR"/>
              <a:t>part (</a:t>
            </a:r>
          </a:p>
          <a:p>
            <a:pPr lvl="1"/>
            <a:r>
              <a:rPr lang="en-US" altLang="ko-KR"/>
              <a:t>part_id UUID PK,</a:t>
            </a:r>
          </a:p>
          <a:p>
            <a:pPr lvl="1"/>
            <a:r>
              <a:rPr lang="en-US" altLang="ko-KR"/>
              <a:t>part_code VARCHAR UNIQUE,</a:t>
            </a:r>
          </a:p>
          <a:p>
            <a:pPr lvl="1"/>
            <a:r>
              <a:rPr lang="en-US" altLang="ko-KR"/>
              <a:t>name VARCHAR,</a:t>
            </a:r>
          </a:p>
          <a:p>
            <a:pPr lvl="1"/>
            <a:r>
              <a:rPr lang="en-US" altLang="ko-KR"/>
              <a:t>type VARCHAR CHECK (e.g. 'RAW','COMP','ASSY','FG'),</a:t>
            </a:r>
          </a:p>
          <a:p>
            <a:pPr lvl="1"/>
            <a:r>
              <a:rPr lang="en-US" altLang="ko-KR"/>
              <a:t>unit VARCHAR, -- </a:t>
            </a:r>
            <a:r>
              <a:rPr lang="ko-KR" altLang="en-US"/>
              <a:t>예</a:t>
            </a:r>
            <a:r>
              <a:rPr lang="en-US" altLang="ko-KR"/>
              <a:t>: EA, KG</a:t>
            </a:r>
          </a:p>
          <a:p>
            <a:pPr lvl="1"/>
            <a:r>
              <a:rPr lang="en-US" altLang="ko-KR"/>
              <a:t>standard_cost NUMERIC,</a:t>
            </a:r>
          </a:p>
          <a:p>
            <a:pPr lvl="1"/>
            <a:r>
              <a:rPr lang="en-US" altLang="ko-KR"/>
              <a:t>lead_time_days INT,</a:t>
            </a:r>
          </a:p>
          <a:p>
            <a:pPr lvl="1"/>
            <a:r>
              <a:rPr lang="en-US" altLang="ko-KR"/>
              <a:t>status VARCHAR,</a:t>
            </a:r>
          </a:p>
          <a:p>
            <a:pPr lvl="1"/>
            <a:r>
              <a:rPr lang="en-US" altLang="ko-KR"/>
              <a:t>created_at TIMESTAMP,</a:t>
            </a:r>
          </a:p>
          <a:p>
            <a:pPr lvl="1"/>
            <a:r>
              <a:rPr lang="en-US" altLang="ko-KR"/>
              <a:t>updated_at TIMESTAMP</a:t>
            </a:r>
            <a:br>
              <a:rPr lang="en-US" altLang="ko-KR"/>
            </a:b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683AC78-F45C-28F4-743A-7E5EE3BDC9A5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0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4037-FF97-2C9B-F92A-BA0F0325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9847C6-B123-F449-1F42-45EAE55B2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bom (BOM </a:t>
            </a:r>
            <a:r>
              <a:rPr lang="ko-KR" altLang="en-US" b="1"/>
              <a:t>계층</a:t>
            </a:r>
            <a:r>
              <a:rPr lang="en-US" altLang="ko-KR" b="1"/>
              <a:t>: </a:t>
            </a:r>
            <a:r>
              <a:rPr lang="ko-KR" altLang="en-US" b="1"/>
              <a:t>부모</a:t>
            </a:r>
            <a:r>
              <a:rPr lang="en-US" altLang="ko-KR" b="1"/>
              <a:t>-</a:t>
            </a:r>
            <a:r>
              <a:rPr lang="ko-KR" altLang="en-US" b="1"/>
              <a:t>자식</a:t>
            </a:r>
            <a:r>
              <a:rPr lang="en-US" altLang="ko-KR" b="1"/>
              <a:t>)</a:t>
            </a:r>
          </a:p>
          <a:p>
            <a:r>
              <a:rPr lang="en-US" altLang="ko-KR"/>
              <a:t>bom (</a:t>
            </a:r>
          </a:p>
          <a:p>
            <a:pPr lvl="1"/>
            <a:r>
              <a:rPr lang="en-US" altLang="ko-KR"/>
              <a:t>bom_id UUID PK,</a:t>
            </a:r>
          </a:p>
          <a:p>
            <a:pPr lvl="1"/>
            <a:r>
              <a:rPr lang="en-US" altLang="ko-KR"/>
              <a:t>parent_part_id UUID FK -&gt; part(part_id),</a:t>
            </a:r>
          </a:p>
          <a:p>
            <a:pPr lvl="1"/>
            <a:r>
              <a:rPr lang="en-US" altLang="ko-KR"/>
              <a:t>child_part_id UUID FK -&gt; part(part_id),</a:t>
            </a:r>
          </a:p>
          <a:p>
            <a:pPr lvl="1"/>
            <a:r>
              <a:rPr lang="en-US" altLang="ko-KR"/>
              <a:t>quantity NUMERIC NOT NULL,</a:t>
            </a:r>
          </a:p>
          <a:p>
            <a:pPr lvl="1"/>
            <a:r>
              <a:rPr lang="en-US" altLang="ko-KR"/>
              <a:t>change_rev VARCHAR, -- </a:t>
            </a:r>
            <a:r>
              <a:rPr lang="ko-KR" altLang="en-US"/>
              <a:t>변경 이력</a:t>
            </a:r>
            <a:r>
              <a:rPr lang="en-US" altLang="ko-KR"/>
              <a:t>/</a:t>
            </a:r>
            <a:r>
              <a:rPr lang="ko-KR" altLang="en-US"/>
              <a:t>버전</a:t>
            </a:r>
          </a:p>
          <a:p>
            <a:pPr lvl="1"/>
            <a:r>
              <a:rPr lang="en-US" altLang="ko-KR"/>
              <a:t>valid_from DATE,</a:t>
            </a:r>
          </a:p>
          <a:p>
            <a:pPr lvl="1"/>
            <a:r>
              <a:rPr lang="en-US" altLang="ko-KR"/>
              <a:t>valid_to DATE,</a:t>
            </a:r>
          </a:p>
          <a:p>
            <a:pPr lvl="1"/>
            <a:r>
              <a:rPr lang="en-US" altLang="ko-KR"/>
              <a:t>created_at TIMESTAMP</a:t>
            </a:r>
            <a:br>
              <a:rPr lang="en-US" altLang="ko-KR"/>
            </a:b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3EB0EB6-C228-8E0D-13B5-E1DACB7C9A9D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61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69A7-8B3B-F339-2321-4C8345CE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73E55-E323-DE34-2B90-84B33548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3. product (</a:t>
            </a:r>
            <a:r>
              <a:rPr lang="ko-KR" altLang="en-US" b="1"/>
              <a:t>최종 제품</a:t>
            </a:r>
            <a:r>
              <a:rPr lang="en-US" altLang="ko-KR" b="1"/>
              <a:t>/</a:t>
            </a:r>
            <a:r>
              <a:rPr lang="ko-KR" altLang="en-US" b="1"/>
              <a:t>상품 레코드</a:t>
            </a:r>
            <a:r>
              <a:rPr lang="en-US" altLang="ko-KR" b="1"/>
              <a:t>) — optional (could be part.type='FG'</a:t>
            </a:r>
            <a:r>
              <a:rPr lang="ko-KR" altLang="en-US" b="1"/>
              <a:t>로 처리</a:t>
            </a:r>
            <a:r>
              <a:rPr lang="en-US" altLang="ko-KR" b="1"/>
              <a:t>)</a:t>
            </a:r>
          </a:p>
          <a:p>
            <a:r>
              <a:rPr lang="en-US" altLang="ko-KR"/>
              <a:t>product (product_id PK, part_id FK)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50978EC-708D-62F0-02C2-C6FA1C0A6810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62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86F40-0318-21C4-9A43-926BDBA8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EF3BEF-F7A8-05EF-21F1-E43B29C93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. supplier (</a:t>
            </a:r>
            <a:r>
              <a:rPr lang="ko-KR" altLang="en-US" b="1"/>
              <a:t>공급사</a:t>
            </a:r>
            <a:r>
              <a:rPr lang="en-US" altLang="ko-KR" b="1"/>
              <a:t>)</a:t>
            </a:r>
          </a:p>
          <a:p>
            <a:r>
              <a:rPr lang="en-US" altLang="ko-KR"/>
              <a:t>supplier (supplier_id PK, name, contact </a:t>
            </a:r>
            <a:r>
              <a:rPr lang="ko-KR" altLang="en-US"/>
              <a:t>등</a:t>
            </a: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9302F43-635B-79E5-60C2-4AE4CE39D013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65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60F6-51E4-D9E6-62D5-044C346C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DA0554-126F-E14C-C667-583962064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5. purchase_order (</a:t>
            </a:r>
            <a:r>
              <a:rPr lang="ko-KR" altLang="en-US" b="1"/>
              <a:t>구매오더</a:t>
            </a:r>
            <a:r>
              <a:rPr lang="en-US" altLang="ko-KR" b="1"/>
              <a:t>)</a:t>
            </a:r>
          </a:p>
          <a:p>
            <a:r>
              <a:rPr lang="en-US" altLang="ko-KR"/>
              <a:t>purchase_order (po_id PK, supplier_id FK, status, created_at, expect_date)</a:t>
            </a:r>
          </a:p>
          <a:p>
            <a:r>
              <a:rPr lang="en-US" altLang="ko-KR"/>
              <a:t>purchase_order_line (po_line_id PK, po_id FK, part_id FK, qty, price, received_qty)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4D8A30A-CC01-67E5-8E07-8E52EAE51033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76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310A-70B7-E6E2-1A22-7F6585F4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954D7A-7D09-7B67-9BAF-3AB6956A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6. inventory (</a:t>
            </a:r>
            <a:r>
              <a:rPr lang="ko-KR" altLang="en-US" b="1"/>
              <a:t>재고 위치</a:t>
            </a:r>
            <a:r>
              <a:rPr lang="en-US" altLang="ko-KR" b="1"/>
              <a:t>/</a:t>
            </a:r>
            <a:r>
              <a:rPr lang="ko-KR" altLang="en-US" b="1"/>
              <a:t>수량</a:t>
            </a:r>
            <a:r>
              <a:rPr lang="en-US" altLang="ko-KR" b="1"/>
              <a:t>)</a:t>
            </a:r>
          </a:p>
          <a:p>
            <a:r>
              <a:rPr lang="en-US" altLang="ko-KR"/>
              <a:t>inventory (</a:t>
            </a:r>
          </a:p>
          <a:p>
            <a:pPr lvl="1"/>
            <a:r>
              <a:rPr lang="en-US" altLang="ko-KR"/>
              <a:t>inventory_id UUID PK,</a:t>
            </a:r>
          </a:p>
          <a:p>
            <a:pPr lvl="1"/>
            <a:r>
              <a:rPr lang="en-US" altLang="ko-KR"/>
              <a:t>part_id FK -&gt; part,</a:t>
            </a:r>
          </a:p>
          <a:p>
            <a:pPr lvl="1"/>
            <a:r>
              <a:rPr lang="en-US" altLang="ko-KR"/>
              <a:t>location_id FK -&gt; location (</a:t>
            </a:r>
            <a:r>
              <a:rPr lang="ko-KR" altLang="en-US"/>
              <a:t>창고</a:t>
            </a:r>
            <a:r>
              <a:rPr lang="en-US" altLang="ko-KR"/>
              <a:t>/</a:t>
            </a:r>
            <a:r>
              <a:rPr lang="ko-KR" altLang="en-US"/>
              <a:t>로케이션</a:t>
            </a:r>
            <a:r>
              <a:rPr lang="en-US" altLang="ko-KR"/>
              <a:t>),</a:t>
            </a:r>
          </a:p>
          <a:p>
            <a:pPr lvl="1"/>
            <a:r>
              <a:rPr lang="en-US" altLang="ko-KR"/>
              <a:t>qty_on_hand NUMERIC,</a:t>
            </a:r>
          </a:p>
          <a:p>
            <a:pPr lvl="1"/>
            <a:r>
              <a:rPr lang="en-US" altLang="ko-KR"/>
              <a:t>qty_reserved NUMERIC,</a:t>
            </a:r>
          </a:p>
          <a:p>
            <a:pPr lvl="1"/>
            <a:r>
              <a:rPr lang="en-US" altLang="ko-KR"/>
              <a:t>last_updated TIMESTAMP</a:t>
            </a:r>
            <a:br>
              <a:rPr lang="en-US" altLang="ko-KR"/>
            </a:b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D2DCCFA-9974-FF54-112F-C6F0AE41EE08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259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C665-2116-09D1-C67D-923009E5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C04C4-80C8-C78A-530D-FE3591B2F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7. location (</a:t>
            </a:r>
            <a:r>
              <a:rPr lang="ko-KR" altLang="en-US" b="1"/>
              <a:t>창고</a:t>
            </a:r>
            <a:r>
              <a:rPr lang="en-US" altLang="ko-KR" b="1"/>
              <a:t>/</a:t>
            </a:r>
            <a:r>
              <a:rPr lang="ko-KR" altLang="en-US" b="1"/>
              <a:t>로케이션</a:t>
            </a:r>
            <a:r>
              <a:rPr lang="en-US" altLang="ko-KR" b="1"/>
              <a:t>)</a:t>
            </a:r>
          </a:p>
          <a:p>
            <a:r>
              <a:rPr lang="en-US" altLang="ko-KR"/>
              <a:t>location (location_id PK, code, name, type)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2F2A352-BC96-F3DF-46D6-00D784FE8CBC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857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1A46-DB95-C0C7-E9EE-8A58A02D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569B13-A089-7E23-090F-0DFC9F33F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8. production_order (</a:t>
            </a:r>
            <a:r>
              <a:rPr lang="ko-KR" altLang="en-US" b="1"/>
              <a:t>생산지시서</a:t>
            </a:r>
            <a:r>
              <a:rPr lang="en-US" altLang="ko-KR" b="1"/>
              <a:t>)</a:t>
            </a:r>
          </a:p>
          <a:p>
            <a:r>
              <a:rPr lang="en-US" altLang="ko-KR"/>
              <a:t>production_order (</a:t>
            </a:r>
          </a:p>
          <a:p>
            <a:pPr lvl="1"/>
            <a:r>
              <a:rPr lang="en-US" altLang="ko-KR"/>
              <a:t>prod_order_id UUID PK,</a:t>
            </a:r>
          </a:p>
          <a:p>
            <a:pPr lvl="1"/>
            <a:r>
              <a:rPr lang="en-US" altLang="ko-KR"/>
              <a:t>product_part_id FK -&gt; part(part_id),</a:t>
            </a:r>
          </a:p>
          <a:p>
            <a:pPr lvl="1"/>
            <a:r>
              <a:rPr lang="en-US" altLang="ko-KR"/>
              <a:t>quantity NUMERIC,</a:t>
            </a:r>
          </a:p>
          <a:p>
            <a:pPr lvl="1"/>
            <a:r>
              <a:rPr lang="en-US" altLang="ko-KR"/>
              <a:t>status VARCHAR CHECK('PLANNED','RELEASED','IN_PROGRESS','COMPLETE','CANCELLED'),</a:t>
            </a:r>
          </a:p>
          <a:p>
            <a:pPr lvl="1"/>
            <a:r>
              <a:rPr lang="en-US" altLang="ko-KR"/>
              <a:t>planned_start, planned_end,</a:t>
            </a:r>
          </a:p>
          <a:p>
            <a:pPr lvl="1"/>
            <a:r>
              <a:rPr lang="en-US" altLang="ko-KR"/>
              <a:t>released_at, completed_at</a:t>
            </a:r>
            <a:br>
              <a:rPr lang="en-US" altLang="ko-KR"/>
            </a:b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A98DFA6C-5552-A3B8-2430-7923757496BD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731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C4D48-0169-3BA4-D5A9-A676BF11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1F455D-8855-A4A4-FFD4-B9BF0FB6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9. production_line / routing / operation (</a:t>
            </a:r>
            <a:r>
              <a:rPr lang="ko-KR" altLang="en-US" b="1"/>
              <a:t>공정</a:t>
            </a:r>
            <a:r>
              <a:rPr lang="en-US" altLang="ko-KR" b="1"/>
              <a:t>/</a:t>
            </a:r>
            <a:r>
              <a:rPr lang="ko-KR" altLang="en-US" b="1"/>
              <a:t>라우팅</a:t>
            </a:r>
            <a:r>
              <a:rPr lang="en-US" altLang="ko-KR" b="1"/>
              <a:t>)</a:t>
            </a:r>
          </a:p>
          <a:p>
            <a:r>
              <a:rPr lang="en-US" altLang="ko-KR"/>
              <a:t>work_center (work_center_id PK, name, type, capacity)</a:t>
            </a:r>
          </a:p>
          <a:p>
            <a:r>
              <a:rPr lang="en-US" altLang="ko-KR"/>
              <a:t>routing (routing_id PK, part_id FK (product), description)</a:t>
            </a:r>
          </a:p>
          <a:p>
            <a:r>
              <a:rPr lang="en-US" altLang="ko-KR"/>
              <a:t>operation (operation_id PK, routing_id FK, op_seq INT, work_center_id FK, standard_time_minutes)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1FF50A0-9F67-6E80-2AB4-FDE3431421E3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796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2BFF-ABA5-FD62-C955-EA3DBECE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D3708A-A4D6-F3AA-3637-A4E77D38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10. mes_event / production_transaction (MES </a:t>
            </a:r>
            <a:r>
              <a:rPr lang="ko-KR" altLang="en-US" b="1"/>
              <a:t>실적</a:t>
            </a:r>
            <a:r>
              <a:rPr lang="en-US" altLang="ko-KR" b="1"/>
              <a:t>)</a:t>
            </a:r>
          </a:p>
          <a:p>
            <a:r>
              <a:rPr lang="en-US" altLang="ko-KR"/>
              <a:t>production_transaction (</a:t>
            </a:r>
          </a:p>
          <a:p>
            <a:pPr lvl="1"/>
            <a:r>
              <a:rPr lang="en-US" altLang="ko-KR"/>
              <a:t>txn_id UUID PK,</a:t>
            </a:r>
          </a:p>
          <a:p>
            <a:pPr lvl="1"/>
            <a:r>
              <a:rPr lang="en-US" altLang="ko-KR"/>
              <a:t>prod_order_id FK,</a:t>
            </a:r>
          </a:p>
          <a:p>
            <a:pPr lvl="1"/>
            <a:r>
              <a:rPr lang="en-US" altLang="ko-KR"/>
              <a:t>operation_id FK,</a:t>
            </a:r>
          </a:p>
          <a:p>
            <a:pPr lvl="1"/>
            <a:r>
              <a:rPr lang="en-US" altLang="ko-KR"/>
              <a:t>start_time TIMESTAMP,</a:t>
            </a:r>
          </a:p>
          <a:p>
            <a:pPr lvl="1"/>
            <a:r>
              <a:rPr lang="en-US" altLang="ko-KR"/>
              <a:t>end_time TIMESTAMP,</a:t>
            </a:r>
          </a:p>
          <a:p>
            <a:pPr lvl="1"/>
            <a:r>
              <a:rPr lang="en-US" altLang="ko-KR"/>
              <a:t>qty_good NUMERIC,</a:t>
            </a:r>
          </a:p>
          <a:p>
            <a:pPr lvl="1"/>
            <a:r>
              <a:rPr lang="en-US" altLang="ko-KR"/>
              <a:t>qty_scrap NUMERIC,</a:t>
            </a:r>
          </a:p>
          <a:p>
            <a:pPr lvl="1"/>
            <a:r>
              <a:rPr lang="en-US" altLang="ko-KR"/>
              <a:t>operator_id FK -&gt; user</a:t>
            </a:r>
            <a:br>
              <a:rPr lang="en-US" altLang="ko-KR"/>
            </a:br>
            <a:r>
              <a:rPr lang="en-US" altLang="ko-KR"/>
              <a:t>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C7DF975-DA8A-64C7-7BBF-C70E1769033B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9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B617-A480-95BE-1151-1249AA18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DC683-0B5D-1A0C-890E-CE98B84E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11. inventory_txn (</a:t>
            </a:r>
            <a:r>
              <a:rPr lang="ko-KR" altLang="en-US" b="1"/>
              <a:t>재고 트랜잭션 히스토리</a:t>
            </a:r>
            <a:r>
              <a:rPr lang="en-US" altLang="ko-KR" b="1"/>
              <a:t>)</a:t>
            </a:r>
          </a:p>
          <a:p>
            <a:r>
              <a:rPr lang="en-US" altLang="ko-KR"/>
              <a:t>inventory_txn (txn_id PK, part_id FK, location_id FK, change_qty, txn_type VARCHAR ('RECEIPT','ISSUE','MOVE','ADJUST'), ref_id UUID (PO/ProdOrder id), created_at)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21804D0-1EDA-B263-1822-9CD0AEBD9A9B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675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5021-BA63-16FD-5E92-0B34B334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4CC2C0-3016-4815-DA47-C38CCD6C3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12. drawing/document (</a:t>
            </a:r>
            <a:r>
              <a:rPr lang="ko-KR" altLang="en-US" b="1"/>
              <a:t>설계도면 </a:t>
            </a:r>
            <a:r>
              <a:rPr lang="en-US" altLang="ko-KR" b="1"/>
              <a:t>/ </a:t>
            </a:r>
            <a:r>
              <a:rPr lang="ko-KR" altLang="en-US" b="1"/>
              <a:t>문서</a:t>
            </a:r>
            <a:r>
              <a:rPr lang="en-US" altLang="ko-KR" b="1"/>
              <a:t>)</a:t>
            </a:r>
          </a:p>
          <a:p>
            <a:r>
              <a:rPr lang="en-US" altLang="ko-KR"/>
              <a:t>document (doc_id PK, part_id FK, doc_type, file_url, version, effective_date)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B93FFCC-36E7-B043-4FAE-B70E6A041705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19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A820-CAB6-36B7-C3A3-221B0008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C260F0-EA3A-718D-A3C1-EACE79624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13. change_request / engineering_change (BOM </a:t>
            </a:r>
            <a:r>
              <a:rPr lang="ko-KR" altLang="en-US" b="1"/>
              <a:t>변경관리</a:t>
            </a:r>
            <a:r>
              <a:rPr lang="en-US" altLang="ko-KR" b="1"/>
              <a:t>)</a:t>
            </a:r>
          </a:p>
          <a:p>
            <a:r>
              <a:rPr lang="en-US" altLang="ko-KR"/>
              <a:t>ec (ec_id PK, part_id FK, requester, status, description, created_at)</a:t>
            </a:r>
          </a:p>
          <a:p>
            <a:r>
              <a:rPr lang="en-US" altLang="ko-KR"/>
              <a:t>ec_bom_line (linking EC to BOM lines to be changed)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6F835B2-51D9-6278-5863-89ED5CD5C4E7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666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C235-4D2A-9927-D466-A2FFA8F3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672690-F09D-2E61-890F-FCC993F96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b="1"/>
              <a:t>14. user / role (</a:t>
            </a:r>
            <a:r>
              <a:rPr lang="ko-KR" altLang="en-US" b="1"/>
              <a:t>권한</a:t>
            </a:r>
            <a:r>
              <a:rPr lang="en-US" altLang="ko-KR" b="1"/>
              <a:t>)</a:t>
            </a:r>
          </a:p>
          <a:p>
            <a:r>
              <a:rPr lang="en-US" altLang="ko-KR"/>
              <a:t>user (user_id PK, username, name, role_id)</a:t>
            </a:r>
          </a:p>
          <a:p>
            <a:r>
              <a:rPr lang="en-US" altLang="ko-KR"/>
              <a:t>role (role_id PK, name, permissions)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DA87A94-F056-9837-0F55-B37717C917DE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ERD — </a:t>
            </a:r>
          </a:p>
          <a:p>
            <a:r>
              <a:rPr lang="ko-KR" altLang="en-US"/>
              <a:t>엔티티 목록</a:t>
            </a:r>
            <a:r>
              <a:rPr lang="en-US" altLang="ko-KR"/>
              <a:t>(</a:t>
            </a:r>
            <a:r>
              <a:rPr lang="ko-KR" altLang="en-US"/>
              <a:t>텍스트 </a:t>
            </a:r>
            <a:r>
              <a:rPr lang="en-US" altLang="ko-KR"/>
              <a:t>ERD)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313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B4DE-5DD9-D3DD-A536-2D4B0C69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978501-174E-CF0F-947E-71243D8AF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-- extension</a:t>
            </a:r>
          </a:p>
          <a:p>
            <a:r>
              <a:rPr lang="en-US" altLang="ko-KR" sz="1500" b="1"/>
              <a:t>CREATE EXTENSION IF NOT EXISTS "uuid-ossp";</a:t>
            </a:r>
          </a:p>
          <a:p>
            <a:endParaRPr lang="en-US" altLang="ko-KR" sz="1500" b="1"/>
          </a:p>
          <a:p>
            <a:r>
              <a:rPr lang="en-US" altLang="ko-KR" sz="1500" b="1"/>
              <a:t>-- PART</a:t>
            </a:r>
          </a:p>
          <a:p>
            <a:r>
              <a:rPr lang="en-US" altLang="ko-KR" sz="1500" b="1"/>
              <a:t>CREATE TABLE part (</a:t>
            </a:r>
          </a:p>
          <a:p>
            <a:r>
              <a:rPr lang="en-US" altLang="ko-KR" sz="1500" b="1"/>
              <a:t>  part_id UUID PRIMARY KEY DEFAULT uuid_generate_v4(),</a:t>
            </a:r>
          </a:p>
          <a:p>
            <a:r>
              <a:rPr lang="en-US" altLang="ko-KR" sz="1500" b="1"/>
              <a:t>  part_code VARCHAR(64) NOT NULL UNIQUE,</a:t>
            </a:r>
          </a:p>
          <a:p>
            <a:r>
              <a:rPr lang="en-US" altLang="ko-KR" sz="1500" b="1"/>
              <a:t>  name VARCHAR(255) NOT NULL,</a:t>
            </a:r>
          </a:p>
          <a:p>
            <a:r>
              <a:rPr lang="en-US" altLang="ko-KR" sz="1500" b="1"/>
              <a:t>  type VARCHAR(32) NOT NULL,</a:t>
            </a:r>
          </a:p>
          <a:p>
            <a:r>
              <a:rPr lang="en-US" altLang="ko-KR" sz="1500" b="1"/>
              <a:t>  unit VARCHAR(16),</a:t>
            </a:r>
          </a:p>
          <a:p>
            <a:r>
              <a:rPr lang="en-US" altLang="ko-KR" sz="1500" b="1"/>
              <a:t>  standard_cost NUMERIC(14,4) DEFAULT 0,</a:t>
            </a:r>
          </a:p>
          <a:p>
            <a:r>
              <a:rPr lang="en-US" altLang="ko-KR" sz="1500" b="1"/>
              <a:t>  lead_time_days INTEGER DEFAULT 0,</a:t>
            </a:r>
          </a:p>
          <a:p>
            <a:r>
              <a:rPr lang="en-US" altLang="ko-KR" sz="1500" b="1"/>
              <a:t>  status VARCHAR(32) DEFAULT 'ACTIVE',</a:t>
            </a:r>
          </a:p>
          <a:p>
            <a:r>
              <a:rPr lang="en-US" altLang="ko-KR" sz="1500" b="1"/>
              <a:t>  created_at TIMESTAMP WITH TIME ZONE DEFAULT now(),</a:t>
            </a:r>
          </a:p>
          <a:p>
            <a:r>
              <a:rPr lang="en-US" altLang="ko-KR" sz="1500" b="1"/>
              <a:t>  updated_at TIMESTAMP WITH TIME ZONE DEFAULT now()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D712E89-FBBF-EE43-54AA-798F0BFD007A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PART</a:t>
            </a:r>
          </a:p>
        </p:txBody>
      </p:sp>
    </p:spTree>
    <p:extLst>
      <p:ext uri="{BB962C8B-B14F-4D97-AF65-F5344CB8AC3E}">
        <p14:creationId xmlns:p14="http://schemas.microsoft.com/office/powerpoint/2010/main" val="2897743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75EF-63F1-4B79-E5BF-42F51A1C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FD68F-4718-9E58-3ACB-BC9B647D4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CREATE TABLE bom (</a:t>
            </a:r>
          </a:p>
          <a:p>
            <a:r>
              <a:rPr lang="en-US" altLang="ko-KR" sz="1500" b="1"/>
              <a:t>  bom_id UUID PRIMARY KEY DEFAULT uuid_generate_v4(),</a:t>
            </a:r>
          </a:p>
          <a:p>
            <a:r>
              <a:rPr lang="en-US" altLang="ko-KR" sz="1500" b="1"/>
              <a:t>  parent_part_id UUID NOT NULL REFERENCES part(part_id) ON DELETE CASCADE,</a:t>
            </a:r>
          </a:p>
          <a:p>
            <a:r>
              <a:rPr lang="en-US" altLang="ko-KR" sz="1500" b="1"/>
              <a:t>  child_part_id UUID NOT NULL REFERENCES part(part_id) ON DELETE RESTRICT,</a:t>
            </a:r>
          </a:p>
          <a:p>
            <a:r>
              <a:rPr lang="en-US" altLang="ko-KR" sz="1500" b="1"/>
              <a:t>  quantity NUMERIC(12,4) NOT NULL DEFAULT 1,</a:t>
            </a:r>
          </a:p>
          <a:p>
            <a:r>
              <a:rPr lang="en-US" altLang="ko-KR" sz="1500" b="1"/>
              <a:t>  change_rev VARCHAR(32),</a:t>
            </a:r>
          </a:p>
          <a:p>
            <a:r>
              <a:rPr lang="en-US" altLang="ko-KR" sz="1500" b="1"/>
              <a:t>  valid_from DATE,</a:t>
            </a:r>
          </a:p>
          <a:p>
            <a:r>
              <a:rPr lang="en-US" altLang="ko-KR" sz="1500" b="1"/>
              <a:t>  valid_to DATE,</a:t>
            </a:r>
          </a:p>
          <a:p>
            <a:r>
              <a:rPr lang="en-US" altLang="ko-KR" sz="1500" b="1"/>
              <a:t>  created_at TIMESTAMP WITH TIME ZONE DEFAULT now(),</a:t>
            </a:r>
          </a:p>
          <a:p>
            <a:r>
              <a:rPr lang="en-US" altLang="ko-KR" sz="1500" b="1"/>
              <a:t>  UNIQUE(parent_part_id, child_part_id, change_rev)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A14DE0D-B795-073A-76B2-422381F772C4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BOM</a:t>
            </a:r>
          </a:p>
        </p:txBody>
      </p:sp>
    </p:spTree>
    <p:extLst>
      <p:ext uri="{BB962C8B-B14F-4D97-AF65-F5344CB8AC3E}">
        <p14:creationId xmlns:p14="http://schemas.microsoft.com/office/powerpoint/2010/main" val="1746761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0188-E12A-1829-53AB-4474F832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167562-79D8-360F-2A7D-E0621CED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CREATE TABLE location (</a:t>
            </a:r>
          </a:p>
          <a:p>
            <a:r>
              <a:rPr lang="en-US" altLang="ko-KR" sz="1500" b="1"/>
              <a:t>  location_id UUID PRIMARY KEY DEFAULT uuid_generate_v4(),</a:t>
            </a:r>
          </a:p>
          <a:p>
            <a:r>
              <a:rPr lang="en-US" altLang="ko-KR" sz="1500" b="1"/>
              <a:t>  code VARCHAR(64) UNIQUE,</a:t>
            </a:r>
          </a:p>
          <a:p>
            <a:r>
              <a:rPr lang="en-US" altLang="ko-KR" sz="1500" b="1"/>
              <a:t>  name VARCHAR(128),</a:t>
            </a:r>
          </a:p>
          <a:p>
            <a:r>
              <a:rPr lang="en-US" altLang="ko-KR" sz="1500" b="1"/>
              <a:t>  type VARCHAR(32)</a:t>
            </a:r>
          </a:p>
          <a:p>
            <a:r>
              <a:rPr lang="en-US" altLang="ko-KR" sz="1500" b="1"/>
              <a:t>);</a:t>
            </a:r>
          </a:p>
          <a:p>
            <a:endParaRPr lang="en-US" altLang="ko-KR" sz="1500" b="1"/>
          </a:p>
          <a:p>
            <a:r>
              <a:rPr lang="en-US" altLang="ko-KR" sz="1500" b="1"/>
              <a:t>CREATE TABLE inventory (</a:t>
            </a:r>
          </a:p>
          <a:p>
            <a:r>
              <a:rPr lang="en-US" altLang="ko-KR" sz="1500" b="1"/>
              <a:t>  inventory_id UUID PRIMARY KEY DEFAULT uuid_generate_v4(),</a:t>
            </a:r>
          </a:p>
          <a:p>
            <a:r>
              <a:rPr lang="en-US" altLang="ko-KR" sz="1500" b="1"/>
              <a:t>  part_id UUID REFERENCES part(part_id),</a:t>
            </a:r>
          </a:p>
          <a:p>
            <a:r>
              <a:rPr lang="en-US" altLang="ko-KR" sz="1500" b="1"/>
              <a:t>  location_id UUID REFERENCES location(location_id),</a:t>
            </a:r>
          </a:p>
          <a:p>
            <a:r>
              <a:rPr lang="en-US" altLang="ko-KR" sz="1500" b="1"/>
              <a:t>  qty_on_hand NUMERIC(14,4) DEFAULT 0,</a:t>
            </a:r>
          </a:p>
          <a:p>
            <a:r>
              <a:rPr lang="en-US" altLang="ko-KR" sz="1500" b="1"/>
              <a:t>  qty_reserved NUMERIC(14,4) DEFAULT 0,</a:t>
            </a:r>
          </a:p>
          <a:p>
            <a:r>
              <a:rPr lang="en-US" altLang="ko-KR" sz="1500" b="1"/>
              <a:t>  last_updated TIMESTAMP WITH TIME ZONE DEFAULT now(),</a:t>
            </a:r>
          </a:p>
          <a:p>
            <a:r>
              <a:rPr lang="en-US" altLang="ko-KR" sz="1500" b="1"/>
              <a:t>  UNIQUE(part_id, location_id)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0B00E34-EA99-24A4-B147-3D7817B9AA62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INVENTORY</a:t>
            </a:r>
          </a:p>
        </p:txBody>
      </p:sp>
    </p:spTree>
    <p:extLst>
      <p:ext uri="{BB962C8B-B14F-4D97-AF65-F5344CB8AC3E}">
        <p14:creationId xmlns:p14="http://schemas.microsoft.com/office/powerpoint/2010/main" val="3149882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FE85-4671-E396-B92C-5B4B393B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948293-879B-BCB3-7952-7949EE959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CREATE TABLE production_order (</a:t>
            </a:r>
          </a:p>
          <a:p>
            <a:r>
              <a:rPr lang="en-US" altLang="ko-KR" sz="1500" b="1"/>
              <a:t>  prod_order_id UUID PRIMARY KEY DEFAULT uuid_generate_v4(),</a:t>
            </a:r>
          </a:p>
          <a:p>
            <a:r>
              <a:rPr lang="en-US" altLang="ko-KR" sz="1500" b="1"/>
              <a:t>  product_part_id UUID REFERENCES part(part_id),</a:t>
            </a:r>
          </a:p>
          <a:p>
            <a:r>
              <a:rPr lang="en-US" altLang="ko-KR" sz="1500" b="1"/>
              <a:t>  quantity NUMERIC(12,4) NOT NULL,</a:t>
            </a:r>
          </a:p>
          <a:p>
            <a:r>
              <a:rPr lang="en-US" altLang="ko-KR" sz="1500" b="1"/>
              <a:t>  status VARCHAR(32) DEFAULT 'PLANNED',</a:t>
            </a:r>
          </a:p>
          <a:p>
            <a:r>
              <a:rPr lang="en-US" altLang="ko-KR" sz="1500" b="1"/>
              <a:t>  planned_start TIMESTAMP,</a:t>
            </a:r>
          </a:p>
          <a:p>
            <a:r>
              <a:rPr lang="en-US" altLang="ko-KR" sz="1500" b="1"/>
              <a:t>  planned_end TIMESTAMP,</a:t>
            </a:r>
          </a:p>
          <a:p>
            <a:r>
              <a:rPr lang="en-US" altLang="ko-KR" sz="1500" b="1"/>
              <a:t>  released_at TIMESTAMP,</a:t>
            </a:r>
          </a:p>
          <a:p>
            <a:r>
              <a:rPr lang="en-US" altLang="ko-KR" sz="1500" b="1"/>
              <a:t>  completed_at TIMESTAMP,</a:t>
            </a:r>
          </a:p>
          <a:p>
            <a:r>
              <a:rPr lang="en-US" altLang="ko-KR" sz="1500" b="1"/>
              <a:t>  created_at TIMESTAMP WITH TIME ZONE DEFAULT now()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3852726-FF8D-B34D-D62A-4EFBFFE2E849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PRODUCTION ORDER</a:t>
            </a:r>
          </a:p>
        </p:txBody>
      </p:sp>
    </p:spTree>
    <p:extLst>
      <p:ext uri="{BB962C8B-B14F-4D97-AF65-F5344CB8AC3E}">
        <p14:creationId xmlns:p14="http://schemas.microsoft.com/office/powerpoint/2010/main" val="1149293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F0ED-9E0E-6A1D-CA00-25B3B1AE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C94C39-9B82-F11C-9E48-0C309B89A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CREATE TABLE production_transaction (</a:t>
            </a:r>
          </a:p>
          <a:p>
            <a:r>
              <a:rPr lang="en-US" altLang="ko-KR" sz="1500" b="1"/>
              <a:t>  txn_id UUID PRIMARY KEY DEFAULT uuid_generate_v4(),</a:t>
            </a:r>
          </a:p>
          <a:p>
            <a:r>
              <a:rPr lang="en-US" altLang="ko-KR" sz="1500" b="1"/>
              <a:t>  prod_order_id UUID REFERENCES production_order(prod_order_id) ON DELETE CASCADE,</a:t>
            </a:r>
          </a:p>
          <a:p>
            <a:r>
              <a:rPr lang="en-US" altLang="ko-KR" sz="1500" b="1"/>
              <a:t>  operation_id UUID, -- FK to operation if </a:t>
            </a:r>
            <a:r>
              <a:rPr lang="ko-KR" altLang="en-US" sz="1500" b="1"/>
              <a:t>존재</a:t>
            </a:r>
          </a:p>
          <a:p>
            <a:r>
              <a:rPr lang="ko-KR" altLang="en-US" sz="1500" b="1"/>
              <a:t>  </a:t>
            </a:r>
            <a:r>
              <a:rPr lang="en-US" altLang="ko-KR" sz="1500" b="1"/>
              <a:t>start_time TIMESTAMP,</a:t>
            </a:r>
          </a:p>
          <a:p>
            <a:r>
              <a:rPr lang="en-US" altLang="ko-KR" sz="1500" b="1"/>
              <a:t>  end_time TIMESTAMP,</a:t>
            </a:r>
          </a:p>
          <a:p>
            <a:r>
              <a:rPr lang="en-US" altLang="ko-KR" sz="1500" b="1"/>
              <a:t>  qty_good NUMERIC(12,4),</a:t>
            </a:r>
          </a:p>
          <a:p>
            <a:r>
              <a:rPr lang="en-US" altLang="ko-KR" sz="1500" b="1"/>
              <a:t>  qty_scrap NUMERIC(12,4),</a:t>
            </a:r>
          </a:p>
          <a:p>
            <a:r>
              <a:rPr lang="en-US" altLang="ko-KR" sz="1500" b="1"/>
              <a:t>  operator_id UUID,</a:t>
            </a:r>
          </a:p>
          <a:p>
            <a:r>
              <a:rPr lang="en-US" altLang="ko-KR" sz="1500" b="1"/>
              <a:t>  created_at TIMESTAMP WITH TIME ZONE DEFAULT now()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DACB1B1-29AC-FB1E-72D0-122057C70E42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PRODUCTION TRANSACTION (MES </a:t>
            </a:r>
            <a:r>
              <a:rPr lang="ko-KR" altLang="en-US"/>
              <a:t>실적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3116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3111-D33E-08A8-FBDB-593A53B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B3609C-1E57-50AD-68E5-E03B6FA3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/>
          </a:bodyPr>
          <a:lstStyle/>
          <a:p>
            <a:r>
              <a:rPr lang="en-US" altLang="ko-KR" sz="1500" b="1"/>
              <a:t>CREATE TABLE inventory_txn (</a:t>
            </a:r>
          </a:p>
          <a:p>
            <a:r>
              <a:rPr lang="en-US" altLang="ko-KR" sz="1500" b="1"/>
              <a:t>  txn_id UUID PRIMARY KEY DEFAULT uuid_generate_v4(),</a:t>
            </a:r>
          </a:p>
          <a:p>
            <a:r>
              <a:rPr lang="en-US" altLang="ko-KR" sz="1500" b="1"/>
              <a:t>  part_id UUID REFERENCES part(part_id),</a:t>
            </a:r>
          </a:p>
          <a:p>
            <a:r>
              <a:rPr lang="en-US" altLang="ko-KR" sz="1500" b="1"/>
              <a:t>  location_id UUID REFERENCES location(location_id),</a:t>
            </a:r>
          </a:p>
          <a:p>
            <a:r>
              <a:rPr lang="en-US" altLang="ko-KR" sz="1500" b="1"/>
              <a:t>  change_qty NUMERIC(14,4),</a:t>
            </a:r>
          </a:p>
          <a:p>
            <a:r>
              <a:rPr lang="en-US" altLang="ko-KR" sz="1500" b="1"/>
              <a:t>  txn_type VARCHAR(32),</a:t>
            </a:r>
          </a:p>
          <a:p>
            <a:r>
              <a:rPr lang="en-US" altLang="ko-KR" sz="1500" b="1"/>
              <a:t>  ref_type VARCHAR(32),</a:t>
            </a:r>
          </a:p>
          <a:p>
            <a:r>
              <a:rPr lang="en-US" altLang="ko-KR" sz="1500" b="1"/>
              <a:t>  ref_id UUID,</a:t>
            </a:r>
          </a:p>
          <a:p>
            <a:r>
              <a:rPr lang="en-US" altLang="ko-KR" sz="1500" b="1"/>
              <a:t>  created_at TIMESTAMP WITH TIME ZONE DEFAULT now()</a:t>
            </a:r>
          </a:p>
          <a:p>
            <a:r>
              <a:rPr lang="en-US" altLang="ko-KR" sz="1500" b="1"/>
              <a:t>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93ABB04-9EC4-AB48-3CFB-EA2C531C5079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INVENTORY TRANSACTION (</a:t>
            </a:r>
            <a:r>
              <a:rPr lang="ko-KR" altLang="en-US"/>
              <a:t>히스토리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0636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591A-4EA9-F282-F797-F02A25BB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F941F3-6B36-CC05-3D3A-EC45C4421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41257"/>
            <a:ext cx="5454112" cy="5975485"/>
          </a:xfrm>
        </p:spPr>
        <p:txBody>
          <a:bodyPr>
            <a:normAutofit fontScale="32500" lnSpcReduction="20000"/>
          </a:bodyPr>
          <a:lstStyle/>
          <a:p>
            <a:r>
              <a:rPr lang="en-US" altLang="ko-KR" sz="1500" b="1"/>
              <a:t>-- </a:t>
            </a:r>
            <a:r>
              <a:rPr lang="ko-KR" altLang="en-US" sz="1500" b="1"/>
              <a:t>함수</a:t>
            </a:r>
            <a:r>
              <a:rPr lang="en-US" altLang="ko-KR" sz="1500" b="1"/>
              <a:t>: production_order </a:t>
            </a:r>
            <a:r>
              <a:rPr lang="ko-KR" altLang="en-US" sz="1500" b="1"/>
              <a:t>상태 변경 감지용</a:t>
            </a:r>
          </a:p>
          <a:p>
            <a:r>
              <a:rPr lang="en-US" altLang="ko-KR" sz="1500" b="1"/>
              <a:t>CREATE OR REPLACE FUNCTION fn_after_update_production_order()</a:t>
            </a:r>
          </a:p>
          <a:p>
            <a:r>
              <a:rPr lang="en-US" altLang="ko-KR" sz="1500" b="1"/>
              <a:t>RETURNS trigger AS $$</a:t>
            </a:r>
          </a:p>
          <a:p>
            <a:r>
              <a:rPr lang="en-US" altLang="ko-KR" sz="1500" b="1"/>
              <a:t>DECLARE</a:t>
            </a:r>
          </a:p>
          <a:p>
            <a:r>
              <a:rPr lang="en-US" altLang="ko-KR" sz="1500" b="1"/>
              <a:t>  needed_qty NUMERIC;</a:t>
            </a:r>
          </a:p>
          <a:p>
            <a:r>
              <a:rPr lang="en-US" altLang="ko-KR" sz="1500" b="1"/>
              <a:t>  r RECORD;</a:t>
            </a:r>
          </a:p>
          <a:p>
            <a:r>
              <a:rPr lang="en-US" altLang="ko-KR" sz="1500" b="1"/>
              <a:t>BEGIN</a:t>
            </a:r>
          </a:p>
          <a:p>
            <a:r>
              <a:rPr lang="en-US" altLang="ko-KR" sz="1500" b="1"/>
              <a:t>  IF NEW.status = 'RELEASED' AND OLD.status IS DISTINCT FROM NEW.status THEN</a:t>
            </a:r>
          </a:p>
          <a:p>
            <a:r>
              <a:rPr lang="en-US" altLang="ko-KR" sz="1500" b="1"/>
              <a:t>    -- BOM </a:t>
            </a:r>
            <a:r>
              <a:rPr lang="ko-KR" altLang="en-US" sz="1500" b="1"/>
              <a:t>폭발</a:t>
            </a:r>
            <a:r>
              <a:rPr lang="en-US" altLang="ko-KR" sz="1500" b="1"/>
              <a:t>: parent = product_part_id -&gt; </a:t>
            </a:r>
            <a:r>
              <a:rPr lang="ko-KR" altLang="en-US" sz="1500" b="1"/>
              <a:t>자식 부품들 조회</a:t>
            </a:r>
          </a:p>
          <a:p>
            <a:r>
              <a:rPr lang="ko-KR" altLang="en-US" sz="1500" b="1"/>
              <a:t>    </a:t>
            </a:r>
            <a:r>
              <a:rPr lang="en-US" altLang="ko-KR" sz="1500" b="1"/>
              <a:t>FOR r IN</a:t>
            </a:r>
          </a:p>
          <a:p>
            <a:r>
              <a:rPr lang="en-US" altLang="ko-KR" sz="1500" b="1"/>
              <a:t>      SELECT child_part_id, quantity</a:t>
            </a:r>
          </a:p>
          <a:p>
            <a:r>
              <a:rPr lang="en-US" altLang="ko-KR" sz="1500" b="1"/>
              <a:t>      FROM bom</a:t>
            </a:r>
          </a:p>
          <a:p>
            <a:r>
              <a:rPr lang="en-US" altLang="ko-KR" sz="1500" b="1"/>
              <a:t>      WHERE parent_part_id = NEW.product_part_id</a:t>
            </a:r>
          </a:p>
          <a:p>
            <a:r>
              <a:rPr lang="en-US" altLang="ko-KR" sz="1500" b="1"/>
              <a:t>      /* AND valid_from &lt;= now() AND (valid_to IS NULL OR valid_to &gt;= now()) */</a:t>
            </a:r>
          </a:p>
          <a:p>
            <a:r>
              <a:rPr lang="en-US" altLang="ko-KR" sz="1500" b="1"/>
              <a:t>    LOOP</a:t>
            </a:r>
          </a:p>
          <a:p>
            <a:r>
              <a:rPr lang="en-US" altLang="ko-KR" sz="1500" b="1"/>
              <a:t>      needed_qty := r.quantity * NEW.quantity;</a:t>
            </a:r>
          </a:p>
          <a:p>
            <a:r>
              <a:rPr lang="en-US" altLang="ko-KR" sz="1500" b="1"/>
              <a:t>      -- </a:t>
            </a:r>
            <a:r>
              <a:rPr lang="ko-KR" altLang="en-US" sz="1500" b="1"/>
              <a:t>재고 예약 업데이트</a:t>
            </a:r>
            <a:r>
              <a:rPr lang="en-US" altLang="ko-KR" sz="1500" b="1"/>
              <a:t>(</a:t>
            </a:r>
            <a:r>
              <a:rPr lang="ko-KR" altLang="en-US" sz="1500" b="1"/>
              <a:t>로케이션 단위는 단순화</a:t>
            </a:r>
            <a:r>
              <a:rPr lang="en-US" altLang="ko-KR" sz="1500" b="1"/>
              <a:t>)</a:t>
            </a:r>
          </a:p>
          <a:p>
            <a:r>
              <a:rPr lang="en-US" altLang="ko-KR" sz="1500" b="1"/>
              <a:t>      UPDATE inventory</a:t>
            </a:r>
          </a:p>
          <a:p>
            <a:r>
              <a:rPr lang="en-US" altLang="ko-KR" sz="1500" b="1"/>
              <a:t>      SET qty_reserved = qty_reserved + needed_qty, last_updated = now()</a:t>
            </a:r>
          </a:p>
          <a:p>
            <a:r>
              <a:rPr lang="en-US" altLang="ko-KR" sz="1500" b="1"/>
              <a:t>      WHERE part_id = r.child_part_id</a:t>
            </a:r>
          </a:p>
          <a:p>
            <a:r>
              <a:rPr lang="en-US" altLang="ko-KR" sz="1500" b="1"/>
              <a:t>      RETURNING inventory_id INTO STRICT r;</a:t>
            </a:r>
          </a:p>
          <a:p>
            <a:r>
              <a:rPr lang="en-US" altLang="ko-KR" sz="1500" b="1"/>
              <a:t>      -- </a:t>
            </a:r>
            <a:r>
              <a:rPr lang="ko-KR" altLang="en-US" sz="1500" b="1"/>
              <a:t>재고 트랜잭션 히스토리 입력</a:t>
            </a:r>
          </a:p>
          <a:p>
            <a:r>
              <a:rPr lang="ko-KR" altLang="en-US" sz="1500" b="1"/>
              <a:t>      </a:t>
            </a:r>
            <a:r>
              <a:rPr lang="en-US" altLang="ko-KR" sz="1500" b="1"/>
              <a:t>INSERT INTO inventory_txn (part_id, location_id, change_qty, txn_type, ref_type, ref_id)</a:t>
            </a:r>
          </a:p>
          <a:p>
            <a:r>
              <a:rPr lang="en-US" altLang="ko-KR" sz="1500" b="1"/>
              <a:t>      VALUES (r.child_part_id, NULL, -needed_qty, 'RESERVE_FOR_PRODUCTION', 'PRODUCTION_ORDER', NEW.prod_order_id);</a:t>
            </a:r>
          </a:p>
          <a:p>
            <a:r>
              <a:rPr lang="en-US" altLang="ko-KR" sz="1500" b="1"/>
              <a:t>    END LOOP;</a:t>
            </a:r>
          </a:p>
          <a:p>
            <a:r>
              <a:rPr lang="en-US" altLang="ko-KR" sz="1500" b="1"/>
              <a:t>  END IF;</a:t>
            </a:r>
          </a:p>
          <a:p>
            <a:r>
              <a:rPr lang="en-US" altLang="ko-KR" sz="1500" b="1"/>
              <a:t>  RETURN NEW;</a:t>
            </a:r>
          </a:p>
          <a:p>
            <a:r>
              <a:rPr lang="en-US" altLang="ko-KR" sz="1500" b="1"/>
              <a:t>END;</a:t>
            </a:r>
          </a:p>
          <a:p>
            <a:r>
              <a:rPr lang="en-US" altLang="ko-KR" sz="1500" b="1"/>
              <a:t>$$ LANGUAGE plpgsql;</a:t>
            </a:r>
          </a:p>
          <a:p>
            <a:r>
              <a:rPr lang="en-US" altLang="ko-KR" sz="1500" b="1"/>
              <a:t>CREATE TRIGGER trg_after_update_production_order</a:t>
            </a:r>
          </a:p>
          <a:p>
            <a:r>
              <a:rPr lang="en-US" altLang="ko-KR" sz="1500" b="1"/>
              <a:t>AFTER UPDATE ON production_order</a:t>
            </a:r>
          </a:p>
          <a:p>
            <a:r>
              <a:rPr lang="en-US" altLang="ko-KR" sz="1500" b="1"/>
              <a:t>FOR EACH ROW</a:t>
            </a:r>
          </a:p>
          <a:p>
            <a:r>
              <a:rPr lang="en-US" altLang="ko-KR" sz="1500" b="1"/>
              <a:t>EXECUTE FUNCTION fn_after_update_production_order();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8B70362-9737-8F90-905F-B1EE7E43CA52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DDL-</a:t>
            </a:r>
            <a:r>
              <a:rPr lang="ko-KR" altLang="en-US"/>
              <a:t>테이블생성</a:t>
            </a:r>
            <a:endParaRPr lang="en-US" altLang="ko-KR"/>
          </a:p>
          <a:p>
            <a:r>
              <a:rPr lang="en-US" altLang="ko-KR"/>
              <a:t>-- </a:t>
            </a:r>
            <a:r>
              <a:rPr lang="ko-KR" altLang="en-US"/>
              <a:t>함수</a:t>
            </a:r>
            <a:r>
              <a:rPr lang="en-US" altLang="ko-KR"/>
              <a:t>: production_order </a:t>
            </a:r>
            <a:r>
              <a:rPr lang="ko-KR" altLang="en-US"/>
              <a:t>상태 변경 감지용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5898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5DA5-680B-89C5-C870-6E4E137D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29145B9-F071-3137-EA88-6727354FA059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Spring Boot</a:t>
            </a:r>
          </a:p>
          <a:p>
            <a:r>
              <a:rPr lang="ko-KR" altLang="en-US"/>
              <a:t>표준 구조</a:t>
            </a:r>
            <a:endParaRPr lang="en-US" altLang="ko-KR"/>
          </a:p>
          <a:p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0D4B51-EF16-09F0-54FA-B9747643E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944" y="1287236"/>
            <a:ext cx="8069319" cy="477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38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215E-5560-09D7-8151-949E0E01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0EA51BE9-1A40-B128-03EE-0A5FC7CC7FD8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Spring Boot</a:t>
            </a:r>
          </a:p>
          <a:p>
            <a:r>
              <a:rPr lang="ko-KR" altLang="en-US"/>
              <a:t>표준 구조</a:t>
            </a:r>
            <a:endParaRPr lang="en-US" altLang="ko-KR"/>
          </a:p>
          <a:p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67453D-F7EB-3805-62A7-F81F9928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657" y="652458"/>
            <a:ext cx="6584497" cy="576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5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CFA8-3205-559E-8FD4-EEFFEB68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40B0599-56CD-D93B-DB95-55530F0CEBA5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Spring Boot</a:t>
            </a:r>
          </a:p>
          <a:p>
            <a:r>
              <a:rPr lang="ko-KR" altLang="en-US"/>
              <a:t>표준 구조</a:t>
            </a:r>
            <a:endParaRPr lang="en-US" altLang="ko-KR"/>
          </a:p>
          <a:p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6CEE49-8AE4-7D7E-14B6-E48F71CAE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16"/>
          <a:stretch>
            <a:fillRect/>
          </a:stretch>
        </p:blipFill>
        <p:spPr>
          <a:xfrm>
            <a:off x="3586679" y="899886"/>
            <a:ext cx="7371608" cy="532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34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73F6-3E7A-492C-92A2-6DF7E5C9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ABC4F2B-9D8C-8612-338C-D86838D57A0D}"/>
              </a:ext>
            </a:extLst>
          </p:cNvPr>
          <p:cNvSpPr txBox="1">
            <a:spLocks/>
          </p:cNvSpPr>
          <p:nvPr/>
        </p:nvSpPr>
        <p:spPr>
          <a:xfrm>
            <a:off x="641888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DB </a:t>
            </a:r>
            <a:r>
              <a:rPr lang="ko-KR" altLang="en-US"/>
              <a:t>트리거 </a:t>
            </a:r>
            <a:r>
              <a:rPr lang="en-US" altLang="ko-KR"/>
              <a:t>vs</a:t>
            </a:r>
          </a:p>
          <a:p>
            <a:r>
              <a:rPr lang="en-US" altLang="ko-KR"/>
              <a:t> JPA </a:t>
            </a:r>
            <a:r>
              <a:rPr lang="ko-KR" altLang="en-US"/>
              <a:t>엔티티 리스너</a:t>
            </a:r>
            <a:endParaRPr lang="en-US" altLang="ko-KR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5806C23E-6F32-E558-A5D2-BB0050B97BFD}"/>
              </a:ext>
            </a:extLst>
          </p:cNvPr>
          <p:cNvSpPr txBox="1">
            <a:spLocks/>
          </p:cNvSpPr>
          <p:nvPr/>
        </p:nvSpPr>
        <p:spPr>
          <a:xfrm>
            <a:off x="6309717" y="441256"/>
            <a:ext cx="5454112" cy="59754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CREATE FUNCTION fn_update_inventory_after_receipt() RETURNS trigger AS $$</a:t>
            </a:r>
          </a:p>
          <a:p>
            <a:r>
              <a:rPr lang="en-US" altLang="ko-KR"/>
              <a:t>BEGIN</a:t>
            </a:r>
          </a:p>
          <a:p>
            <a:r>
              <a:rPr lang="en-US" altLang="ko-KR"/>
              <a:t>  UPDATE inventory SET on_hand_qty = on_hand_qty + NEW.received_qty</a:t>
            </a:r>
          </a:p>
          <a:p>
            <a:r>
              <a:rPr lang="en-US" altLang="ko-KR"/>
              <a:t>    WHERE part_id = NEW.part_id;</a:t>
            </a:r>
          </a:p>
          <a:p>
            <a:r>
              <a:rPr lang="en-US" altLang="ko-KR"/>
              <a:t>  INSERT INTO inventory_change_log(part_id, change_qty, reason, changed_at)</a:t>
            </a:r>
          </a:p>
          <a:p>
            <a:r>
              <a:rPr lang="en-US" altLang="ko-KR"/>
              <a:t>    VALUES (NEW.part_id, NEW.received_qty, 'PO_RECEIPT', now());</a:t>
            </a:r>
          </a:p>
          <a:p>
            <a:r>
              <a:rPr lang="en-US" altLang="ko-KR"/>
              <a:t>  RETURN NEW;</a:t>
            </a:r>
          </a:p>
          <a:p>
            <a:r>
              <a:rPr lang="en-US" altLang="ko-KR"/>
              <a:t>END;</a:t>
            </a:r>
          </a:p>
          <a:p>
            <a:r>
              <a:rPr lang="en-US" altLang="ko-KR"/>
              <a:t>$$ LANGUAGE plpgsql;</a:t>
            </a:r>
          </a:p>
          <a:p>
            <a:endParaRPr lang="en-US" altLang="ko-KR"/>
          </a:p>
          <a:p>
            <a:r>
              <a:rPr lang="en-US" altLang="ko-KR"/>
              <a:t>CREATE TRIGGER trg_after_po_receipt</a:t>
            </a:r>
          </a:p>
          <a:p>
            <a:r>
              <a:rPr lang="en-US" altLang="ko-KR"/>
              <a:t>  AFTER INSERT ON purchase_receipt</a:t>
            </a:r>
          </a:p>
          <a:p>
            <a:r>
              <a:rPr lang="en-US" altLang="ko-KR"/>
              <a:t>  FOR EACH ROW EXECUTE FUNCTION fn_update_inventory_after_receipt();</a:t>
            </a:r>
          </a:p>
        </p:txBody>
      </p:sp>
    </p:spTree>
    <p:extLst>
      <p:ext uri="{BB962C8B-B14F-4D97-AF65-F5344CB8AC3E}">
        <p14:creationId xmlns:p14="http://schemas.microsoft.com/office/powerpoint/2010/main" val="182321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3116</Words>
  <Application>Microsoft Office PowerPoint</Application>
  <PresentationFormat>와이드스크린</PresentationFormat>
  <Paragraphs>414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맑은 고딕</vt:lpstr>
      <vt:lpstr>Arial</vt:lpstr>
      <vt:lpstr>Office 테마</vt:lpstr>
      <vt:lpstr>BOM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ERP 데모 </vt:lpstr>
      <vt:lpstr>생산 현장 시뮬레이션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15</cp:revision>
  <dcterms:created xsi:type="dcterms:W3CDTF">2025-12-09T04:04:14Z</dcterms:created>
  <dcterms:modified xsi:type="dcterms:W3CDTF">2025-12-15T08:21:15Z</dcterms:modified>
</cp:coreProperties>
</file>